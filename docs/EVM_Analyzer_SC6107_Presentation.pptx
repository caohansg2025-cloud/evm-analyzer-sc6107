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selected Option 7, EVM Transaction Debugger &amp; Analyzer. The core goal is to make smart-contract transaction behavior visible: execution trace, gas hotspots, state changes, and security findings in one developer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take about one minute. Emphasize the pain point: EVM execution is deterministic but hard to see. Our tool unifies four views: trace, gas, state diff, and security scan. Then briefly say each member owned a clear module. Replace the placeholder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left-to-right. User submits a tx hash or address. The frontend calls the FastAPI backend. For tx analysis, the backend uses debug_traceTransaction with callTracer and stateDiffTracer. For security, it runs Slither on known Solidity fixtures and normalizes output to the frontend schema. The trade-off is mock-first reliability versus real-RPC realism.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keep it fast. First show the dashboard with the sample hash already loaded. Explain the Trace tab call tree, then Gas &amp; State with the 68 percent swap hotspot, then Security with Slither output. Mention that mock mode is reliable for presentation, and real mode works when RPC and compiler tooling are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focus on one technical achievement rather than all modules. We normalized Slither detector output into deterministic vulnerability IDs and a stable schema. This matters because raw tools are not presentation-ready. Also mention the gas suggestion logic and the LRU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say what worked, then be honest about scope. The tool is already useful as a developer dashboard, but future work should support verified-source fetching, more scanners, and more visual graph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use it to show links and commands if asked. Emphasize that contract addresses are demo fixture mappings because the project is an analyzer/tooling project rather than a deployed on-chain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502920" y="6473952"/>
            <a:ext cx="11155680" cy="0"/>
          </a:xfrm>
          <a:prstGeom prst="line">
            <a:avLst/>
          </a:prstGeom>
          <a:noFill/>
          <a:ln w="12700">
            <a:solidFill>
              <a:srgbClr val="1D2540">
                <a:alpha val="75000"/>
              </a:srgbClr>
            </a:solidFill>
            <a:prstDash val="solid"/>
          </a:ln>
        </p:spPr>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aohansg2025-cloud/EVM-Analyzer-SC6107"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A78BFA">
              <a:alpha val="14000"/>
            </a:srgbClr>
          </a:solidFill>
          <a:ln w="12700">
            <a:solidFill>
              <a:srgbClr val="A78BFA">
                <a:alpha val="0"/>
              </a:srgbClr>
            </a:solidFill>
            <a:prstDash val="solid"/>
          </a:ln>
        </p:spPr>
      </p:sp>
      <p:sp>
        <p:nvSpPr>
          <p:cNvPr id="4" name="Shape 2"/>
          <p:cNvSpPr/>
          <p:nvPr/>
        </p:nvSpPr>
        <p:spPr>
          <a:xfrm>
            <a:off x="8686800" y="4206240"/>
            <a:ext cx="4663440" cy="4663440"/>
          </a:xfrm>
          <a:prstGeom prst="ellipse">
            <a:avLst/>
          </a:prstGeom>
          <a:solidFill>
            <a:srgbClr val="A78BFA">
              <a:alpha val="12000"/>
            </a:srgbClr>
          </a:solidFill>
          <a:ln w="12700">
            <a:solidFill>
              <a:srgbClr val="A78BFA">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Shape 56"/>
          <p:cNvSpPr/>
          <p:nvPr/>
        </p:nvSpPr>
        <p:spPr>
          <a:xfrm>
            <a:off x="8595360" y="914400"/>
            <a:ext cx="2011680" cy="1508760"/>
          </a:xfrm>
          <a:prstGeom prst="triangle">
            <a:avLst/>
          </a:prstGeom>
          <a:solidFill>
            <a:srgbClr val="22D3EE">
              <a:alpha val="75000"/>
            </a:srgbClr>
          </a:solidFill>
          <a:ln w="12700">
            <a:solidFill>
              <a:srgbClr val="22D3EE">
                <a:alpha val="70000"/>
              </a:srgbClr>
            </a:solidFill>
            <a:prstDash val="solid"/>
          </a:ln>
        </p:spPr>
      </p:sp>
      <p:sp>
        <p:nvSpPr>
          <p:cNvPr id="59" name="Shape 57"/>
          <p:cNvSpPr/>
          <p:nvPr/>
        </p:nvSpPr>
        <p:spPr>
          <a:xfrm rot="10800000">
            <a:off x="8595360" y="1819656"/>
            <a:ext cx="2011680" cy="1508760"/>
          </a:xfrm>
          <a:prstGeom prst="triangle">
            <a:avLst/>
          </a:prstGeom>
          <a:solidFill>
            <a:srgbClr val="A78BFA">
              <a:alpha val="71000"/>
            </a:srgbClr>
          </a:solidFill>
          <a:ln w="12700">
            <a:solidFill>
              <a:srgbClr val="A78BFA">
                <a:alpha val="70000"/>
              </a:srgbClr>
            </a:solidFill>
            <a:prstDash val="solid"/>
          </a:ln>
        </p:spPr>
      </p:sp>
      <p:sp>
        <p:nvSpPr>
          <p:cNvPr id="60" name="Shape 58"/>
          <p:cNvSpPr/>
          <p:nvPr/>
        </p:nvSpPr>
        <p:spPr>
          <a:xfrm>
            <a:off x="658368" y="585216"/>
            <a:ext cx="2011680" cy="329184"/>
          </a:xfrm>
          <a:prstGeom prst="roundRect">
            <a:avLst>
              <a:gd name="adj" fmla="val 16667"/>
            </a:avLst>
          </a:prstGeom>
          <a:solidFill>
            <a:srgbClr val="22D3EE">
              <a:alpha val="15000"/>
            </a:srgbClr>
          </a:solidFill>
          <a:ln w="12700">
            <a:solidFill>
              <a:srgbClr val="22D3EE">
                <a:alpha val="75000"/>
              </a:srgbClr>
            </a:solidFill>
            <a:prstDash val="solid"/>
          </a:ln>
        </p:spPr>
      </p:sp>
      <p:sp>
        <p:nvSpPr>
          <p:cNvPr id="61" name="Text 59"/>
          <p:cNvSpPr/>
          <p:nvPr/>
        </p:nvSpPr>
        <p:spPr>
          <a:xfrm>
            <a:off x="822960" y="676656"/>
            <a:ext cx="1691640" cy="109728"/>
          </a:xfrm>
          <a:prstGeom prst="rect">
            <a:avLst/>
          </a:prstGeom>
          <a:noFill/>
          <a:ln/>
        </p:spPr>
        <p:txBody>
          <a:bodyPr wrap="square" lIns="0" tIns="0" rIns="0" bIns="0" rtlCol="0" anchor="ctr">
            <a:normAutofit/>
          </a:bodyPr>
          <a:lstStyle/>
          <a:p>
            <a:pPr indent="0" marL="0">
              <a:buNone/>
            </a:pPr>
            <a:r>
              <a:rPr lang="en-US" sz="620" b="1" dirty="0">
                <a:solidFill>
                  <a:srgbClr val="22D3EE"/>
                </a:solidFill>
              </a:rPr>
              <a:t>SC6107 DEVELOPMENT PROJECT</a:t>
            </a:r>
            <a:endParaRPr lang="en-US" sz="620" dirty="0"/>
          </a:p>
        </p:txBody>
      </p:sp>
      <p:sp>
        <p:nvSpPr>
          <p:cNvPr id="62" name="Text 60"/>
          <p:cNvSpPr/>
          <p:nvPr/>
        </p:nvSpPr>
        <p:spPr>
          <a:xfrm>
            <a:off x="658368" y="1298448"/>
            <a:ext cx="7223760" cy="132588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EVM Transaction</a:t>
            </a:r>
            <a:endParaRPr lang="en-US" sz="3200" dirty="0"/>
          </a:p>
          <a:p>
            <a:pPr indent="0" marL="0">
              <a:buNone/>
            </a:pPr>
            <a:r>
              <a:rPr lang="en-US" sz="3200" b="1" dirty="0">
                <a:solidFill>
                  <a:srgbClr val="FFFFFF"/>
                </a:solidFill>
                <a:latin typeface="Aptos Display" pitchFamily="34" charset="0"/>
                <a:ea typeface="Aptos Display" pitchFamily="34" charset="-122"/>
                <a:cs typeface="Aptos Display" pitchFamily="34" charset="-120"/>
              </a:rPr>
              <a:t>Debugger &amp; Analyzer</a:t>
            </a:r>
            <a:endParaRPr lang="en-US" sz="3200" dirty="0"/>
          </a:p>
        </p:txBody>
      </p:sp>
      <p:sp>
        <p:nvSpPr>
          <p:cNvPr id="63" name="Text 61"/>
          <p:cNvSpPr/>
          <p:nvPr/>
        </p:nvSpPr>
        <p:spPr>
          <a:xfrm>
            <a:off x="694944" y="2788920"/>
            <a:ext cx="6217920" cy="420624"/>
          </a:xfrm>
          <a:prstGeom prst="rect">
            <a:avLst/>
          </a:prstGeom>
          <a:noFill/>
          <a:ln/>
        </p:spPr>
        <p:txBody>
          <a:bodyPr wrap="square" lIns="0" tIns="0" rIns="0" bIns="0" rtlCol="0" anchor="ctr">
            <a:normAutofit/>
          </a:bodyPr>
          <a:lstStyle/>
          <a:p>
            <a:pPr indent="0" marL="0">
              <a:buNone/>
            </a:pPr>
            <a:r>
              <a:rPr lang="en-US" sz="1250" dirty="0">
                <a:solidFill>
                  <a:srgbClr val="94A3B8"/>
                </a:solidFill>
              </a:rPr>
              <a:t>A developer-facing analysis dashboard for transaction tracing, gas profiling, state diffs, and Slither-based vulnerability detection.</a:t>
            </a:r>
            <a:endParaRPr lang="en-US" sz="1250" dirty="0"/>
          </a:p>
        </p:txBody>
      </p:sp>
      <p:sp>
        <p:nvSpPr>
          <p:cNvPr id="64" name="Shape 62"/>
          <p:cNvSpPr/>
          <p:nvPr/>
        </p:nvSpPr>
        <p:spPr>
          <a:xfrm>
            <a:off x="713232" y="3794760"/>
            <a:ext cx="1508760" cy="694944"/>
          </a:xfrm>
          <a:prstGeom prst="roundRect">
            <a:avLst>
              <a:gd name="adj" fmla="val 15789"/>
            </a:avLst>
          </a:prstGeom>
          <a:solidFill>
            <a:srgbClr val="0B1224">
              <a:alpha val="96000"/>
            </a:srgbClr>
          </a:solidFill>
          <a:ln w="12700">
            <a:solidFill>
              <a:srgbClr val="22D3EE">
                <a:alpha val="65000"/>
              </a:srgbClr>
            </a:solidFill>
            <a:prstDash val="solid"/>
          </a:ln>
          <a:effectLst>
            <a:outerShdw sx="100000" sy="100000" kx="0" ky="0" algn="bl" rotWithShape="0" blurRad="25400" dist="50800" dir="2700000">
              <a:srgbClr val="000000">
                <a:alpha val="25000"/>
              </a:srgbClr>
            </a:outerShdw>
          </a:effectLst>
        </p:spPr>
      </p:sp>
      <p:sp>
        <p:nvSpPr>
          <p:cNvPr id="65" name="Text 63"/>
          <p:cNvSpPr/>
          <p:nvPr/>
        </p:nvSpPr>
        <p:spPr>
          <a:xfrm>
            <a:off x="822960" y="3877056"/>
            <a:ext cx="128930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FEATURES</a:t>
            </a:r>
            <a:endParaRPr lang="en-US" sz="570" dirty="0"/>
          </a:p>
        </p:txBody>
      </p:sp>
      <p:sp>
        <p:nvSpPr>
          <p:cNvPr id="66" name="Text 64"/>
          <p:cNvSpPr/>
          <p:nvPr/>
        </p:nvSpPr>
        <p:spPr>
          <a:xfrm>
            <a:off x="822960" y="4059936"/>
            <a:ext cx="1289304" cy="256032"/>
          </a:xfrm>
          <a:prstGeom prst="rect">
            <a:avLst/>
          </a:prstGeom>
          <a:noFill/>
          <a:ln/>
        </p:spPr>
        <p:txBody>
          <a:bodyPr wrap="square" lIns="0" tIns="0" rIns="0" bIns="0" rtlCol="0" anchor="ctr">
            <a:normAutofit/>
          </a:bodyPr>
          <a:lstStyle/>
          <a:p>
            <a:pPr indent="0" marL="0">
              <a:buNone/>
            </a:pPr>
            <a:r>
              <a:rPr lang="en-US" sz="1600" b="1" dirty="0">
                <a:solidFill>
                  <a:srgbClr val="22D3EE"/>
                </a:solidFill>
              </a:rPr>
              <a:t>4</a:t>
            </a:r>
            <a:endParaRPr lang="en-US" sz="1600" dirty="0"/>
          </a:p>
        </p:txBody>
      </p:sp>
      <p:sp>
        <p:nvSpPr>
          <p:cNvPr id="67" name="Text 65"/>
          <p:cNvSpPr/>
          <p:nvPr/>
        </p:nvSpPr>
        <p:spPr>
          <a:xfrm>
            <a:off x="822960" y="4315968"/>
            <a:ext cx="128930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Trace • Gas • State • Security</a:t>
            </a:r>
            <a:endParaRPr lang="en-US" sz="540" dirty="0"/>
          </a:p>
        </p:txBody>
      </p:sp>
      <p:sp>
        <p:nvSpPr>
          <p:cNvPr id="68" name="Shape 66"/>
          <p:cNvSpPr/>
          <p:nvPr/>
        </p:nvSpPr>
        <p:spPr>
          <a:xfrm>
            <a:off x="2423160" y="3794760"/>
            <a:ext cx="1508760" cy="694944"/>
          </a:xfrm>
          <a:prstGeom prst="roundRect">
            <a:avLst>
              <a:gd name="adj" fmla="val 15789"/>
            </a:avLst>
          </a:prstGeom>
          <a:solidFill>
            <a:srgbClr val="0B1224">
              <a:alpha val="96000"/>
            </a:srgbClr>
          </a:solidFill>
          <a:ln w="12700">
            <a:solidFill>
              <a:srgbClr val="A78BFA">
                <a:alpha val="65000"/>
              </a:srgbClr>
            </a:solidFill>
            <a:prstDash val="solid"/>
          </a:ln>
          <a:effectLst>
            <a:outerShdw sx="100000" sy="100000" kx="0" ky="0" algn="bl" rotWithShape="0" blurRad="25400" dist="50800" dir="2700000">
              <a:srgbClr val="000000">
                <a:alpha val="25000"/>
              </a:srgbClr>
            </a:outerShdw>
          </a:effectLst>
        </p:spPr>
      </p:sp>
      <p:sp>
        <p:nvSpPr>
          <p:cNvPr id="69" name="Text 67"/>
          <p:cNvSpPr/>
          <p:nvPr/>
        </p:nvSpPr>
        <p:spPr>
          <a:xfrm>
            <a:off x="2532888" y="3877056"/>
            <a:ext cx="128930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STACK</a:t>
            </a:r>
            <a:endParaRPr lang="en-US" sz="570" dirty="0"/>
          </a:p>
        </p:txBody>
      </p:sp>
      <p:sp>
        <p:nvSpPr>
          <p:cNvPr id="70" name="Text 68"/>
          <p:cNvSpPr/>
          <p:nvPr/>
        </p:nvSpPr>
        <p:spPr>
          <a:xfrm>
            <a:off x="2532888" y="4059936"/>
            <a:ext cx="1289304" cy="256032"/>
          </a:xfrm>
          <a:prstGeom prst="rect">
            <a:avLst/>
          </a:prstGeom>
          <a:noFill/>
          <a:ln/>
        </p:spPr>
        <p:txBody>
          <a:bodyPr wrap="square" lIns="0" tIns="0" rIns="0" bIns="0" rtlCol="0" anchor="ctr">
            <a:normAutofit/>
          </a:bodyPr>
          <a:lstStyle/>
          <a:p>
            <a:pPr indent="0" marL="0">
              <a:buNone/>
            </a:pPr>
            <a:r>
              <a:rPr lang="en-US" sz="1600" b="1" dirty="0">
                <a:solidFill>
                  <a:srgbClr val="A78BFA"/>
                </a:solidFill>
              </a:rPr>
              <a:t>Next.js</a:t>
            </a:r>
            <a:endParaRPr lang="en-US" sz="1600" dirty="0"/>
          </a:p>
        </p:txBody>
      </p:sp>
      <p:sp>
        <p:nvSpPr>
          <p:cNvPr id="71" name="Text 69"/>
          <p:cNvSpPr/>
          <p:nvPr/>
        </p:nvSpPr>
        <p:spPr>
          <a:xfrm>
            <a:off x="2532888" y="4315968"/>
            <a:ext cx="128930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React 19 + TypeScript</a:t>
            </a:r>
            <a:endParaRPr lang="en-US" sz="540" dirty="0"/>
          </a:p>
        </p:txBody>
      </p:sp>
      <p:sp>
        <p:nvSpPr>
          <p:cNvPr id="72" name="Shape 70"/>
          <p:cNvSpPr/>
          <p:nvPr/>
        </p:nvSpPr>
        <p:spPr>
          <a:xfrm>
            <a:off x="4133088" y="3794760"/>
            <a:ext cx="1508760" cy="694944"/>
          </a:xfrm>
          <a:prstGeom prst="roundRect">
            <a:avLst>
              <a:gd name="adj" fmla="val 15789"/>
            </a:avLst>
          </a:prstGeom>
          <a:solidFill>
            <a:srgbClr val="0B1224">
              <a:alpha val="96000"/>
            </a:srgbClr>
          </a:solidFill>
          <a:ln w="12700">
            <a:solidFill>
              <a:srgbClr val="34D399">
                <a:alpha val="65000"/>
              </a:srgbClr>
            </a:solidFill>
            <a:prstDash val="solid"/>
          </a:ln>
          <a:effectLst>
            <a:outerShdw sx="100000" sy="100000" kx="0" ky="0" algn="bl" rotWithShape="0" blurRad="25400" dist="50800" dir="2700000">
              <a:srgbClr val="000000">
                <a:alpha val="25000"/>
              </a:srgbClr>
            </a:outerShdw>
          </a:effectLst>
        </p:spPr>
      </p:sp>
      <p:sp>
        <p:nvSpPr>
          <p:cNvPr id="73" name="Text 71"/>
          <p:cNvSpPr/>
          <p:nvPr/>
        </p:nvSpPr>
        <p:spPr>
          <a:xfrm>
            <a:off x="4242816" y="3877056"/>
            <a:ext cx="128930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BACKEND</a:t>
            </a:r>
            <a:endParaRPr lang="en-US" sz="570" dirty="0"/>
          </a:p>
        </p:txBody>
      </p:sp>
      <p:sp>
        <p:nvSpPr>
          <p:cNvPr id="74" name="Text 72"/>
          <p:cNvSpPr/>
          <p:nvPr/>
        </p:nvSpPr>
        <p:spPr>
          <a:xfrm>
            <a:off x="4242816" y="4059936"/>
            <a:ext cx="1289304" cy="256032"/>
          </a:xfrm>
          <a:prstGeom prst="rect">
            <a:avLst/>
          </a:prstGeom>
          <a:noFill/>
          <a:ln/>
        </p:spPr>
        <p:txBody>
          <a:bodyPr wrap="square" lIns="0" tIns="0" rIns="0" bIns="0" rtlCol="0" anchor="ctr">
            <a:normAutofit/>
          </a:bodyPr>
          <a:lstStyle/>
          <a:p>
            <a:pPr indent="0" marL="0">
              <a:buNone/>
            </a:pPr>
            <a:r>
              <a:rPr lang="en-US" sz="1600" b="1" dirty="0">
                <a:solidFill>
                  <a:srgbClr val="34D399"/>
                </a:solidFill>
              </a:rPr>
              <a:t>FastAPI</a:t>
            </a:r>
            <a:endParaRPr lang="en-US" sz="1600" dirty="0"/>
          </a:p>
        </p:txBody>
      </p:sp>
      <p:sp>
        <p:nvSpPr>
          <p:cNvPr id="75" name="Text 73"/>
          <p:cNvSpPr/>
          <p:nvPr/>
        </p:nvSpPr>
        <p:spPr>
          <a:xfrm>
            <a:off x="4242816" y="4315968"/>
            <a:ext cx="128930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Python + RPC + Slither</a:t>
            </a:r>
            <a:endParaRPr lang="en-US" sz="540" dirty="0"/>
          </a:p>
        </p:txBody>
      </p:sp>
      <p:sp>
        <p:nvSpPr>
          <p:cNvPr id="76" name="Shape 74"/>
          <p:cNvSpPr/>
          <p:nvPr/>
        </p:nvSpPr>
        <p:spPr>
          <a:xfrm>
            <a:off x="5843016" y="3794760"/>
            <a:ext cx="1508760" cy="694944"/>
          </a:xfrm>
          <a:prstGeom prst="roundRect">
            <a:avLst>
              <a:gd name="adj" fmla="val 15789"/>
            </a:avLst>
          </a:prstGeom>
          <a:solidFill>
            <a:srgbClr val="0B1224">
              <a:alpha val="96000"/>
            </a:srgbClr>
          </a:solidFill>
          <a:ln w="12700">
            <a:solidFill>
              <a:srgbClr val="FBBF24">
                <a:alpha val="65000"/>
              </a:srgbClr>
            </a:solidFill>
            <a:prstDash val="solid"/>
          </a:ln>
          <a:effectLst>
            <a:outerShdw sx="100000" sy="100000" kx="0" ky="0" algn="bl" rotWithShape="0" blurRad="25400" dist="50800" dir="2700000">
              <a:srgbClr val="000000">
                <a:alpha val="25000"/>
              </a:srgbClr>
            </a:outerShdw>
          </a:effectLst>
        </p:spPr>
      </p:sp>
      <p:sp>
        <p:nvSpPr>
          <p:cNvPr id="77" name="Text 75"/>
          <p:cNvSpPr/>
          <p:nvPr/>
        </p:nvSpPr>
        <p:spPr>
          <a:xfrm>
            <a:off x="5952744" y="3877056"/>
            <a:ext cx="128930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MODE</a:t>
            </a:r>
            <a:endParaRPr lang="en-US" sz="570" dirty="0"/>
          </a:p>
        </p:txBody>
      </p:sp>
      <p:sp>
        <p:nvSpPr>
          <p:cNvPr id="78" name="Text 76"/>
          <p:cNvSpPr/>
          <p:nvPr/>
        </p:nvSpPr>
        <p:spPr>
          <a:xfrm>
            <a:off x="5952744" y="4059936"/>
            <a:ext cx="1289304" cy="256032"/>
          </a:xfrm>
          <a:prstGeom prst="rect">
            <a:avLst/>
          </a:prstGeom>
          <a:noFill/>
          <a:ln/>
        </p:spPr>
        <p:txBody>
          <a:bodyPr wrap="square" lIns="0" tIns="0" rIns="0" bIns="0" rtlCol="0" anchor="ctr">
            <a:normAutofit/>
          </a:bodyPr>
          <a:lstStyle/>
          <a:p>
            <a:pPr indent="0" marL="0">
              <a:buNone/>
            </a:pPr>
            <a:r>
              <a:rPr lang="en-US" sz="1600" b="1" dirty="0">
                <a:solidFill>
                  <a:srgbClr val="FBBF24"/>
                </a:solidFill>
              </a:rPr>
              <a:t>Mock/Real</a:t>
            </a:r>
            <a:endParaRPr lang="en-US" sz="1600" dirty="0"/>
          </a:p>
        </p:txBody>
      </p:sp>
      <p:sp>
        <p:nvSpPr>
          <p:cNvPr id="79" name="Text 77"/>
          <p:cNvSpPr/>
          <p:nvPr/>
        </p:nvSpPr>
        <p:spPr>
          <a:xfrm>
            <a:off x="5952744" y="4315968"/>
            <a:ext cx="128930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safe demo switch</a:t>
            </a:r>
            <a:endParaRPr lang="en-US" sz="540" dirty="0"/>
          </a:p>
        </p:txBody>
      </p:sp>
      <p:sp>
        <p:nvSpPr>
          <p:cNvPr id="80" name="Shape 78"/>
          <p:cNvSpPr/>
          <p:nvPr/>
        </p:nvSpPr>
        <p:spPr>
          <a:xfrm>
            <a:off x="7891272" y="3749040"/>
            <a:ext cx="3429000" cy="1078992"/>
          </a:xfrm>
          <a:prstGeom prst="roundRect">
            <a:avLst>
              <a:gd name="adj" fmla="val 10169"/>
            </a:avLst>
          </a:prstGeom>
          <a:solidFill>
            <a:srgbClr val="081225">
              <a:alpha val="96000"/>
            </a:srgbClr>
          </a:solidFill>
          <a:ln w="12700">
            <a:solidFill>
              <a:srgbClr val="22D3EE">
                <a:alpha val="65000"/>
              </a:srgbClr>
            </a:solidFill>
            <a:prstDash val="solid"/>
          </a:ln>
          <a:effectLst>
            <a:outerShdw sx="100000" sy="100000" kx="0" ky="0" algn="bl" rotWithShape="0" blurRad="25400" dist="50800" dir="2700000">
              <a:srgbClr val="000000">
                <a:alpha val="25000"/>
              </a:srgbClr>
            </a:outerShdw>
          </a:effectLst>
        </p:spPr>
      </p:sp>
      <p:sp>
        <p:nvSpPr>
          <p:cNvPr id="81" name="Text 79"/>
          <p:cNvSpPr/>
          <p:nvPr/>
        </p:nvSpPr>
        <p:spPr>
          <a:xfrm>
            <a:off x="8101584" y="3941064"/>
            <a:ext cx="1554480" cy="164592"/>
          </a:xfrm>
          <a:prstGeom prst="rect">
            <a:avLst/>
          </a:prstGeom>
          <a:noFill/>
          <a:ln/>
        </p:spPr>
        <p:txBody>
          <a:bodyPr wrap="square" lIns="0" tIns="0" rIns="0" bIns="0" rtlCol="0" anchor="ctr"/>
          <a:lstStyle/>
          <a:p>
            <a:pPr indent="0" marL="0">
              <a:buNone/>
            </a:pPr>
            <a:r>
              <a:rPr lang="en-US" sz="700" b="1" dirty="0">
                <a:solidFill>
                  <a:srgbClr val="64748B"/>
                </a:solidFill>
              </a:rPr>
              <a:t>Presentation route</a:t>
            </a:r>
            <a:endParaRPr lang="en-US" sz="700" dirty="0"/>
          </a:p>
        </p:txBody>
      </p:sp>
      <p:sp>
        <p:nvSpPr>
          <p:cNvPr id="82" name="Text 80"/>
          <p:cNvSpPr/>
          <p:nvPr/>
        </p:nvSpPr>
        <p:spPr>
          <a:xfrm>
            <a:off x="8101584" y="4224528"/>
            <a:ext cx="2834640" cy="274320"/>
          </a:xfrm>
          <a:prstGeom prst="rect">
            <a:avLst/>
          </a:prstGeom>
          <a:noFill/>
          <a:ln/>
        </p:spPr>
        <p:txBody>
          <a:bodyPr wrap="square" lIns="0" tIns="0" rIns="0" bIns="0" rtlCol="0" anchor="ctr">
            <a:normAutofit/>
          </a:bodyPr>
          <a:lstStyle/>
          <a:p>
            <a:pPr indent="0" marL="0">
              <a:buNone/>
            </a:pPr>
            <a:r>
              <a:rPr lang="en-US" sz="1050" b="1" dirty="0">
                <a:solidFill>
                  <a:srgbClr val="E5E7EB"/>
                </a:solidFill>
              </a:rPr>
              <a:t>Problem → Architecture → Demo → Deep Dive → Reflection</a:t>
            </a:r>
            <a:endParaRPr lang="en-US" sz="1050" dirty="0"/>
          </a:p>
        </p:txBody>
      </p:sp>
      <p:sp>
        <p:nvSpPr>
          <p:cNvPr id="83" name="Text 81"/>
          <p:cNvSpPr/>
          <p:nvPr/>
        </p:nvSpPr>
        <p:spPr>
          <a:xfrm>
            <a:off x="8101584" y="4535424"/>
            <a:ext cx="2011680" cy="128016"/>
          </a:xfrm>
          <a:prstGeom prst="rect">
            <a:avLst/>
          </a:prstGeom>
          <a:noFill/>
          <a:ln/>
        </p:spPr>
        <p:txBody>
          <a:bodyPr wrap="square" lIns="0" tIns="0" rIns="0" bIns="0" rtlCol="0" anchor="ctr"/>
          <a:lstStyle/>
          <a:p>
            <a:pPr indent="0" marL="0">
              <a:buNone/>
            </a:pPr>
            <a:r>
              <a:rPr lang="en-US" sz="650" dirty="0">
                <a:solidFill>
                  <a:srgbClr val="22D3EE"/>
                </a:solidFill>
              </a:rPr>
              <a:t>5 minutes</a:t>
            </a:r>
            <a:endParaRPr lang="en-US" sz="650" dirty="0"/>
          </a:p>
        </p:txBody>
      </p:sp>
      <p:sp>
        <p:nvSpPr>
          <p:cNvPr id="84" name="Shape 82"/>
          <p:cNvSpPr/>
          <p:nvPr/>
        </p:nvSpPr>
        <p:spPr>
          <a:xfrm>
            <a:off x="658368" y="5266944"/>
            <a:ext cx="10881360" cy="0"/>
          </a:xfrm>
          <a:prstGeom prst="line">
            <a:avLst/>
          </a:prstGeom>
          <a:noFill/>
          <a:ln w="12700">
            <a:solidFill>
              <a:srgbClr val="27324D">
                <a:alpha val="80000"/>
              </a:srgbClr>
            </a:solidFill>
            <a:prstDash val="solid"/>
          </a:ln>
        </p:spPr>
      </p:sp>
      <p:sp>
        <p:nvSpPr>
          <p:cNvPr id="85" name="Text 83">
            <a:hlinkClick r:id="rId1" tooltip=""/>
          </p:cNvPr>
          <p:cNvSpPr/>
          <p:nvPr/>
        </p:nvSpPr>
        <p:spPr>
          <a:xfrm>
            <a:off x="685800" y="5532120"/>
            <a:ext cx="6583680" cy="182880"/>
          </a:xfrm>
          <a:prstGeom prst="rect">
            <a:avLst/>
          </a:prstGeom>
          <a:noFill/>
          <a:ln/>
        </p:spPr>
        <p:txBody>
          <a:bodyPr wrap="square" lIns="0" tIns="0" rIns="0" bIns="0" rtlCol="0" anchor="ctr"/>
          <a:lstStyle/>
          <a:p>
            <a:pPr indent="0" marL="0">
              <a:buNone/>
            </a:pPr>
            <a:r>
              <a:rPr lang="en-US" sz="750" u="sng" dirty="0">
                <a:solidFill>
                  <a:srgbClr val="94A3B8"/>
                </a:solidFill>
                <a:hlinkClick r:id="rId1" invalidUrl="" action="" tgtFrame="" tooltip="" history="1" highlightClick="0" endSnd="0">
                  <a:extLst>
                    <a:ext uri="{A12FA001-AC4F-418D-AE19-62706E023703}">
                      <ahyp:hlinkClr xmlns:ahyp="http://schemas.microsoft.com/office/drawing/2018/hyperlinkcolor" val="tx"/>
                    </a:ext>
                  </a:extLst>
                </a:hlinkClick>
              </a:rPr>
              <a:t>Repo: github.com/caohansg2025-cloud/EVM-Analyzer-SC6107</a:t>
            </a:r>
            <a:endParaRPr lang="en-US" sz="7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22D3EE">
              <a:alpha val="14000"/>
            </a:srgbClr>
          </a:solidFill>
          <a:ln w="12700">
            <a:solidFill>
              <a:srgbClr val="22D3EE">
                <a:alpha val="0"/>
              </a:srgbClr>
            </a:solidFill>
            <a:prstDash val="solid"/>
          </a:ln>
        </p:spPr>
      </p:sp>
      <p:sp>
        <p:nvSpPr>
          <p:cNvPr id="4" name="Shape 2"/>
          <p:cNvSpPr/>
          <p:nvPr/>
        </p:nvSpPr>
        <p:spPr>
          <a:xfrm>
            <a:off x="8686800" y="4206240"/>
            <a:ext cx="4663440" cy="4663440"/>
          </a:xfrm>
          <a:prstGeom prst="ellipse">
            <a:avLst/>
          </a:prstGeom>
          <a:solidFill>
            <a:srgbClr val="A78BFA">
              <a:alpha val="12000"/>
            </a:srgbClr>
          </a:solidFill>
          <a:ln w="12700">
            <a:solidFill>
              <a:srgbClr val="A78BFA">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Text 56"/>
          <p:cNvSpPr/>
          <p:nvPr/>
        </p:nvSpPr>
        <p:spPr>
          <a:xfrm>
            <a:off x="502920" y="320040"/>
            <a:ext cx="7589520" cy="320040"/>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1. Introduction</a:t>
            </a:r>
            <a:endParaRPr lang="en-US" sz="1900" dirty="0"/>
          </a:p>
        </p:txBody>
      </p:sp>
      <p:sp>
        <p:nvSpPr>
          <p:cNvPr id="59" name="Text 57"/>
          <p:cNvSpPr/>
          <p:nvPr/>
        </p:nvSpPr>
        <p:spPr>
          <a:xfrm>
            <a:off x="521208" y="685800"/>
            <a:ext cx="7772400" cy="219456"/>
          </a:xfrm>
          <a:prstGeom prst="rect">
            <a:avLst/>
          </a:prstGeom>
          <a:noFill/>
          <a:ln/>
        </p:spPr>
        <p:txBody>
          <a:bodyPr wrap="square" lIns="0" tIns="0" rIns="0" bIns="0" rtlCol="0" anchor="ctr"/>
          <a:lstStyle/>
          <a:p>
            <a:pPr indent="0" marL="0">
              <a:buNone/>
            </a:pPr>
            <a:r>
              <a:rPr lang="en-US" sz="780" dirty="0">
                <a:solidFill>
                  <a:srgbClr val="94A3B8"/>
                </a:solidFill>
              </a:rPr>
              <a:t>Problem statement • Solution overview • Team member roles</a:t>
            </a:r>
            <a:endParaRPr lang="en-US" sz="780" dirty="0"/>
          </a:p>
        </p:txBody>
      </p:sp>
      <p:sp>
        <p:nvSpPr>
          <p:cNvPr id="60" name="Text 58"/>
          <p:cNvSpPr/>
          <p:nvPr/>
        </p:nvSpPr>
        <p:spPr>
          <a:xfrm>
            <a:off x="9994392" y="320040"/>
            <a:ext cx="1691640" cy="237744"/>
          </a:xfrm>
          <a:prstGeom prst="rect">
            <a:avLst/>
          </a:prstGeom>
          <a:noFill/>
          <a:ln/>
        </p:spPr>
        <p:txBody>
          <a:bodyPr wrap="square" lIns="0" tIns="0" rIns="0" bIns="0" rtlCol="0" anchor="ctr"/>
          <a:lstStyle/>
          <a:p>
            <a:pPr algn="r" indent="0" marL="0">
              <a:buNone/>
            </a:pPr>
            <a:r>
              <a:rPr lang="en-US" sz="850" b="1" dirty="0">
                <a:solidFill>
                  <a:srgbClr val="22D3EE"/>
                </a:solidFill>
              </a:rPr>
              <a:t>~1 min</a:t>
            </a:r>
            <a:endParaRPr lang="en-US" sz="850" dirty="0"/>
          </a:p>
        </p:txBody>
      </p:sp>
      <p:sp>
        <p:nvSpPr>
          <p:cNvPr id="61" name="Shape 59"/>
          <p:cNvSpPr/>
          <p:nvPr/>
        </p:nvSpPr>
        <p:spPr>
          <a:xfrm>
            <a:off x="594360" y="1143000"/>
            <a:ext cx="3246120" cy="1325880"/>
          </a:xfrm>
          <a:prstGeom prst="roundRect">
            <a:avLst>
              <a:gd name="adj" fmla="val 8276"/>
            </a:avLst>
          </a:prstGeom>
          <a:solidFill>
            <a:srgbClr val="0F172A">
              <a:alpha val="96000"/>
            </a:srgbClr>
          </a:solidFill>
          <a:ln w="12700">
            <a:solidFill>
              <a:srgbClr val="FB7185">
                <a:alpha val="80000"/>
              </a:srgbClr>
            </a:solidFill>
            <a:prstDash val="solid"/>
          </a:ln>
          <a:effectLst>
            <a:outerShdw sx="100000" sy="100000" kx="0" ky="0" algn="bl" rotWithShape="0" blurRad="25400" dist="50800" dir="2700000">
              <a:srgbClr val="000000">
                <a:alpha val="25000"/>
              </a:srgbClr>
            </a:outerShdw>
          </a:effectLst>
        </p:spPr>
      </p:sp>
      <p:sp>
        <p:nvSpPr>
          <p:cNvPr id="62" name="Shape 60"/>
          <p:cNvSpPr/>
          <p:nvPr/>
        </p:nvSpPr>
        <p:spPr>
          <a:xfrm>
            <a:off x="594360" y="1143000"/>
            <a:ext cx="54864" cy="1325880"/>
          </a:xfrm>
          <a:prstGeom prst="rect">
            <a:avLst/>
          </a:prstGeom>
          <a:solidFill>
            <a:srgbClr val="FB7185"/>
          </a:solidFill>
          <a:ln w="12700">
            <a:solidFill>
              <a:srgbClr val="FB7185"/>
            </a:solidFill>
            <a:prstDash val="solid"/>
          </a:ln>
        </p:spPr>
      </p:sp>
      <p:sp>
        <p:nvSpPr>
          <p:cNvPr id="63" name="Text 61"/>
          <p:cNvSpPr/>
          <p:nvPr/>
        </p:nvSpPr>
        <p:spPr>
          <a:xfrm>
            <a:off x="758952" y="1271016"/>
            <a:ext cx="29900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Problem: smart-contract debugging is blind</a:t>
            </a:r>
            <a:endParaRPr lang="en-US" sz="1000" dirty="0"/>
          </a:p>
        </p:txBody>
      </p:sp>
      <p:sp>
        <p:nvSpPr>
          <p:cNvPr id="64" name="Text 62"/>
          <p:cNvSpPr/>
          <p:nvPr/>
        </p:nvSpPr>
        <p:spPr>
          <a:xfrm>
            <a:off x="758952" y="1591056"/>
            <a:ext cx="2916936" cy="758952"/>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Developers cannot easily inspect internal calls, gas hotspots, state mutations, and vulnerability signals from one place.</a:t>
            </a:r>
            <a:endParaRPr lang="en-US" sz="850" dirty="0"/>
          </a:p>
        </p:txBody>
      </p:sp>
      <p:sp>
        <p:nvSpPr>
          <p:cNvPr id="65" name="Shape 63"/>
          <p:cNvSpPr/>
          <p:nvPr/>
        </p:nvSpPr>
        <p:spPr>
          <a:xfrm>
            <a:off x="4160520" y="1143000"/>
            <a:ext cx="3246120" cy="1325880"/>
          </a:xfrm>
          <a:prstGeom prst="roundRect">
            <a:avLst>
              <a:gd name="adj" fmla="val 8276"/>
            </a:avLst>
          </a:prstGeom>
          <a:solidFill>
            <a:srgbClr val="0F172A">
              <a:alpha val="96000"/>
            </a:srgbClr>
          </a:solidFill>
          <a:ln w="12700">
            <a:solidFill>
              <a:srgbClr val="22D3EE">
                <a:alpha val="80000"/>
              </a:srgbClr>
            </a:solidFill>
            <a:prstDash val="solid"/>
          </a:ln>
          <a:effectLst>
            <a:outerShdw sx="100000" sy="100000" kx="0" ky="0" algn="bl" rotWithShape="0" blurRad="25400" dist="50800" dir="2700000">
              <a:srgbClr val="000000">
                <a:alpha val="25000"/>
              </a:srgbClr>
            </a:outerShdw>
          </a:effectLst>
        </p:spPr>
      </p:sp>
      <p:sp>
        <p:nvSpPr>
          <p:cNvPr id="66" name="Shape 64"/>
          <p:cNvSpPr/>
          <p:nvPr/>
        </p:nvSpPr>
        <p:spPr>
          <a:xfrm>
            <a:off x="4160520" y="1143000"/>
            <a:ext cx="54864" cy="1325880"/>
          </a:xfrm>
          <a:prstGeom prst="rect">
            <a:avLst/>
          </a:prstGeom>
          <a:solidFill>
            <a:srgbClr val="22D3EE"/>
          </a:solidFill>
          <a:ln w="12700">
            <a:solidFill>
              <a:srgbClr val="22D3EE"/>
            </a:solidFill>
            <a:prstDash val="solid"/>
          </a:ln>
        </p:spPr>
      </p:sp>
      <p:sp>
        <p:nvSpPr>
          <p:cNvPr id="67" name="Text 65"/>
          <p:cNvSpPr/>
          <p:nvPr/>
        </p:nvSpPr>
        <p:spPr>
          <a:xfrm>
            <a:off x="4325112" y="1271016"/>
            <a:ext cx="29900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Solution: unified analyzer dashboard</a:t>
            </a:r>
            <a:endParaRPr lang="en-US" sz="1000" dirty="0"/>
          </a:p>
        </p:txBody>
      </p:sp>
      <p:sp>
        <p:nvSpPr>
          <p:cNvPr id="68" name="Text 66"/>
          <p:cNvSpPr/>
          <p:nvPr/>
        </p:nvSpPr>
        <p:spPr>
          <a:xfrm>
            <a:off x="4325112" y="1591056"/>
            <a:ext cx="2916936" cy="758952"/>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Input a tx hash / contract address, then view trace tree, gas+state profile, and security findings through one UI.</a:t>
            </a:r>
            <a:endParaRPr lang="en-US" sz="850" dirty="0"/>
          </a:p>
        </p:txBody>
      </p:sp>
      <p:sp>
        <p:nvSpPr>
          <p:cNvPr id="69" name="Shape 67"/>
          <p:cNvSpPr/>
          <p:nvPr/>
        </p:nvSpPr>
        <p:spPr>
          <a:xfrm>
            <a:off x="7726680" y="1143000"/>
            <a:ext cx="3246120" cy="1325880"/>
          </a:xfrm>
          <a:prstGeom prst="roundRect">
            <a:avLst>
              <a:gd name="adj" fmla="val 8276"/>
            </a:avLst>
          </a:prstGeom>
          <a:solidFill>
            <a:srgbClr val="0F172A">
              <a:alpha val="96000"/>
            </a:srgbClr>
          </a:solidFill>
          <a:ln w="12700">
            <a:solidFill>
              <a:srgbClr val="34D399">
                <a:alpha val="80000"/>
              </a:srgbClr>
            </a:solidFill>
            <a:prstDash val="solid"/>
          </a:ln>
          <a:effectLst>
            <a:outerShdw sx="100000" sy="100000" kx="0" ky="0" algn="bl" rotWithShape="0" blurRad="25400" dist="50800" dir="2700000">
              <a:srgbClr val="000000">
                <a:alpha val="25000"/>
              </a:srgbClr>
            </a:outerShdw>
          </a:effectLst>
        </p:spPr>
      </p:sp>
      <p:sp>
        <p:nvSpPr>
          <p:cNvPr id="70" name="Shape 68"/>
          <p:cNvSpPr/>
          <p:nvPr/>
        </p:nvSpPr>
        <p:spPr>
          <a:xfrm>
            <a:off x="7726680" y="1143000"/>
            <a:ext cx="54864" cy="1325880"/>
          </a:xfrm>
          <a:prstGeom prst="rect">
            <a:avLst/>
          </a:prstGeom>
          <a:solidFill>
            <a:srgbClr val="34D399"/>
          </a:solidFill>
          <a:ln w="12700">
            <a:solidFill>
              <a:srgbClr val="34D399"/>
            </a:solidFill>
            <a:prstDash val="solid"/>
          </a:ln>
        </p:spPr>
      </p:sp>
      <p:sp>
        <p:nvSpPr>
          <p:cNvPr id="71" name="Text 69"/>
          <p:cNvSpPr/>
          <p:nvPr/>
        </p:nvSpPr>
        <p:spPr>
          <a:xfrm>
            <a:off x="7891272" y="1271016"/>
            <a:ext cx="29900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Why it matters</a:t>
            </a:r>
            <a:endParaRPr lang="en-US" sz="1000" dirty="0"/>
          </a:p>
        </p:txBody>
      </p:sp>
      <p:sp>
        <p:nvSpPr>
          <p:cNvPr id="72" name="Text 70"/>
          <p:cNvSpPr/>
          <p:nvPr/>
        </p:nvSpPr>
        <p:spPr>
          <a:xfrm>
            <a:off x="7891272" y="1591056"/>
            <a:ext cx="2916936" cy="758952"/>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Faster root-cause analysis, clearer optimization targets, and safer contract review before deployment.</a:t>
            </a:r>
            <a:endParaRPr lang="en-US" sz="850" dirty="0"/>
          </a:p>
        </p:txBody>
      </p:sp>
      <p:sp>
        <p:nvSpPr>
          <p:cNvPr id="73" name="Text 71"/>
          <p:cNvSpPr/>
          <p:nvPr/>
        </p:nvSpPr>
        <p:spPr>
          <a:xfrm>
            <a:off x="640080" y="2944368"/>
            <a:ext cx="2560320" cy="228600"/>
          </a:xfrm>
          <a:prstGeom prst="rect">
            <a:avLst/>
          </a:prstGeom>
          <a:noFill/>
          <a:ln/>
        </p:spPr>
        <p:txBody>
          <a:bodyPr wrap="square" lIns="0" tIns="0" rIns="0" bIns="0" rtlCol="0" anchor="ctr"/>
          <a:lstStyle/>
          <a:p>
            <a:pPr indent="0" marL="0">
              <a:buNone/>
            </a:pPr>
            <a:r>
              <a:rPr lang="en-US" sz="1500" b="1" dirty="0">
                <a:solidFill>
                  <a:srgbClr val="FFFFFF"/>
                </a:solidFill>
              </a:rPr>
              <a:t>Team Role Split</a:t>
            </a:r>
            <a:endParaRPr lang="en-US" sz="1500" dirty="0"/>
          </a:p>
        </p:txBody>
      </p:sp>
      <p:sp>
        <p:nvSpPr>
          <p:cNvPr id="74" name="Shape 72"/>
          <p:cNvSpPr/>
          <p:nvPr/>
        </p:nvSpPr>
        <p:spPr>
          <a:xfrm>
            <a:off x="640080" y="3429000"/>
            <a:ext cx="1984248" cy="1417320"/>
          </a:xfrm>
          <a:prstGeom prst="roundRect">
            <a:avLst>
              <a:gd name="adj" fmla="val 7742"/>
            </a:avLst>
          </a:prstGeom>
          <a:solidFill>
            <a:srgbClr val="0A1226">
              <a:alpha val="96000"/>
            </a:srgbClr>
          </a:solidFill>
          <a:ln w="12700">
            <a:solidFill>
              <a:srgbClr val="22D3EE">
                <a:alpha val="80000"/>
              </a:srgbClr>
            </a:solidFill>
            <a:prstDash val="solid"/>
          </a:ln>
          <a:effectLst>
            <a:outerShdw sx="100000" sy="100000" kx="0" ky="0" algn="bl" rotWithShape="0" blurRad="25400" dist="50800" dir="2700000">
              <a:srgbClr val="000000">
                <a:alpha val="25000"/>
              </a:srgbClr>
            </a:outerShdw>
          </a:effectLst>
        </p:spPr>
      </p:sp>
      <p:sp>
        <p:nvSpPr>
          <p:cNvPr id="75" name="Shape 73"/>
          <p:cNvSpPr/>
          <p:nvPr/>
        </p:nvSpPr>
        <p:spPr>
          <a:xfrm>
            <a:off x="777240" y="3602736"/>
            <a:ext cx="384048" cy="384048"/>
          </a:xfrm>
          <a:prstGeom prst="ellipse">
            <a:avLst/>
          </a:prstGeom>
          <a:solidFill>
            <a:srgbClr val="22D3EE">
              <a:alpha val="90000"/>
            </a:srgbClr>
          </a:solidFill>
          <a:ln w="12700">
            <a:solidFill>
              <a:srgbClr val="22D3EE">
                <a:alpha val="80000"/>
              </a:srgbClr>
            </a:solidFill>
            <a:prstDash val="solid"/>
          </a:ln>
        </p:spPr>
      </p:sp>
      <p:sp>
        <p:nvSpPr>
          <p:cNvPr id="76" name="Text 74"/>
          <p:cNvSpPr/>
          <p:nvPr/>
        </p:nvSpPr>
        <p:spPr>
          <a:xfrm>
            <a:off x="841248" y="3721608"/>
            <a:ext cx="256032" cy="109728"/>
          </a:xfrm>
          <a:prstGeom prst="rect">
            <a:avLst/>
          </a:prstGeom>
          <a:noFill/>
          <a:ln/>
        </p:spPr>
        <p:txBody>
          <a:bodyPr wrap="square" lIns="0" tIns="0" rIns="0" bIns="0" rtlCol="0" anchor="ctr"/>
          <a:lstStyle/>
          <a:p>
            <a:pPr algn="ctr" indent="0" marL="0">
              <a:buNone/>
            </a:pPr>
            <a:r>
              <a:rPr lang="en-US" sz="650" b="1" dirty="0">
                <a:solidFill>
                  <a:srgbClr val="070A13"/>
                </a:solidFill>
              </a:rPr>
              <a:t>01</a:t>
            </a:r>
            <a:endParaRPr lang="en-US" sz="650" dirty="0"/>
          </a:p>
        </p:txBody>
      </p:sp>
      <p:sp>
        <p:nvSpPr>
          <p:cNvPr id="77" name="Text 75"/>
          <p:cNvSpPr/>
          <p:nvPr/>
        </p:nvSpPr>
        <p:spPr>
          <a:xfrm>
            <a:off x="1252728" y="3611880"/>
            <a:ext cx="1234440" cy="246888"/>
          </a:xfrm>
          <a:prstGeom prst="rect">
            <a:avLst/>
          </a:prstGeom>
          <a:noFill/>
          <a:ln/>
        </p:spPr>
        <p:txBody>
          <a:bodyPr wrap="square" lIns="0" tIns="0" rIns="0" bIns="0" rtlCol="0" anchor="ctr">
            <a:normAutofit/>
          </a:bodyPr>
          <a:lstStyle/>
          <a:p>
            <a:pPr indent="0" marL="0">
              <a:buNone/>
            </a:pPr>
            <a:r>
              <a:rPr lang="en-US" sz="820" b="1" dirty="0">
                <a:solidFill>
                  <a:srgbClr val="FFFFFF"/>
                </a:solidFill>
              </a:rPr>
              <a:t>Trace API Engineer</a:t>
            </a:r>
            <a:endParaRPr lang="en-US" sz="820" dirty="0"/>
          </a:p>
        </p:txBody>
      </p:sp>
      <p:sp>
        <p:nvSpPr>
          <p:cNvPr id="78" name="Text 76"/>
          <p:cNvSpPr/>
          <p:nvPr/>
        </p:nvSpPr>
        <p:spPr>
          <a:xfrm>
            <a:off x="795528" y="4096512"/>
            <a:ext cx="1673352" cy="411480"/>
          </a:xfrm>
          <a:prstGeom prst="rect">
            <a:avLst/>
          </a:prstGeom>
          <a:noFill/>
          <a:ln/>
        </p:spPr>
        <p:txBody>
          <a:bodyPr wrap="square" lIns="254" tIns="254" rIns="254" bIns="254" rtlCol="0" anchor="ctr">
            <a:normAutofit/>
          </a:bodyPr>
          <a:lstStyle/>
          <a:p>
            <a:pPr indent="0" marL="0">
              <a:buNone/>
            </a:pPr>
            <a:r>
              <a:rPr lang="en-US" sz="640" dirty="0">
                <a:solidFill>
                  <a:srgbClr val="94A3B8"/>
                </a:solidFill>
              </a:rPr>
              <a:t>debug_traceTransaction + call tree extraction</a:t>
            </a:r>
            <a:endParaRPr lang="en-US" sz="640" dirty="0"/>
          </a:p>
        </p:txBody>
      </p:sp>
      <p:sp>
        <p:nvSpPr>
          <p:cNvPr id="79" name="Text 77"/>
          <p:cNvSpPr/>
          <p:nvPr/>
        </p:nvSpPr>
        <p:spPr>
          <a:xfrm>
            <a:off x="795528" y="4599432"/>
            <a:ext cx="1463040" cy="128016"/>
          </a:xfrm>
          <a:prstGeom prst="rect">
            <a:avLst/>
          </a:prstGeom>
          <a:noFill/>
          <a:ln/>
        </p:spPr>
        <p:txBody>
          <a:bodyPr wrap="square" lIns="0" tIns="0" rIns="0" bIns="0" rtlCol="0" anchor="ctr"/>
          <a:lstStyle/>
          <a:p>
            <a:pPr indent="0" marL="0">
              <a:buNone/>
            </a:pPr>
            <a:r>
              <a:rPr lang="en-US" sz="540" dirty="0">
                <a:solidFill>
                  <a:srgbClr val="64748B"/>
                </a:solidFill>
              </a:rPr>
              <a:t>Name: __________</a:t>
            </a:r>
            <a:endParaRPr lang="en-US" sz="540" dirty="0"/>
          </a:p>
        </p:txBody>
      </p:sp>
      <p:sp>
        <p:nvSpPr>
          <p:cNvPr id="80" name="Shape 78"/>
          <p:cNvSpPr/>
          <p:nvPr/>
        </p:nvSpPr>
        <p:spPr>
          <a:xfrm>
            <a:off x="2889504" y="3429000"/>
            <a:ext cx="1984248" cy="1417320"/>
          </a:xfrm>
          <a:prstGeom prst="roundRect">
            <a:avLst>
              <a:gd name="adj" fmla="val 7742"/>
            </a:avLst>
          </a:prstGeom>
          <a:solidFill>
            <a:srgbClr val="0A1226">
              <a:alpha val="96000"/>
            </a:srgbClr>
          </a:solidFill>
          <a:ln w="12700">
            <a:solidFill>
              <a:srgbClr val="34D399">
                <a:alpha val="80000"/>
              </a:srgbClr>
            </a:solidFill>
            <a:prstDash val="solid"/>
          </a:ln>
          <a:effectLst>
            <a:outerShdw sx="100000" sy="100000" kx="0" ky="0" algn="bl" rotWithShape="0" blurRad="25400" dist="50800" dir="2700000">
              <a:srgbClr val="000000">
                <a:alpha val="25000"/>
              </a:srgbClr>
            </a:outerShdw>
          </a:effectLst>
        </p:spPr>
      </p:sp>
      <p:sp>
        <p:nvSpPr>
          <p:cNvPr id="81" name="Shape 79"/>
          <p:cNvSpPr/>
          <p:nvPr/>
        </p:nvSpPr>
        <p:spPr>
          <a:xfrm>
            <a:off x="3026664" y="3602736"/>
            <a:ext cx="384048" cy="384048"/>
          </a:xfrm>
          <a:prstGeom prst="ellipse">
            <a:avLst/>
          </a:prstGeom>
          <a:solidFill>
            <a:srgbClr val="34D399">
              <a:alpha val="90000"/>
            </a:srgbClr>
          </a:solidFill>
          <a:ln w="12700">
            <a:solidFill>
              <a:srgbClr val="34D399">
                <a:alpha val="80000"/>
              </a:srgbClr>
            </a:solidFill>
            <a:prstDash val="solid"/>
          </a:ln>
        </p:spPr>
      </p:sp>
      <p:sp>
        <p:nvSpPr>
          <p:cNvPr id="82" name="Text 80"/>
          <p:cNvSpPr/>
          <p:nvPr/>
        </p:nvSpPr>
        <p:spPr>
          <a:xfrm>
            <a:off x="3090672" y="3721608"/>
            <a:ext cx="256032" cy="109728"/>
          </a:xfrm>
          <a:prstGeom prst="rect">
            <a:avLst/>
          </a:prstGeom>
          <a:noFill/>
          <a:ln/>
        </p:spPr>
        <p:txBody>
          <a:bodyPr wrap="square" lIns="0" tIns="0" rIns="0" bIns="0" rtlCol="0" anchor="ctr"/>
          <a:lstStyle/>
          <a:p>
            <a:pPr algn="ctr" indent="0" marL="0">
              <a:buNone/>
            </a:pPr>
            <a:r>
              <a:rPr lang="en-US" sz="650" b="1" dirty="0">
                <a:solidFill>
                  <a:srgbClr val="070A13"/>
                </a:solidFill>
              </a:rPr>
              <a:t>02</a:t>
            </a:r>
            <a:endParaRPr lang="en-US" sz="650" dirty="0"/>
          </a:p>
        </p:txBody>
      </p:sp>
      <p:sp>
        <p:nvSpPr>
          <p:cNvPr id="83" name="Text 81"/>
          <p:cNvSpPr/>
          <p:nvPr/>
        </p:nvSpPr>
        <p:spPr>
          <a:xfrm>
            <a:off x="3502152" y="3611880"/>
            <a:ext cx="1234440" cy="246888"/>
          </a:xfrm>
          <a:prstGeom prst="rect">
            <a:avLst/>
          </a:prstGeom>
          <a:noFill/>
          <a:ln/>
        </p:spPr>
        <p:txBody>
          <a:bodyPr wrap="square" lIns="0" tIns="0" rIns="0" bIns="0" rtlCol="0" anchor="ctr">
            <a:normAutofit/>
          </a:bodyPr>
          <a:lstStyle/>
          <a:p>
            <a:pPr indent="0" marL="0">
              <a:buNone/>
            </a:pPr>
            <a:r>
              <a:rPr lang="en-US" sz="820" b="1" dirty="0">
                <a:solidFill>
                  <a:srgbClr val="FFFFFF"/>
                </a:solidFill>
              </a:rPr>
              <a:t>Gas &amp; State Engineer</a:t>
            </a:r>
            <a:endParaRPr lang="en-US" sz="820" dirty="0"/>
          </a:p>
        </p:txBody>
      </p:sp>
      <p:sp>
        <p:nvSpPr>
          <p:cNvPr id="84" name="Text 82"/>
          <p:cNvSpPr/>
          <p:nvPr/>
        </p:nvSpPr>
        <p:spPr>
          <a:xfrm>
            <a:off x="3044952" y="4096512"/>
            <a:ext cx="1673352" cy="411480"/>
          </a:xfrm>
          <a:prstGeom prst="rect">
            <a:avLst/>
          </a:prstGeom>
          <a:noFill/>
          <a:ln/>
        </p:spPr>
        <p:txBody>
          <a:bodyPr wrap="square" lIns="254" tIns="254" rIns="254" bIns="254" rtlCol="0" anchor="ctr">
            <a:normAutofit/>
          </a:bodyPr>
          <a:lstStyle/>
          <a:p>
            <a:pPr indent="0" marL="0">
              <a:buNone/>
            </a:pPr>
            <a:r>
              <a:rPr lang="en-US" sz="640" dirty="0">
                <a:solidFill>
                  <a:srgbClr val="94A3B8"/>
                </a:solidFill>
              </a:rPr>
              <a:t>gas aggregation + balance / token transfer diffs</a:t>
            </a:r>
            <a:endParaRPr lang="en-US" sz="640" dirty="0"/>
          </a:p>
        </p:txBody>
      </p:sp>
      <p:sp>
        <p:nvSpPr>
          <p:cNvPr id="85" name="Text 83"/>
          <p:cNvSpPr/>
          <p:nvPr/>
        </p:nvSpPr>
        <p:spPr>
          <a:xfrm>
            <a:off x="3044952" y="4599432"/>
            <a:ext cx="1463040" cy="128016"/>
          </a:xfrm>
          <a:prstGeom prst="rect">
            <a:avLst/>
          </a:prstGeom>
          <a:noFill/>
          <a:ln/>
        </p:spPr>
        <p:txBody>
          <a:bodyPr wrap="square" lIns="0" tIns="0" rIns="0" bIns="0" rtlCol="0" anchor="ctr"/>
          <a:lstStyle/>
          <a:p>
            <a:pPr indent="0" marL="0">
              <a:buNone/>
            </a:pPr>
            <a:r>
              <a:rPr lang="en-US" sz="540" dirty="0">
                <a:solidFill>
                  <a:srgbClr val="64748B"/>
                </a:solidFill>
              </a:rPr>
              <a:t>Name: __________</a:t>
            </a:r>
            <a:endParaRPr lang="en-US" sz="540" dirty="0"/>
          </a:p>
        </p:txBody>
      </p:sp>
      <p:sp>
        <p:nvSpPr>
          <p:cNvPr id="86" name="Shape 84"/>
          <p:cNvSpPr/>
          <p:nvPr/>
        </p:nvSpPr>
        <p:spPr>
          <a:xfrm>
            <a:off x="5138928" y="3429000"/>
            <a:ext cx="1984248" cy="1417320"/>
          </a:xfrm>
          <a:prstGeom prst="roundRect">
            <a:avLst>
              <a:gd name="adj" fmla="val 7742"/>
            </a:avLst>
          </a:prstGeom>
          <a:solidFill>
            <a:srgbClr val="0A1226">
              <a:alpha val="96000"/>
            </a:srgbClr>
          </a:solidFill>
          <a:ln w="12700">
            <a:solidFill>
              <a:srgbClr val="FB7185">
                <a:alpha val="80000"/>
              </a:srgbClr>
            </a:solidFill>
            <a:prstDash val="solid"/>
          </a:ln>
          <a:effectLst>
            <a:outerShdw sx="100000" sy="100000" kx="0" ky="0" algn="bl" rotWithShape="0" blurRad="25400" dist="50800" dir="2700000">
              <a:srgbClr val="000000">
                <a:alpha val="25000"/>
              </a:srgbClr>
            </a:outerShdw>
          </a:effectLst>
        </p:spPr>
      </p:sp>
      <p:sp>
        <p:nvSpPr>
          <p:cNvPr id="87" name="Shape 85"/>
          <p:cNvSpPr/>
          <p:nvPr/>
        </p:nvSpPr>
        <p:spPr>
          <a:xfrm>
            <a:off x="5276088" y="3602736"/>
            <a:ext cx="384048" cy="384048"/>
          </a:xfrm>
          <a:prstGeom prst="ellipse">
            <a:avLst/>
          </a:prstGeom>
          <a:solidFill>
            <a:srgbClr val="FB7185">
              <a:alpha val="90000"/>
            </a:srgbClr>
          </a:solidFill>
          <a:ln w="12700">
            <a:solidFill>
              <a:srgbClr val="FB7185">
                <a:alpha val="80000"/>
              </a:srgbClr>
            </a:solidFill>
            <a:prstDash val="solid"/>
          </a:ln>
        </p:spPr>
      </p:sp>
      <p:sp>
        <p:nvSpPr>
          <p:cNvPr id="88" name="Text 86"/>
          <p:cNvSpPr/>
          <p:nvPr/>
        </p:nvSpPr>
        <p:spPr>
          <a:xfrm>
            <a:off x="5340096" y="3721608"/>
            <a:ext cx="256032" cy="109728"/>
          </a:xfrm>
          <a:prstGeom prst="rect">
            <a:avLst/>
          </a:prstGeom>
          <a:noFill/>
          <a:ln/>
        </p:spPr>
        <p:txBody>
          <a:bodyPr wrap="square" lIns="0" tIns="0" rIns="0" bIns="0" rtlCol="0" anchor="ctr"/>
          <a:lstStyle/>
          <a:p>
            <a:pPr algn="ctr" indent="0" marL="0">
              <a:buNone/>
            </a:pPr>
            <a:r>
              <a:rPr lang="en-US" sz="650" b="1" dirty="0">
                <a:solidFill>
                  <a:srgbClr val="070A13"/>
                </a:solidFill>
              </a:rPr>
              <a:t>03</a:t>
            </a:r>
            <a:endParaRPr lang="en-US" sz="650" dirty="0"/>
          </a:p>
        </p:txBody>
      </p:sp>
      <p:sp>
        <p:nvSpPr>
          <p:cNvPr id="89" name="Text 87"/>
          <p:cNvSpPr/>
          <p:nvPr/>
        </p:nvSpPr>
        <p:spPr>
          <a:xfrm>
            <a:off x="5751576" y="3611880"/>
            <a:ext cx="1234440" cy="246888"/>
          </a:xfrm>
          <a:prstGeom prst="rect">
            <a:avLst/>
          </a:prstGeom>
          <a:noFill/>
          <a:ln/>
        </p:spPr>
        <p:txBody>
          <a:bodyPr wrap="square" lIns="0" tIns="0" rIns="0" bIns="0" rtlCol="0" anchor="ctr">
            <a:normAutofit/>
          </a:bodyPr>
          <a:lstStyle/>
          <a:p>
            <a:pPr indent="0" marL="0">
              <a:buNone/>
            </a:pPr>
            <a:r>
              <a:rPr lang="en-US" sz="820" b="1" dirty="0">
                <a:solidFill>
                  <a:srgbClr val="FFFFFF"/>
                </a:solidFill>
              </a:rPr>
              <a:t>Security Engineer</a:t>
            </a:r>
            <a:endParaRPr lang="en-US" sz="820" dirty="0"/>
          </a:p>
        </p:txBody>
      </p:sp>
      <p:sp>
        <p:nvSpPr>
          <p:cNvPr id="90" name="Text 88"/>
          <p:cNvSpPr/>
          <p:nvPr/>
        </p:nvSpPr>
        <p:spPr>
          <a:xfrm>
            <a:off x="5294376" y="4096512"/>
            <a:ext cx="1673352" cy="411480"/>
          </a:xfrm>
          <a:prstGeom prst="rect">
            <a:avLst/>
          </a:prstGeom>
          <a:noFill/>
          <a:ln/>
        </p:spPr>
        <p:txBody>
          <a:bodyPr wrap="square" lIns="254" tIns="254" rIns="254" bIns="254" rtlCol="0" anchor="ctr">
            <a:normAutofit/>
          </a:bodyPr>
          <a:lstStyle/>
          <a:p>
            <a:pPr indent="0" marL="0">
              <a:buNone/>
            </a:pPr>
            <a:r>
              <a:rPr lang="en-US" sz="640" dirty="0">
                <a:solidFill>
                  <a:srgbClr val="94A3B8"/>
                </a:solidFill>
              </a:rPr>
              <a:t>Slither scanner + vulnerable fixture contracts</a:t>
            </a:r>
            <a:endParaRPr lang="en-US" sz="640" dirty="0"/>
          </a:p>
        </p:txBody>
      </p:sp>
      <p:sp>
        <p:nvSpPr>
          <p:cNvPr id="91" name="Text 89"/>
          <p:cNvSpPr/>
          <p:nvPr/>
        </p:nvSpPr>
        <p:spPr>
          <a:xfrm>
            <a:off x="5294376" y="4599432"/>
            <a:ext cx="1463040" cy="128016"/>
          </a:xfrm>
          <a:prstGeom prst="rect">
            <a:avLst/>
          </a:prstGeom>
          <a:noFill/>
          <a:ln/>
        </p:spPr>
        <p:txBody>
          <a:bodyPr wrap="square" lIns="0" tIns="0" rIns="0" bIns="0" rtlCol="0" anchor="ctr"/>
          <a:lstStyle/>
          <a:p>
            <a:pPr indent="0" marL="0">
              <a:buNone/>
            </a:pPr>
            <a:r>
              <a:rPr lang="en-US" sz="540" dirty="0">
                <a:solidFill>
                  <a:srgbClr val="64748B"/>
                </a:solidFill>
              </a:rPr>
              <a:t>Name: __________</a:t>
            </a:r>
            <a:endParaRPr lang="en-US" sz="540" dirty="0"/>
          </a:p>
        </p:txBody>
      </p:sp>
      <p:sp>
        <p:nvSpPr>
          <p:cNvPr id="92" name="Shape 90"/>
          <p:cNvSpPr/>
          <p:nvPr/>
        </p:nvSpPr>
        <p:spPr>
          <a:xfrm>
            <a:off x="7388352" y="3429000"/>
            <a:ext cx="1984248" cy="1417320"/>
          </a:xfrm>
          <a:prstGeom prst="roundRect">
            <a:avLst>
              <a:gd name="adj" fmla="val 7742"/>
            </a:avLst>
          </a:prstGeom>
          <a:solidFill>
            <a:srgbClr val="0A1226">
              <a:alpha val="96000"/>
            </a:srgbClr>
          </a:solidFill>
          <a:ln w="12700">
            <a:solidFill>
              <a:srgbClr val="A78BFA">
                <a:alpha val="80000"/>
              </a:srgbClr>
            </a:solidFill>
            <a:prstDash val="solid"/>
          </a:ln>
          <a:effectLst>
            <a:outerShdw sx="100000" sy="100000" kx="0" ky="0" algn="bl" rotWithShape="0" blurRad="25400" dist="50800" dir="2700000">
              <a:srgbClr val="000000">
                <a:alpha val="25000"/>
              </a:srgbClr>
            </a:outerShdw>
          </a:effectLst>
        </p:spPr>
      </p:sp>
      <p:sp>
        <p:nvSpPr>
          <p:cNvPr id="93" name="Shape 91"/>
          <p:cNvSpPr/>
          <p:nvPr/>
        </p:nvSpPr>
        <p:spPr>
          <a:xfrm>
            <a:off x="7525512" y="3602736"/>
            <a:ext cx="384048" cy="384048"/>
          </a:xfrm>
          <a:prstGeom prst="ellipse">
            <a:avLst/>
          </a:prstGeom>
          <a:solidFill>
            <a:srgbClr val="A78BFA">
              <a:alpha val="90000"/>
            </a:srgbClr>
          </a:solidFill>
          <a:ln w="12700">
            <a:solidFill>
              <a:srgbClr val="A78BFA">
                <a:alpha val="80000"/>
              </a:srgbClr>
            </a:solidFill>
            <a:prstDash val="solid"/>
          </a:ln>
        </p:spPr>
      </p:sp>
      <p:sp>
        <p:nvSpPr>
          <p:cNvPr id="94" name="Text 92"/>
          <p:cNvSpPr/>
          <p:nvPr/>
        </p:nvSpPr>
        <p:spPr>
          <a:xfrm>
            <a:off x="7589520" y="3721608"/>
            <a:ext cx="256032" cy="109728"/>
          </a:xfrm>
          <a:prstGeom prst="rect">
            <a:avLst/>
          </a:prstGeom>
          <a:noFill/>
          <a:ln/>
        </p:spPr>
        <p:txBody>
          <a:bodyPr wrap="square" lIns="0" tIns="0" rIns="0" bIns="0" rtlCol="0" anchor="ctr"/>
          <a:lstStyle/>
          <a:p>
            <a:pPr algn="ctr" indent="0" marL="0">
              <a:buNone/>
            </a:pPr>
            <a:r>
              <a:rPr lang="en-US" sz="650" b="1" dirty="0">
                <a:solidFill>
                  <a:srgbClr val="070A13"/>
                </a:solidFill>
              </a:rPr>
              <a:t>04</a:t>
            </a:r>
            <a:endParaRPr lang="en-US" sz="650" dirty="0"/>
          </a:p>
        </p:txBody>
      </p:sp>
      <p:sp>
        <p:nvSpPr>
          <p:cNvPr id="95" name="Text 93"/>
          <p:cNvSpPr/>
          <p:nvPr/>
        </p:nvSpPr>
        <p:spPr>
          <a:xfrm>
            <a:off x="8001000" y="3611880"/>
            <a:ext cx="1234440" cy="246888"/>
          </a:xfrm>
          <a:prstGeom prst="rect">
            <a:avLst/>
          </a:prstGeom>
          <a:noFill/>
          <a:ln/>
        </p:spPr>
        <p:txBody>
          <a:bodyPr wrap="square" lIns="0" tIns="0" rIns="0" bIns="0" rtlCol="0" anchor="ctr">
            <a:normAutofit/>
          </a:bodyPr>
          <a:lstStyle/>
          <a:p>
            <a:pPr indent="0" marL="0">
              <a:buNone/>
            </a:pPr>
            <a:r>
              <a:rPr lang="en-US" sz="820" b="1" dirty="0">
                <a:solidFill>
                  <a:srgbClr val="FFFFFF"/>
                </a:solidFill>
              </a:rPr>
              <a:t>Frontend / Integration</a:t>
            </a:r>
            <a:endParaRPr lang="en-US" sz="820" dirty="0"/>
          </a:p>
        </p:txBody>
      </p:sp>
      <p:sp>
        <p:nvSpPr>
          <p:cNvPr id="96" name="Text 94"/>
          <p:cNvSpPr/>
          <p:nvPr/>
        </p:nvSpPr>
        <p:spPr>
          <a:xfrm>
            <a:off x="7543800" y="4096512"/>
            <a:ext cx="1673352" cy="411480"/>
          </a:xfrm>
          <a:prstGeom prst="rect">
            <a:avLst/>
          </a:prstGeom>
          <a:noFill/>
          <a:ln/>
        </p:spPr>
        <p:txBody>
          <a:bodyPr wrap="square" lIns="254" tIns="254" rIns="254" bIns="254" rtlCol="0" anchor="ctr">
            <a:normAutofit/>
          </a:bodyPr>
          <a:lstStyle/>
          <a:p>
            <a:pPr indent="0" marL="0">
              <a:buNone/>
            </a:pPr>
            <a:r>
              <a:rPr lang="en-US" sz="640" dirty="0">
                <a:solidFill>
                  <a:srgbClr val="94A3B8"/>
                </a:solidFill>
              </a:rPr>
              <a:t>Next.js dashboard + typed API client</a:t>
            </a:r>
            <a:endParaRPr lang="en-US" sz="640" dirty="0"/>
          </a:p>
        </p:txBody>
      </p:sp>
      <p:sp>
        <p:nvSpPr>
          <p:cNvPr id="97" name="Text 95"/>
          <p:cNvSpPr/>
          <p:nvPr/>
        </p:nvSpPr>
        <p:spPr>
          <a:xfrm>
            <a:off x="7543800" y="4599432"/>
            <a:ext cx="1463040" cy="128016"/>
          </a:xfrm>
          <a:prstGeom prst="rect">
            <a:avLst/>
          </a:prstGeom>
          <a:noFill/>
          <a:ln/>
        </p:spPr>
        <p:txBody>
          <a:bodyPr wrap="square" lIns="0" tIns="0" rIns="0" bIns="0" rtlCol="0" anchor="ctr"/>
          <a:lstStyle/>
          <a:p>
            <a:pPr indent="0" marL="0">
              <a:buNone/>
            </a:pPr>
            <a:r>
              <a:rPr lang="en-US" sz="540" dirty="0">
                <a:solidFill>
                  <a:srgbClr val="64748B"/>
                </a:solidFill>
              </a:rPr>
              <a:t>Name: __________</a:t>
            </a:r>
            <a:endParaRPr lang="en-US" sz="540" dirty="0"/>
          </a:p>
        </p:txBody>
      </p:sp>
      <p:sp>
        <p:nvSpPr>
          <p:cNvPr id="98" name="Shape 96"/>
          <p:cNvSpPr/>
          <p:nvPr/>
        </p:nvSpPr>
        <p:spPr>
          <a:xfrm>
            <a:off x="9637776" y="3429000"/>
            <a:ext cx="1984248" cy="1417320"/>
          </a:xfrm>
          <a:prstGeom prst="roundRect">
            <a:avLst>
              <a:gd name="adj" fmla="val 7742"/>
            </a:avLst>
          </a:prstGeom>
          <a:solidFill>
            <a:srgbClr val="0A1226">
              <a:alpha val="96000"/>
            </a:srgbClr>
          </a:solidFill>
          <a:ln w="12700">
            <a:solidFill>
              <a:srgbClr val="FBBF24">
                <a:alpha val="80000"/>
              </a:srgbClr>
            </a:solidFill>
            <a:prstDash val="solid"/>
          </a:ln>
          <a:effectLst>
            <a:outerShdw sx="100000" sy="100000" kx="0" ky="0" algn="bl" rotWithShape="0" blurRad="25400" dist="50800" dir="2700000">
              <a:srgbClr val="000000">
                <a:alpha val="25000"/>
              </a:srgbClr>
            </a:outerShdw>
          </a:effectLst>
        </p:spPr>
      </p:sp>
      <p:sp>
        <p:nvSpPr>
          <p:cNvPr id="99" name="Shape 97"/>
          <p:cNvSpPr/>
          <p:nvPr/>
        </p:nvSpPr>
        <p:spPr>
          <a:xfrm>
            <a:off x="9774936" y="3602736"/>
            <a:ext cx="384048" cy="384048"/>
          </a:xfrm>
          <a:prstGeom prst="ellipse">
            <a:avLst/>
          </a:prstGeom>
          <a:solidFill>
            <a:srgbClr val="FBBF24">
              <a:alpha val="90000"/>
            </a:srgbClr>
          </a:solidFill>
          <a:ln w="12700">
            <a:solidFill>
              <a:srgbClr val="FBBF24">
                <a:alpha val="80000"/>
              </a:srgbClr>
            </a:solidFill>
            <a:prstDash val="solid"/>
          </a:ln>
        </p:spPr>
      </p:sp>
      <p:sp>
        <p:nvSpPr>
          <p:cNvPr id="100" name="Text 98"/>
          <p:cNvSpPr/>
          <p:nvPr/>
        </p:nvSpPr>
        <p:spPr>
          <a:xfrm>
            <a:off x="9838944" y="3721608"/>
            <a:ext cx="256032" cy="109728"/>
          </a:xfrm>
          <a:prstGeom prst="rect">
            <a:avLst/>
          </a:prstGeom>
          <a:noFill/>
          <a:ln/>
        </p:spPr>
        <p:txBody>
          <a:bodyPr wrap="square" lIns="0" tIns="0" rIns="0" bIns="0" rtlCol="0" anchor="ctr"/>
          <a:lstStyle/>
          <a:p>
            <a:pPr algn="ctr" indent="0" marL="0">
              <a:buNone/>
            </a:pPr>
            <a:r>
              <a:rPr lang="en-US" sz="650" b="1" dirty="0">
                <a:solidFill>
                  <a:srgbClr val="070A13"/>
                </a:solidFill>
              </a:rPr>
              <a:t>05</a:t>
            </a:r>
            <a:endParaRPr lang="en-US" sz="650" dirty="0"/>
          </a:p>
        </p:txBody>
      </p:sp>
      <p:sp>
        <p:nvSpPr>
          <p:cNvPr id="101" name="Text 99"/>
          <p:cNvSpPr/>
          <p:nvPr/>
        </p:nvSpPr>
        <p:spPr>
          <a:xfrm>
            <a:off x="10250424" y="3611880"/>
            <a:ext cx="1234440" cy="246888"/>
          </a:xfrm>
          <a:prstGeom prst="rect">
            <a:avLst/>
          </a:prstGeom>
          <a:noFill/>
          <a:ln/>
        </p:spPr>
        <p:txBody>
          <a:bodyPr wrap="square" lIns="0" tIns="0" rIns="0" bIns="0" rtlCol="0" anchor="ctr">
            <a:normAutofit/>
          </a:bodyPr>
          <a:lstStyle/>
          <a:p>
            <a:pPr indent="0" marL="0">
              <a:buNone/>
            </a:pPr>
            <a:r>
              <a:rPr lang="en-US" sz="820" b="1" dirty="0">
                <a:solidFill>
                  <a:srgbClr val="FFFFFF"/>
                </a:solidFill>
              </a:rPr>
              <a:t>Architecture / Delivery</a:t>
            </a:r>
            <a:endParaRPr lang="en-US" sz="820" dirty="0"/>
          </a:p>
        </p:txBody>
      </p:sp>
      <p:sp>
        <p:nvSpPr>
          <p:cNvPr id="102" name="Text 100"/>
          <p:cNvSpPr/>
          <p:nvPr/>
        </p:nvSpPr>
        <p:spPr>
          <a:xfrm>
            <a:off x="9793224" y="4096512"/>
            <a:ext cx="1673352" cy="411480"/>
          </a:xfrm>
          <a:prstGeom prst="rect">
            <a:avLst/>
          </a:prstGeom>
          <a:noFill/>
          <a:ln/>
        </p:spPr>
        <p:txBody>
          <a:bodyPr wrap="square" lIns="254" tIns="254" rIns="254" bIns="254" rtlCol="0" anchor="ctr">
            <a:normAutofit/>
          </a:bodyPr>
          <a:lstStyle/>
          <a:p>
            <a:pPr indent="0" marL="0">
              <a:buNone/>
            </a:pPr>
            <a:r>
              <a:rPr lang="en-US" sz="640" dirty="0">
                <a:solidFill>
                  <a:srgbClr val="94A3B8"/>
                </a:solidFill>
              </a:rPr>
              <a:t>docs, schema contract, PR flow, final deck/demo</a:t>
            </a:r>
            <a:endParaRPr lang="en-US" sz="640" dirty="0"/>
          </a:p>
        </p:txBody>
      </p:sp>
      <p:sp>
        <p:nvSpPr>
          <p:cNvPr id="103" name="Text 101"/>
          <p:cNvSpPr/>
          <p:nvPr/>
        </p:nvSpPr>
        <p:spPr>
          <a:xfrm>
            <a:off x="9793224" y="4599432"/>
            <a:ext cx="1463040" cy="128016"/>
          </a:xfrm>
          <a:prstGeom prst="rect">
            <a:avLst/>
          </a:prstGeom>
          <a:noFill/>
          <a:ln/>
        </p:spPr>
        <p:txBody>
          <a:bodyPr wrap="square" lIns="0" tIns="0" rIns="0" bIns="0" rtlCol="0" anchor="ctr"/>
          <a:lstStyle/>
          <a:p>
            <a:pPr indent="0" marL="0">
              <a:buNone/>
            </a:pPr>
            <a:r>
              <a:rPr lang="en-US" sz="540" dirty="0">
                <a:solidFill>
                  <a:srgbClr val="64748B"/>
                </a:solidFill>
              </a:rPr>
              <a:t>Name: __________</a:t>
            </a:r>
            <a:endParaRPr lang="en-US" sz="540" dirty="0"/>
          </a:p>
        </p:txBody>
      </p:sp>
      <p:sp>
        <p:nvSpPr>
          <p:cNvPr id="104" name="Text 102"/>
          <p:cNvSpPr/>
          <p:nvPr/>
        </p:nvSpPr>
        <p:spPr>
          <a:xfrm>
            <a:off x="685800" y="5660136"/>
            <a:ext cx="8138160" cy="182880"/>
          </a:xfrm>
          <a:prstGeom prst="rect">
            <a:avLst/>
          </a:prstGeom>
          <a:noFill/>
          <a:ln/>
        </p:spPr>
        <p:txBody>
          <a:bodyPr wrap="square" lIns="0" tIns="0" rIns="0" bIns="0" rtlCol="0" anchor="ctr"/>
          <a:lstStyle/>
          <a:p>
            <a:pPr indent="0" marL="0">
              <a:buNone/>
            </a:pPr>
            <a:r>
              <a:rPr lang="en-US" sz="950" b="1" dirty="0">
                <a:solidFill>
                  <a:srgbClr val="22D3EE"/>
                </a:solidFill>
              </a:rPr>
              <a:t>Core message: We turned low-level EVM execution data into a human-readable developer workflow.</a:t>
            </a:r>
            <a:endParaRPr lang="en-US" sz="950" dirty="0"/>
          </a:p>
        </p:txBody>
      </p:sp>
      <p:sp>
        <p:nvSpPr>
          <p:cNvPr id="105" name="Shape 103"/>
          <p:cNvSpPr/>
          <p:nvPr/>
        </p:nvSpPr>
        <p:spPr>
          <a:xfrm>
            <a:off x="502920" y="6263640"/>
            <a:ext cx="1828800" cy="292608"/>
          </a:xfrm>
          <a:prstGeom prst="roundRect">
            <a:avLst>
              <a:gd name="adj" fmla="val 25000"/>
            </a:avLst>
          </a:prstGeom>
          <a:solidFill>
            <a:srgbClr val="60A5FA">
              <a:alpha val="16000"/>
            </a:srgbClr>
          </a:solidFill>
          <a:ln w="12700">
            <a:solidFill>
              <a:srgbClr val="60A5FA">
                <a:alpha val="65000"/>
              </a:srgbClr>
            </a:solidFill>
            <a:prstDash val="solid"/>
          </a:ln>
        </p:spPr>
      </p:sp>
      <p:sp>
        <p:nvSpPr>
          <p:cNvPr id="106" name="Text 104"/>
          <p:cNvSpPr/>
          <p:nvPr/>
        </p:nvSpPr>
        <p:spPr>
          <a:xfrm>
            <a:off x="612648" y="6336792"/>
            <a:ext cx="1609344" cy="146304"/>
          </a:xfrm>
          <a:prstGeom prst="rect">
            <a:avLst/>
          </a:prstGeom>
          <a:noFill/>
          <a:ln/>
        </p:spPr>
        <p:txBody>
          <a:bodyPr wrap="square" lIns="0" tIns="0" rIns="0" bIns="0" rtlCol="0" anchor="ctr">
            <a:normAutofit/>
          </a:bodyPr>
          <a:lstStyle/>
          <a:p>
            <a:pPr indent="0" marL="0">
              <a:buNone/>
            </a:pPr>
            <a:r>
              <a:rPr lang="en-US" sz="650" b="1" dirty="0">
                <a:solidFill>
                  <a:srgbClr val="60A5FA"/>
                </a:solidFill>
              </a:rPr>
              <a:t>INTRO</a:t>
            </a:r>
            <a:endParaRPr lang="en-US" sz="650" dirty="0"/>
          </a:p>
        </p:txBody>
      </p:sp>
      <p:sp>
        <p:nvSpPr>
          <p:cNvPr id="107" name="Text 105"/>
          <p:cNvSpPr/>
          <p:nvPr/>
        </p:nvSpPr>
        <p:spPr>
          <a:xfrm>
            <a:off x="2743200" y="6345936"/>
            <a:ext cx="5029200" cy="109728"/>
          </a:xfrm>
          <a:prstGeom prst="rect">
            <a:avLst/>
          </a:prstGeom>
          <a:noFill/>
          <a:ln/>
        </p:spPr>
        <p:txBody>
          <a:bodyPr wrap="square" lIns="0" tIns="0" rIns="0" bIns="0" rtlCol="0" anchor="ctr"/>
          <a:lstStyle/>
          <a:p>
            <a:pPr indent="0" marL="0">
              <a:buNone/>
            </a:pPr>
            <a:r>
              <a:rPr lang="en-US" sz="550" dirty="0">
                <a:solidFill>
                  <a:srgbClr val="64748B"/>
                </a:solidFill>
              </a:rPr>
              <a:t>SC6107 • Blockchain Development Fundamentals</a:t>
            </a:r>
            <a:endParaRPr lang="en-US" sz="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22D3EE">
              <a:alpha val="14000"/>
            </a:srgbClr>
          </a:solidFill>
          <a:ln w="12700">
            <a:solidFill>
              <a:srgbClr val="22D3EE">
                <a:alpha val="0"/>
              </a:srgbClr>
            </a:solidFill>
            <a:prstDash val="solid"/>
          </a:ln>
        </p:spPr>
      </p:sp>
      <p:sp>
        <p:nvSpPr>
          <p:cNvPr id="4" name="Shape 2"/>
          <p:cNvSpPr/>
          <p:nvPr/>
        </p:nvSpPr>
        <p:spPr>
          <a:xfrm>
            <a:off x="8686800" y="4206240"/>
            <a:ext cx="4663440" cy="4663440"/>
          </a:xfrm>
          <a:prstGeom prst="ellipse">
            <a:avLst/>
          </a:prstGeom>
          <a:solidFill>
            <a:srgbClr val="34D399">
              <a:alpha val="12000"/>
            </a:srgbClr>
          </a:solidFill>
          <a:ln w="12700">
            <a:solidFill>
              <a:srgbClr val="34D399">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Text 56"/>
          <p:cNvSpPr/>
          <p:nvPr/>
        </p:nvSpPr>
        <p:spPr>
          <a:xfrm>
            <a:off x="502920" y="320040"/>
            <a:ext cx="7589520" cy="320040"/>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2. Technical Architecture</a:t>
            </a:r>
            <a:endParaRPr lang="en-US" sz="1900" dirty="0"/>
          </a:p>
        </p:txBody>
      </p:sp>
      <p:sp>
        <p:nvSpPr>
          <p:cNvPr id="59" name="Text 57"/>
          <p:cNvSpPr/>
          <p:nvPr/>
        </p:nvSpPr>
        <p:spPr>
          <a:xfrm>
            <a:off x="521208" y="685800"/>
            <a:ext cx="7772400" cy="219456"/>
          </a:xfrm>
          <a:prstGeom prst="rect">
            <a:avLst/>
          </a:prstGeom>
          <a:noFill/>
          <a:ln/>
        </p:spPr>
        <p:txBody>
          <a:bodyPr wrap="square" lIns="0" tIns="0" rIns="0" bIns="0" rtlCol="0" anchor="ctr"/>
          <a:lstStyle/>
          <a:p>
            <a:pPr indent="0" marL="0">
              <a:buNone/>
            </a:pPr>
            <a:r>
              <a:rPr lang="en-US" sz="780" dirty="0">
                <a:solidFill>
                  <a:srgbClr val="94A3B8"/>
                </a:solidFill>
              </a:rPr>
              <a:t>System design diagram • smart-contract artifacts • trade-offs</a:t>
            </a:r>
            <a:endParaRPr lang="en-US" sz="780" dirty="0"/>
          </a:p>
        </p:txBody>
      </p:sp>
      <p:sp>
        <p:nvSpPr>
          <p:cNvPr id="60" name="Text 58"/>
          <p:cNvSpPr/>
          <p:nvPr/>
        </p:nvSpPr>
        <p:spPr>
          <a:xfrm>
            <a:off x="9994392" y="320040"/>
            <a:ext cx="1691640" cy="237744"/>
          </a:xfrm>
          <a:prstGeom prst="rect">
            <a:avLst/>
          </a:prstGeom>
          <a:noFill/>
          <a:ln/>
        </p:spPr>
        <p:txBody>
          <a:bodyPr wrap="square" lIns="0" tIns="0" rIns="0" bIns="0" rtlCol="0" anchor="ctr"/>
          <a:lstStyle/>
          <a:p>
            <a:pPr algn="r" indent="0" marL="0">
              <a:buNone/>
            </a:pPr>
            <a:r>
              <a:rPr lang="en-US" sz="850" b="1" dirty="0">
                <a:solidFill>
                  <a:srgbClr val="22D3EE"/>
                </a:solidFill>
              </a:rPr>
              <a:t>~1 min</a:t>
            </a:r>
            <a:endParaRPr lang="en-US" sz="850" dirty="0"/>
          </a:p>
        </p:txBody>
      </p:sp>
      <p:sp>
        <p:nvSpPr>
          <p:cNvPr id="61" name="Shape 59"/>
          <p:cNvSpPr/>
          <p:nvPr/>
        </p:nvSpPr>
        <p:spPr>
          <a:xfrm>
            <a:off x="658368" y="1207008"/>
            <a:ext cx="1691640" cy="822960"/>
          </a:xfrm>
          <a:prstGeom prst="roundRect">
            <a:avLst>
              <a:gd name="adj" fmla="val 13333"/>
            </a:avLst>
          </a:prstGeom>
          <a:solidFill>
            <a:srgbClr val="0B1224">
              <a:alpha val="96000"/>
            </a:srgbClr>
          </a:solidFill>
          <a:ln w="12700">
            <a:solidFill>
              <a:srgbClr val="60A5FA">
                <a:alpha val="90000"/>
              </a:srgbClr>
            </a:solidFill>
            <a:prstDash val="solid"/>
          </a:ln>
          <a:effectLst>
            <a:outerShdw sx="100000" sy="100000" kx="0" ky="0" algn="bl" rotWithShape="0" blurRad="25400" dist="50800" dir="2700000">
              <a:srgbClr val="000000">
                <a:alpha val="25000"/>
              </a:srgbClr>
            </a:outerShdw>
          </a:effectLst>
        </p:spPr>
      </p:sp>
      <p:sp>
        <p:nvSpPr>
          <p:cNvPr id="62" name="Text 60"/>
          <p:cNvSpPr/>
          <p:nvPr/>
        </p:nvSpPr>
        <p:spPr>
          <a:xfrm>
            <a:off x="786384" y="1316736"/>
            <a:ext cx="143560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User Input</a:t>
            </a:r>
            <a:endParaRPr lang="en-US" sz="920" dirty="0"/>
          </a:p>
        </p:txBody>
      </p:sp>
      <p:sp>
        <p:nvSpPr>
          <p:cNvPr id="63" name="Text 61"/>
          <p:cNvSpPr/>
          <p:nvPr/>
        </p:nvSpPr>
        <p:spPr>
          <a:xfrm>
            <a:off x="786384" y="1618488"/>
            <a:ext cx="1435608" cy="320040"/>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tx hash / contract address</a:t>
            </a:r>
            <a:endParaRPr lang="en-US" sz="650" dirty="0"/>
          </a:p>
        </p:txBody>
      </p:sp>
      <p:sp>
        <p:nvSpPr>
          <p:cNvPr id="64" name="Shape 62"/>
          <p:cNvSpPr/>
          <p:nvPr/>
        </p:nvSpPr>
        <p:spPr>
          <a:xfrm>
            <a:off x="2761488" y="1078992"/>
            <a:ext cx="1874520" cy="1078992"/>
          </a:xfrm>
          <a:prstGeom prst="roundRect">
            <a:avLst>
              <a:gd name="adj" fmla="val 10169"/>
            </a:avLst>
          </a:prstGeom>
          <a:solidFill>
            <a:srgbClr val="0B1224">
              <a:alpha val="96000"/>
            </a:srgbClr>
          </a:solidFill>
          <a:ln w="12700">
            <a:solidFill>
              <a:srgbClr val="A78BFA">
                <a:alpha val="90000"/>
              </a:srgbClr>
            </a:solidFill>
            <a:prstDash val="solid"/>
          </a:ln>
          <a:effectLst>
            <a:outerShdw sx="100000" sy="100000" kx="0" ky="0" algn="bl" rotWithShape="0" blurRad="25400" dist="50800" dir="2700000">
              <a:srgbClr val="000000">
                <a:alpha val="25000"/>
              </a:srgbClr>
            </a:outerShdw>
          </a:effectLst>
        </p:spPr>
      </p:sp>
      <p:sp>
        <p:nvSpPr>
          <p:cNvPr id="65" name="Text 63"/>
          <p:cNvSpPr/>
          <p:nvPr/>
        </p:nvSpPr>
        <p:spPr>
          <a:xfrm>
            <a:off x="2889504" y="1188720"/>
            <a:ext cx="161848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Next.js UI</a:t>
            </a:r>
            <a:endParaRPr lang="en-US" sz="920" dirty="0"/>
          </a:p>
        </p:txBody>
      </p:sp>
      <p:sp>
        <p:nvSpPr>
          <p:cNvPr id="66" name="Text 64"/>
          <p:cNvSpPr/>
          <p:nvPr/>
        </p:nvSpPr>
        <p:spPr>
          <a:xfrm>
            <a:off x="2889504" y="1490472"/>
            <a:ext cx="1618488" cy="576072"/>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Trace • Gas &amp; State • Security tabs</a:t>
            </a:r>
            <a:endParaRPr lang="en-US" sz="650" dirty="0"/>
          </a:p>
          <a:p>
            <a:pPr algn="ctr" indent="0" marL="0">
              <a:buNone/>
            </a:pPr>
            <a:r>
              <a:rPr lang="en-US" sz="650" dirty="0">
                <a:solidFill>
                  <a:srgbClr val="94A3B8"/>
                </a:solidFill>
              </a:rPr>
              <a:t>SWR + typed client</a:t>
            </a:r>
            <a:endParaRPr lang="en-US" sz="650" dirty="0"/>
          </a:p>
        </p:txBody>
      </p:sp>
      <p:sp>
        <p:nvSpPr>
          <p:cNvPr id="67" name="Shape 65"/>
          <p:cNvSpPr/>
          <p:nvPr/>
        </p:nvSpPr>
        <p:spPr>
          <a:xfrm>
            <a:off x="5166360" y="1078992"/>
            <a:ext cx="1874520" cy="1078992"/>
          </a:xfrm>
          <a:prstGeom prst="roundRect">
            <a:avLst>
              <a:gd name="adj" fmla="val 10169"/>
            </a:avLst>
          </a:prstGeom>
          <a:solidFill>
            <a:srgbClr val="0B1224">
              <a:alpha val="96000"/>
            </a:srgbClr>
          </a:solidFill>
          <a:ln w="12700">
            <a:solidFill>
              <a:srgbClr val="22D3EE">
                <a:alpha val="90000"/>
              </a:srgbClr>
            </a:solidFill>
            <a:prstDash val="solid"/>
          </a:ln>
          <a:effectLst>
            <a:outerShdw sx="100000" sy="100000" kx="0" ky="0" algn="bl" rotWithShape="0" blurRad="25400" dist="50800" dir="2700000">
              <a:srgbClr val="000000">
                <a:alpha val="25000"/>
              </a:srgbClr>
            </a:outerShdw>
          </a:effectLst>
        </p:spPr>
      </p:sp>
      <p:sp>
        <p:nvSpPr>
          <p:cNvPr id="68" name="Text 66"/>
          <p:cNvSpPr/>
          <p:nvPr/>
        </p:nvSpPr>
        <p:spPr>
          <a:xfrm>
            <a:off x="5294376" y="1188720"/>
            <a:ext cx="161848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FastAPI Backend</a:t>
            </a:r>
            <a:endParaRPr lang="en-US" sz="920" dirty="0"/>
          </a:p>
        </p:txBody>
      </p:sp>
      <p:sp>
        <p:nvSpPr>
          <p:cNvPr id="69" name="Text 67"/>
          <p:cNvSpPr/>
          <p:nvPr/>
        </p:nvSpPr>
        <p:spPr>
          <a:xfrm>
            <a:off x="5294376" y="1490472"/>
            <a:ext cx="1618488" cy="576072"/>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schema-safe REST endpoints</a:t>
            </a:r>
            <a:endParaRPr lang="en-US" sz="650" dirty="0"/>
          </a:p>
          <a:p>
            <a:pPr algn="ctr" indent="0" marL="0">
              <a:buNone/>
            </a:pPr>
            <a:r>
              <a:rPr lang="en-US" sz="650" dirty="0">
                <a:solidFill>
                  <a:srgbClr val="94A3B8"/>
                </a:solidFill>
              </a:rPr>
              <a:t>LRU tx cache</a:t>
            </a:r>
            <a:endParaRPr lang="en-US" sz="650" dirty="0"/>
          </a:p>
        </p:txBody>
      </p:sp>
      <p:sp>
        <p:nvSpPr>
          <p:cNvPr id="70" name="Shape 68"/>
          <p:cNvSpPr/>
          <p:nvPr/>
        </p:nvSpPr>
        <p:spPr>
          <a:xfrm>
            <a:off x="7589520" y="822960"/>
            <a:ext cx="1783080" cy="877824"/>
          </a:xfrm>
          <a:prstGeom prst="roundRect">
            <a:avLst>
              <a:gd name="adj" fmla="val 12500"/>
            </a:avLst>
          </a:prstGeom>
          <a:solidFill>
            <a:srgbClr val="0B1224">
              <a:alpha val="96000"/>
            </a:srgbClr>
          </a:solidFill>
          <a:ln w="12700">
            <a:solidFill>
              <a:srgbClr val="34D399">
                <a:alpha val="90000"/>
              </a:srgbClr>
            </a:solidFill>
            <a:prstDash val="solid"/>
          </a:ln>
          <a:effectLst>
            <a:outerShdw sx="100000" sy="100000" kx="0" ky="0" algn="bl" rotWithShape="0" blurRad="25400" dist="50800" dir="2700000">
              <a:srgbClr val="000000">
                <a:alpha val="25000"/>
              </a:srgbClr>
            </a:outerShdw>
          </a:effectLst>
        </p:spPr>
      </p:sp>
      <p:sp>
        <p:nvSpPr>
          <p:cNvPr id="71" name="Text 69"/>
          <p:cNvSpPr/>
          <p:nvPr/>
        </p:nvSpPr>
        <p:spPr>
          <a:xfrm>
            <a:off x="7717536" y="932688"/>
            <a:ext cx="152704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EVM RPC</a:t>
            </a:r>
            <a:endParaRPr lang="en-US" sz="920" dirty="0"/>
          </a:p>
        </p:txBody>
      </p:sp>
      <p:sp>
        <p:nvSpPr>
          <p:cNvPr id="72" name="Text 70"/>
          <p:cNvSpPr/>
          <p:nvPr/>
        </p:nvSpPr>
        <p:spPr>
          <a:xfrm>
            <a:off x="7717536" y="1234440"/>
            <a:ext cx="1527048" cy="374904"/>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debug_traceTransaction</a:t>
            </a:r>
            <a:endParaRPr lang="en-US" sz="650" dirty="0"/>
          </a:p>
          <a:p>
            <a:pPr algn="ctr" indent="0" marL="0">
              <a:buNone/>
            </a:pPr>
            <a:r>
              <a:rPr lang="en-US" sz="650" dirty="0">
                <a:solidFill>
                  <a:srgbClr val="94A3B8"/>
                </a:solidFill>
              </a:rPr>
              <a:t>callTracer + stateDiffTracer</a:t>
            </a:r>
            <a:endParaRPr lang="en-US" sz="650" dirty="0"/>
          </a:p>
        </p:txBody>
      </p:sp>
      <p:sp>
        <p:nvSpPr>
          <p:cNvPr id="73" name="Shape 71"/>
          <p:cNvSpPr/>
          <p:nvPr/>
        </p:nvSpPr>
        <p:spPr>
          <a:xfrm>
            <a:off x="7589520" y="2048256"/>
            <a:ext cx="1783080" cy="877824"/>
          </a:xfrm>
          <a:prstGeom prst="roundRect">
            <a:avLst>
              <a:gd name="adj" fmla="val 12500"/>
            </a:avLst>
          </a:prstGeom>
          <a:solidFill>
            <a:srgbClr val="0B1224">
              <a:alpha val="96000"/>
            </a:srgbClr>
          </a:solidFill>
          <a:ln w="12700">
            <a:solidFill>
              <a:srgbClr val="FB7185">
                <a:alpha val="90000"/>
              </a:srgbClr>
            </a:solidFill>
            <a:prstDash val="solid"/>
          </a:ln>
          <a:effectLst>
            <a:outerShdw sx="100000" sy="100000" kx="0" ky="0" algn="bl" rotWithShape="0" blurRad="25400" dist="50800" dir="2700000">
              <a:srgbClr val="000000">
                <a:alpha val="25000"/>
              </a:srgbClr>
            </a:outerShdw>
          </a:effectLst>
        </p:spPr>
      </p:sp>
      <p:sp>
        <p:nvSpPr>
          <p:cNvPr id="74" name="Text 72"/>
          <p:cNvSpPr/>
          <p:nvPr/>
        </p:nvSpPr>
        <p:spPr>
          <a:xfrm>
            <a:off x="7717536" y="2157984"/>
            <a:ext cx="152704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Slither CLI</a:t>
            </a:r>
            <a:endParaRPr lang="en-US" sz="920" dirty="0"/>
          </a:p>
        </p:txBody>
      </p:sp>
      <p:sp>
        <p:nvSpPr>
          <p:cNvPr id="75" name="Text 73"/>
          <p:cNvSpPr/>
          <p:nvPr/>
        </p:nvSpPr>
        <p:spPr>
          <a:xfrm>
            <a:off x="7717536" y="2459736"/>
            <a:ext cx="1527048" cy="374904"/>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static detector output</a:t>
            </a:r>
            <a:endParaRPr lang="en-US" sz="650" dirty="0"/>
          </a:p>
          <a:p>
            <a:pPr algn="ctr" indent="0" marL="0">
              <a:buNone/>
            </a:pPr>
            <a:r>
              <a:rPr lang="en-US" sz="650" dirty="0">
                <a:solidFill>
                  <a:srgbClr val="94A3B8"/>
                </a:solidFill>
              </a:rPr>
              <a:t>solc-select aware</a:t>
            </a:r>
            <a:endParaRPr lang="en-US" sz="650" dirty="0"/>
          </a:p>
        </p:txBody>
      </p:sp>
      <p:sp>
        <p:nvSpPr>
          <p:cNvPr id="76" name="Shape 74"/>
          <p:cNvSpPr/>
          <p:nvPr/>
        </p:nvSpPr>
        <p:spPr>
          <a:xfrm>
            <a:off x="9857232" y="1078992"/>
            <a:ext cx="1600200" cy="1078992"/>
          </a:xfrm>
          <a:prstGeom prst="roundRect">
            <a:avLst>
              <a:gd name="adj" fmla="val 10169"/>
            </a:avLst>
          </a:prstGeom>
          <a:solidFill>
            <a:srgbClr val="0B1224">
              <a:alpha val="96000"/>
            </a:srgbClr>
          </a:solidFill>
          <a:ln w="12700">
            <a:solidFill>
              <a:srgbClr val="FBBF24">
                <a:alpha val="90000"/>
              </a:srgbClr>
            </a:solidFill>
            <a:prstDash val="solid"/>
          </a:ln>
          <a:effectLst>
            <a:outerShdw sx="100000" sy="100000" kx="0" ky="0" algn="bl" rotWithShape="0" blurRad="25400" dist="50800" dir="2700000">
              <a:srgbClr val="000000">
                <a:alpha val="25000"/>
              </a:srgbClr>
            </a:outerShdw>
          </a:effectLst>
        </p:spPr>
      </p:sp>
      <p:sp>
        <p:nvSpPr>
          <p:cNvPr id="77" name="Text 75"/>
          <p:cNvSpPr/>
          <p:nvPr/>
        </p:nvSpPr>
        <p:spPr>
          <a:xfrm>
            <a:off x="9985248" y="1188720"/>
            <a:ext cx="134416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JSON Views</a:t>
            </a:r>
            <a:endParaRPr lang="en-US" sz="920" dirty="0"/>
          </a:p>
        </p:txBody>
      </p:sp>
      <p:sp>
        <p:nvSpPr>
          <p:cNvPr id="78" name="Text 76"/>
          <p:cNvSpPr/>
          <p:nvPr/>
        </p:nvSpPr>
        <p:spPr>
          <a:xfrm>
            <a:off x="9985248" y="1490472"/>
            <a:ext cx="1344168" cy="576072"/>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trace tree</a:t>
            </a:r>
            <a:endParaRPr lang="en-US" sz="650" dirty="0"/>
          </a:p>
          <a:p>
            <a:pPr algn="ctr" indent="0" marL="0">
              <a:buNone/>
            </a:pPr>
            <a:r>
              <a:rPr lang="en-US" sz="650" dirty="0">
                <a:solidFill>
                  <a:srgbClr val="94A3B8"/>
                </a:solidFill>
              </a:rPr>
              <a:t>gas/state</a:t>
            </a:r>
            <a:endParaRPr lang="en-US" sz="650" dirty="0"/>
          </a:p>
          <a:p>
            <a:pPr algn="ctr" indent="0" marL="0">
              <a:buNone/>
            </a:pPr>
            <a:r>
              <a:rPr lang="en-US" sz="650" dirty="0">
                <a:solidFill>
                  <a:srgbClr val="94A3B8"/>
                </a:solidFill>
              </a:rPr>
              <a:t>findings</a:t>
            </a:r>
            <a:endParaRPr lang="en-US" sz="650" dirty="0"/>
          </a:p>
        </p:txBody>
      </p:sp>
      <p:sp>
        <p:nvSpPr>
          <p:cNvPr id="79" name="Shape 77"/>
          <p:cNvSpPr/>
          <p:nvPr/>
        </p:nvSpPr>
        <p:spPr>
          <a:xfrm>
            <a:off x="2359152" y="1618488"/>
            <a:ext cx="402336" cy="0"/>
          </a:xfrm>
          <a:prstGeom prst="line">
            <a:avLst/>
          </a:prstGeom>
          <a:noFill/>
          <a:ln w="17780">
            <a:solidFill>
              <a:srgbClr val="60A5FA"/>
            </a:solidFill>
            <a:prstDash val="solid"/>
            <a:headEnd type="none"/>
            <a:tailEnd type="triangle"/>
          </a:ln>
        </p:spPr>
      </p:sp>
      <p:sp>
        <p:nvSpPr>
          <p:cNvPr id="80" name="Shape 78"/>
          <p:cNvSpPr/>
          <p:nvPr/>
        </p:nvSpPr>
        <p:spPr>
          <a:xfrm>
            <a:off x="4636008" y="1618488"/>
            <a:ext cx="530352" cy="0"/>
          </a:xfrm>
          <a:prstGeom prst="line">
            <a:avLst/>
          </a:prstGeom>
          <a:noFill/>
          <a:ln w="17780">
            <a:solidFill>
              <a:srgbClr val="A78BFA"/>
            </a:solidFill>
            <a:prstDash val="solid"/>
            <a:headEnd type="none"/>
            <a:tailEnd type="triangle"/>
          </a:ln>
        </p:spPr>
      </p:sp>
      <p:sp>
        <p:nvSpPr>
          <p:cNvPr id="81" name="Shape 79"/>
          <p:cNvSpPr/>
          <p:nvPr/>
        </p:nvSpPr>
        <p:spPr>
          <a:xfrm>
            <a:off x="7040880" y="1435608"/>
            <a:ext cx="548640" cy="-201168"/>
          </a:xfrm>
          <a:prstGeom prst="line">
            <a:avLst/>
          </a:prstGeom>
          <a:noFill/>
          <a:ln w="17780">
            <a:solidFill>
              <a:srgbClr val="34D399"/>
            </a:solidFill>
            <a:prstDash val="solid"/>
            <a:headEnd type="none"/>
            <a:tailEnd type="triangle"/>
          </a:ln>
        </p:spPr>
      </p:sp>
      <p:sp>
        <p:nvSpPr>
          <p:cNvPr id="82" name="Shape 80"/>
          <p:cNvSpPr/>
          <p:nvPr/>
        </p:nvSpPr>
        <p:spPr>
          <a:xfrm>
            <a:off x="7040880" y="1801368"/>
            <a:ext cx="548640" cy="676656"/>
          </a:xfrm>
          <a:prstGeom prst="line">
            <a:avLst/>
          </a:prstGeom>
          <a:noFill/>
          <a:ln w="17780">
            <a:solidFill>
              <a:srgbClr val="FB7185"/>
            </a:solidFill>
            <a:prstDash val="solid"/>
            <a:headEnd type="none"/>
            <a:tailEnd type="triangle"/>
          </a:ln>
        </p:spPr>
      </p:sp>
      <p:sp>
        <p:nvSpPr>
          <p:cNvPr id="83" name="Shape 81"/>
          <p:cNvSpPr/>
          <p:nvPr/>
        </p:nvSpPr>
        <p:spPr>
          <a:xfrm>
            <a:off x="9372600" y="1234440"/>
            <a:ext cx="484632" cy="201168"/>
          </a:xfrm>
          <a:prstGeom prst="line">
            <a:avLst/>
          </a:prstGeom>
          <a:noFill/>
          <a:ln w="17780">
            <a:solidFill>
              <a:srgbClr val="34D399"/>
            </a:solidFill>
            <a:prstDash val="solid"/>
            <a:headEnd type="none"/>
            <a:tailEnd type="triangle"/>
          </a:ln>
        </p:spPr>
      </p:sp>
      <p:sp>
        <p:nvSpPr>
          <p:cNvPr id="84" name="Shape 82"/>
          <p:cNvSpPr/>
          <p:nvPr/>
        </p:nvSpPr>
        <p:spPr>
          <a:xfrm>
            <a:off x="9372600" y="2478024"/>
            <a:ext cx="484632" cy="-676656"/>
          </a:xfrm>
          <a:prstGeom prst="line">
            <a:avLst/>
          </a:prstGeom>
          <a:noFill/>
          <a:ln w="17780">
            <a:solidFill>
              <a:srgbClr val="FB7185"/>
            </a:solidFill>
            <a:prstDash val="solid"/>
            <a:headEnd type="none"/>
            <a:tailEnd type="triangle"/>
          </a:ln>
        </p:spPr>
      </p:sp>
      <p:sp>
        <p:nvSpPr>
          <p:cNvPr id="85" name="Shape 83"/>
          <p:cNvSpPr/>
          <p:nvPr/>
        </p:nvSpPr>
        <p:spPr>
          <a:xfrm>
            <a:off x="658368" y="3090672"/>
            <a:ext cx="4709160" cy="2176272"/>
          </a:xfrm>
          <a:prstGeom prst="roundRect">
            <a:avLst>
              <a:gd name="adj" fmla="val 5042"/>
            </a:avLst>
          </a:prstGeom>
          <a:solidFill>
            <a:srgbClr val="0A1226">
              <a:alpha val="96000"/>
            </a:srgbClr>
          </a:solidFill>
          <a:ln w="12700">
            <a:solidFill>
              <a:srgbClr val="27324D"/>
            </a:solidFill>
            <a:prstDash val="solid"/>
          </a:ln>
          <a:effectLst>
            <a:outerShdw sx="100000" sy="100000" kx="0" ky="0" algn="bl" rotWithShape="0" blurRad="25400" dist="50800" dir="2700000">
              <a:srgbClr val="000000">
                <a:alpha val="25000"/>
              </a:srgbClr>
            </a:outerShdw>
          </a:effectLst>
        </p:spPr>
      </p:sp>
      <p:sp>
        <p:nvSpPr>
          <p:cNvPr id="86" name="Text 84"/>
          <p:cNvSpPr/>
          <p:nvPr/>
        </p:nvSpPr>
        <p:spPr>
          <a:xfrm>
            <a:off x="868680" y="3300984"/>
            <a:ext cx="2011680" cy="201168"/>
          </a:xfrm>
          <a:prstGeom prst="rect">
            <a:avLst/>
          </a:prstGeom>
          <a:noFill/>
          <a:ln/>
        </p:spPr>
        <p:txBody>
          <a:bodyPr wrap="square" lIns="0" tIns="0" rIns="0" bIns="0" rtlCol="0" anchor="ctr"/>
          <a:lstStyle/>
          <a:p>
            <a:pPr indent="0" marL="0">
              <a:buNone/>
            </a:pPr>
            <a:r>
              <a:rPr lang="en-US" sz="1200" b="1" dirty="0">
                <a:solidFill>
                  <a:srgbClr val="FFFFFF"/>
                </a:solidFill>
              </a:rPr>
              <a:t>Backend API contract</a:t>
            </a:r>
            <a:endParaRPr lang="en-US" sz="1200" dirty="0"/>
          </a:p>
        </p:txBody>
      </p:sp>
      <p:sp>
        <p:nvSpPr>
          <p:cNvPr id="87" name="Shape 85"/>
          <p:cNvSpPr/>
          <p:nvPr/>
        </p:nvSpPr>
        <p:spPr>
          <a:xfrm>
            <a:off x="877824" y="3675888"/>
            <a:ext cx="1600200" cy="246888"/>
          </a:xfrm>
          <a:prstGeom prst="roundRect">
            <a:avLst>
              <a:gd name="adj" fmla="val 14815"/>
            </a:avLst>
          </a:prstGeom>
          <a:solidFill>
            <a:srgbClr val="60A5FA">
              <a:alpha val="15000"/>
            </a:srgbClr>
          </a:solidFill>
          <a:ln w="12700">
            <a:solidFill>
              <a:srgbClr val="60A5FA">
                <a:alpha val="65000"/>
              </a:srgbClr>
            </a:solidFill>
            <a:prstDash val="solid"/>
          </a:ln>
        </p:spPr>
      </p:sp>
      <p:sp>
        <p:nvSpPr>
          <p:cNvPr id="88" name="Text 86"/>
          <p:cNvSpPr/>
          <p:nvPr/>
        </p:nvSpPr>
        <p:spPr>
          <a:xfrm>
            <a:off x="960120" y="3749040"/>
            <a:ext cx="1426464" cy="91440"/>
          </a:xfrm>
          <a:prstGeom prst="rect">
            <a:avLst/>
          </a:prstGeom>
          <a:noFill/>
          <a:ln/>
        </p:spPr>
        <p:txBody>
          <a:bodyPr wrap="square" lIns="0" tIns="0" rIns="0" bIns="0" rtlCol="0" anchor="ctr">
            <a:normAutofit/>
          </a:bodyPr>
          <a:lstStyle/>
          <a:p>
            <a:pPr indent="0" marL="0">
              <a:buNone/>
            </a:pPr>
            <a:r>
              <a:rPr lang="en-US" sz="520" b="1" dirty="0">
                <a:solidFill>
                  <a:srgbClr val="60A5FA"/>
                </a:solidFill>
              </a:rPr>
              <a:t>GET /api/trace/{txHash}</a:t>
            </a:r>
            <a:endParaRPr lang="en-US" sz="520" dirty="0"/>
          </a:p>
        </p:txBody>
      </p:sp>
      <p:sp>
        <p:nvSpPr>
          <p:cNvPr id="89" name="Text 87"/>
          <p:cNvSpPr/>
          <p:nvPr/>
        </p:nvSpPr>
        <p:spPr>
          <a:xfrm>
            <a:off x="2706624" y="3730752"/>
            <a:ext cx="2331720" cy="128016"/>
          </a:xfrm>
          <a:prstGeom prst="rect">
            <a:avLst/>
          </a:prstGeom>
          <a:noFill/>
          <a:ln/>
        </p:spPr>
        <p:txBody>
          <a:bodyPr wrap="square" lIns="0" tIns="0" rIns="0" bIns="0" rtlCol="0" anchor="ctr">
            <a:normAutofit/>
          </a:bodyPr>
          <a:lstStyle/>
          <a:p>
            <a:pPr indent="0" marL="0">
              <a:buNone/>
            </a:pPr>
            <a:r>
              <a:rPr lang="en-US" sz="640" dirty="0">
                <a:solidFill>
                  <a:srgbClr val="94A3B8"/>
                </a:solidFill>
              </a:rPr>
              <a:t>Call tree + decoded functions</a:t>
            </a:r>
            <a:endParaRPr lang="en-US" sz="640" dirty="0"/>
          </a:p>
        </p:txBody>
      </p:sp>
      <p:sp>
        <p:nvSpPr>
          <p:cNvPr id="90" name="Shape 88"/>
          <p:cNvSpPr/>
          <p:nvPr/>
        </p:nvSpPr>
        <p:spPr>
          <a:xfrm>
            <a:off x="877824" y="4114800"/>
            <a:ext cx="1600200" cy="246888"/>
          </a:xfrm>
          <a:prstGeom prst="roundRect">
            <a:avLst>
              <a:gd name="adj" fmla="val 14815"/>
            </a:avLst>
          </a:prstGeom>
          <a:solidFill>
            <a:srgbClr val="34D399">
              <a:alpha val="15000"/>
            </a:srgbClr>
          </a:solidFill>
          <a:ln w="12700">
            <a:solidFill>
              <a:srgbClr val="34D399">
                <a:alpha val="65000"/>
              </a:srgbClr>
            </a:solidFill>
            <a:prstDash val="solid"/>
          </a:ln>
        </p:spPr>
      </p:sp>
      <p:sp>
        <p:nvSpPr>
          <p:cNvPr id="91" name="Text 89"/>
          <p:cNvSpPr/>
          <p:nvPr/>
        </p:nvSpPr>
        <p:spPr>
          <a:xfrm>
            <a:off x="960120" y="4187952"/>
            <a:ext cx="1426464" cy="91440"/>
          </a:xfrm>
          <a:prstGeom prst="rect">
            <a:avLst/>
          </a:prstGeom>
          <a:noFill/>
          <a:ln/>
        </p:spPr>
        <p:txBody>
          <a:bodyPr wrap="square" lIns="0" tIns="0" rIns="0" bIns="0" rtlCol="0" anchor="ctr">
            <a:normAutofit/>
          </a:bodyPr>
          <a:lstStyle/>
          <a:p>
            <a:pPr indent="0" marL="0">
              <a:buNone/>
            </a:pPr>
            <a:r>
              <a:rPr lang="en-US" sz="520" b="1" dirty="0">
                <a:solidFill>
                  <a:srgbClr val="34D399"/>
                </a:solidFill>
              </a:rPr>
              <a:t>GET /api/gas-state/{txHash}</a:t>
            </a:r>
            <a:endParaRPr lang="en-US" sz="520" dirty="0"/>
          </a:p>
        </p:txBody>
      </p:sp>
      <p:sp>
        <p:nvSpPr>
          <p:cNvPr id="92" name="Text 90"/>
          <p:cNvSpPr/>
          <p:nvPr/>
        </p:nvSpPr>
        <p:spPr>
          <a:xfrm>
            <a:off x="2706624" y="4169664"/>
            <a:ext cx="2331720" cy="128016"/>
          </a:xfrm>
          <a:prstGeom prst="rect">
            <a:avLst/>
          </a:prstGeom>
          <a:noFill/>
          <a:ln/>
        </p:spPr>
        <p:txBody>
          <a:bodyPr wrap="square" lIns="0" tIns="0" rIns="0" bIns="0" rtlCol="0" anchor="ctr">
            <a:normAutofit/>
          </a:bodyPr>
          <a:lstStyle/>
          <a:p>
            <a:pPr indent="0" marL="0">
              <a:buNone/>
            </a:pPr>
            <a:r>
              <a:rPr lang="en-US" sz="640" dirty="0">
                <a:solidFill>
                  <a:srgbClr val="94A3B8"/>
                </a:solidFill>
              </a:rPr>
              <a:t>Gas breakdown + balance/token diffs</a:t>
            </a:r>
            <a:endParaRPr lang="en-US" sz="640" dirty="0"/>
          </a:p>
        </p:txBody>
      </p:sp>
      <p:sp>
        <p:nvSpPr>
          <p:cNvPr id="93" name="Shape 91"/>
          <p:cNvSpPr/>
          <p:nvPr/>
        </p:nvSpPr>
        <p:spPr>
          <a:xfrm>
            <a:off x="877824" y="4553712"/>
            <a:ext cx="1600200" cy="246888"/>
          </a:xfrm>
          <a:prstGeom prst="roundRect">
            <a:avLst>
              <a:gd name="adj" fmla="val 14815"/>
            </a:avLst>
          </a:prstGeom>
          <a:solidFill>
            <a:srgbClr val="FB7185">
              <a:alpha val="15000"/>
            </a:srgbClr>
          </a:solidFill>
          <a:ln w="12700">
            <a:solidFill>
              <a:srgbClr val="FB7185">
                <a:alpha val="65000"/>
              </a:srgbClr>
            </a:solidFill>
            <a:prstDash val="solid"/>
          </a:ln>
        </p:spPr>
      </p:sp>
      <p:sp>
        <p:nvSpPr>
          <p:cNvPr id="94" name="Text 92"/>
          <p:cNvSpPr/>
          <p:nvPr/>
        </p:nvSpPr>
        <p:spPr>
          <a:xfrm>
            <a:off x="960120" y="4626864"/>
            <a:ext cx="1426464" cy="91440"/>
          </a:xfrm>
          <a:prstGeom prst="rect">
            <a:avLst/>
          </a:prstGeom>
          <a:noFill/>
          <a:ln/>
        </p:spPr>
        <p:txBody>
          <a:bodyPr wrap="square" lIns="0" tIns="0" rIns="0" bIns="0" rtlCol="0" anchor="ctr">
            <a:normAutofit/>
          </a:bodyPr>
          <a:lstStyle/>
          <a:p>
            <a:pPr indent="0" marL="0">
              <a:buNone/>
            </a:pPr>
            <a:r>
              <a:rPr lang="en-US" sz="520" b="1" dirty="0">
                <a:solidFill>
                  <a:srgbClr val="FB7185"/>
                </a:solidFill>
              </a:rPr>
              <a:t>GET /api/security/{address}</a:t>
            </a:r>
            <a:endParaRPr lang="en-US" sz="520" dirty="0"/>
          </a:p>
        </p:txBody>
      </p:sp>
      <p:sp>
        <p:nvSpPr>
          <p:cNvPr id="95" name="Text 93"/>
          <p:cNvSpPr/>
          <p:nvPr/>
        </p:nvSpPr>
        <p:spPr>
          <a:xfrm>
            <a:off x="2706624" y="4608576"/>
            <a:ext cx="2331720" cy="128016"/>
          </a:xfrm>
          <a:prstGeom prst="rect">
            <a:avLst/>
          </a:prstGeom>
          <a:noFill/>
          <a:ln/>
        </p:spPr>
        <p:txBody>
          <a:bodyPr wrap="square" lIns="0" tIns="0" rIns="0" bIns="0" rtlCol="0" anchor="ctr">
            <a:normAutofit/>
          </a:bodyPr>
          <a:lstStyle/>
          <a:p>
            <a:pPr indent="0" marL="0">
              <a:buNone/>
            </a:pPr>
            <a:r>
              <a:rPr lang="en-US" sz="640" dirty="0">
                <a:solidFill>
                  <a:srgbClr val="94A3B8"/>
                </a:solidFill>
              </a:rPr>
              <a:t>Slither-normalized vulnerability report</a:t>
            </a:r>
            <a:endParaRPr lang="en-US" sz="640" dirty="0"/>
          </a:p>
        </p:txBody>
      </p:sp>
      <p:sp>
        <p:nvSpPr>
          <p:cNvPr id="96" name="Shape 94"/>
          <p:cNvSpPr/>
          <p:nvPr/>
        </p:nvSpPr>
        <p:spPr>
          <a:xfrm>
            <a:off x="868680" y="5074920"/>
            <a:ext cx="4206240" cy="0"/>
          </a:xfrm>
          <a:prstGeom prst="line">
            <a:avLst/>
          </a:prstGeom>
          <a:noFill/>
          <a:ln w="10160">
            <a:solidFill>
              <a:srgbClr val="27324D"/>
            </a:solidFill>
            <a:prstDash val="solid"/>
          </a:ln>
        </p:spPr>
      </p:sp>
      <p:sp>
        <p:nvSpPr>
          <p:cNvPr id="97" name="Text 95"/>
          <p:cNvSpPr/>
          <p:nvPr/>
        </p:nvSpPr>
        <p:spPr>
          <a:xfrm>
            <a:off x="868680" y="5193792"/>
            <a:ext cx="4251960" cy="237744"/>
          </a:xfrm>
          <a:prstGeom prst="rect">
            <a:avLst/>
          </a:prstGeom>
          <a:noFill/>
          <a:ln/>
        </p:spPr>
        <p:txBody>
          <a:bodyPr wrap="square" lIns="0" tIns="0" rIns="0" bIns="0" rtlCol="0" anchor="ctr">
            <a:normAutofit/>
          </a:bodyPr>
          <a:lstStyle/>
          <a:p>
            <a:pPr indent="0" marL="0">
              <a:buNone/>
            </a:pPr>
            <a:r>
              <a:rPr lang="en-US" sz="650" dirty="0">
                <a:solidFill>
                  <a:srgbClr val="22D3EE"/>
                </a:solidFill>
              </a:rPr>
              <a:t>Design trade-off: mock-first schema enables stable frontend integration, while real RPC mode provides production realism when a tracing-enabled node is configured.</a:t>
            </a:r>
            <a:endParaRPr lang="en-US" sz="650" dirty="0"/>
          </a:p>
        </p:txBody>
      </p:sp>
      <p:sp>
        <p:nvSpPr>
          <p:cNvPr id="98" name="Shape 96"/>
          <p:cNvSpPr/>
          <p:nvPr/>
        </p:nvSpPr>
        <p:spPr>
          <a:xfrm>
            <a:off x="5715000" y="3090672"/>
            <a:ext cx="5623560" cy="2176272"/>
          </a:xfrm>
          <a:prstGeom prst="roundRect">
            <a:avLst>
              <a:gd name="adj" fmla="val 5042"/>
            </a:avLst>
          </a:prstGeom>
          <a:solidFill>
            <a:srgbClr val="0A1226">
              <a:alpha val="96000"/>
            </a:srgbClr>
          </a:solidFill>
          <a:ln w="12700">
            <a:solidFill>
              <a:srgbClr val="27324D"/>
            </a:solidFill>
            <a:prstDash val="solid"/>
          </a:ln>
          <a:effectLst>
            <a:outerShdw sx="100000" sy="100000" kx="0" ky="0" algn="bl" rotWithShape="0" blurRad="25400" dist="50800" dir="2700000">
              <a:srgbClr val="000000">
                <a:alpha val="25000"/>
              </a:srgbClr>
            </a:outerShdw>
          </a:effectLst>
        </p:spPr>
      </p:sp>
      <p:sp>
        <p:nvSpPr>
          <p:cNvPr id="99" name="Text 97"/>
          <p:cNvSpPr/>
          <p:nvPr/>
        </p:nvSpPr>
        <p:spPr>
          <a:xfrm>
            <a:off x="5925312" y="3300984"/>
            <a:ext cx="2286000" cy="201168"/>
          </a:xfrm>
          <a:prstGeom prst="rect">
            <a:avLst/>
          </a:prstGeom>
          <a:noFill/>
          <a:ln/>
        </p:spPr>
        <p:txBody>
          <a:bodyPr wrap="square" lIns="0" tIns="0" rIns="0" bIns="0" rtlCol="0" anchor="ctr"/>
          <a:lstStyle/>
          <a:p>
            <a:pPr indent="0" marL="0">
              <a:buNone/>
            </a:pPr>
            <a:r>
              <a:rPr lang="en-US" sz="1200" b="1" dirty="0">
                <a:solidFill>
                  <a:srgbClr val="FFFFFF"/>
                </a:solidFill>
              </a:rPr>
              <a:t>Smart-contract artifacts</a:t>
            </a:r>
            <a:endParaRPr lang="en-US" sz="1200" dirty="0"/>
          </a:p>
        </p:txBody>
      </p:sp>
      <p:sp>
        <p:nvSpPr>
          <p:cNvPr id="100" name="Shape 98"/>
          <p:cNvSpPr/>
          <p:nvPr/>
        </p:nvSpPr>
        <p:spPr>
          <a:xfrm>
            <a:off x="5989320" y="3721608"/>
            <a:ext cx="100584" cy="100584"/>
          </a:xfrm>
          <a:prstGeom prst="ellipse">
            <a:avLst/>
          </a:prstGeom>
          <a:solidFill>
            <a:srgbClr val="FB7185"/>
          </a:solidFill>
          <a:ln w="12700">
            <a:solidFill>
              <a:srgbClr val="FB7185"/>
            </a:solidFill>
            <a:prstDash val="solid"/>
          </a:ln>
        </p:spPr>
      </p:sp>
      <p:sp>
        <p:nvSpPr>
          <p:cNvPr id="101" name="Text 99"/>
          <p:cNvSpPr/>
          <p:nvPr/>
        </p:nvSpPr>
        <p:spPr>
          <a:xfrm>
            <a:off x="6172200" y="3675888"/>
            <a:ext cx="1389888" cy="118872"/>
          </a:xfrm>
          <a:prstGeom prst="rect">
            <a:avLst/>
          </a:prstGeom>
          <a:noFill/>
          <a:ln/>
        </p:spPr>
        <p:txBody>
          <a:bodyPr wrap="square" lIns="0" tIns="0" rIns="0" bIns="0" rtlCol="0" anchor="ctr">
            <a:normAutofit/>
          </a:bodyPr>
          <a:lstStyle/>
          <a:p>
            <a:pPr indent="0" marL="0">
              <a:buNone/>
            </a:pPr>
            <a:r>
              <a:rPr lang="en-US" sz="590" b="1" dirty="0">
                <a:solidFill>
                  <a:srgbClr val="E5E7EB"/>
                </a:solidFill>
              </a:rPr>
              <a:t>VulnerableVault.sol</a:t>
            </a:r>
            <a:endParaRPr lang="en-US" sz="590" dirty="0"/>
          </a:p>
        </p:txBody>
      </p:sp>
      <p:sp>
        <p:nvSpPr>
          <p:cNvPr id="102" name="Text 100"/>
          <p:cNvSpPr/>
          <p:nvPr/>
        </p:nvSpPr>
        <p:spPr>
          <a:xfrm>
            <a:off x="7607808" y="3675888"/>
            <a:ext cx="1554480" cy="118872"/>
          </a:xfrm>
          <a:prstGeom prst="rect">
            <a:avLst/>
          </a:prstGeom>
          <a:noFill/>
          <a:ln/>
        </p:spPr>
        <p:txBody>
          <a:bodyPr wrap="square" lIns="0" tIns="0" rIns="0" bIns="0" rtlCol="0" anchor="ctr">
            <a:normAutofit/>
          </a:bodyPr>
          <a:lstStyle/>
          <a:p>
            <a:pPr indent="0" marL="0">
              <a:buNone/>
            </a:pPr>
            <a:r>
              <a:rPr lang="en-US" sz="550" dirty="0">
                <a:solidFill>
                  <a:srgbClr val="94A3B8"/>
                </a:solidFill>
              </a:rPr>
              <a:t>reentrancy fixture</a:t>
            </a:r>
            <a:endParaRPr lang="en-US" sz="550" dirty="0"/>
          </a:p>
        </p:txBody>
      </p:sp>
      <p:sp>
        <p:nvSpPr>
          <p:cNvPr id="103" name="Text 101"/>
          <p:cNvSpPr/>
          <p:nvPr/>
        </p:nvSpPr>
        <p:spPr>
          <a:xfrm>
            <a:off x="9262872" y="3675888"/>
            <a:ext cx="1508760" cy="118872"/>
          </a:xfrm>
          <a:prstGeom prst="rect">
            <a:avLst/>
          </a:prstGeom>
          <a:noFill/>
          <a:ln/>
        </p:spPr>
        <p:txBody>
          <a:bodyPr wrap="square" lIns="0" tIns="0" rIns="0" bIns="0" rtlCol="0" anchor="ctr">
            <a:normAutofit/>
          </a:bodyPr>
          <a:lstStyle/>
          <a:p>
            <a:pPr indent="0" marL="0">
              <a:buNone/>
            </a:pPr>
            <a:r>
              <a:rPr lang="en-US" sz="540" dirty="0">
                <a:solidFill>
                  <a:srgbClr val="64748B"/>
                </a:solidFill>
              </a:rPr>
              <a:t>0x7a250d...2488d</a:t>
            </a:r>
            <a:endParaRPr lang="en-US" sz="540" dirty="0"/>
          </a:p>
        </p:txBody>
      </p:sp>
      <p:sp>
        <p:nvSpPr>
          <p:cNvPr id="104" name="Shape 102"/>
          <p:cNvSpPr/>
          <p:nvPr/>
        </p:nvSpPr>
        <p:spPr>
          <a:xfrm>
            <a:off x="5989320" y="4069080"/>
            <a:ext cx="100584" cy="100584"/>
          </a:xfrm>
          <a:prstGeom prst="ellipse">
            <a:avLst/>
          </a:prstGeom>
          <a:solidFill>
            <a:srgbClr val="FBBF24"/>
          </a:solidFill>
          <a:ln w="12700">
            <a:solidFill>
              <a:srgbClr val="FBBF24"/>
            </a:solidFill>
            <a:prstDash val="solid"/>
          </a:ln>
        </p:spPr>
      </p:sp>
      <p:sp>
        <p:nvSpPr>
          <p:cNvPr id="105" name="Text 103"/>
          <p:cNvSpPr/>
          <p:nvPr/>
        </p:nvSpPr>
        <p:spPr>
          <a:xfrm>
            <a:off x="6172200" y="4023360"/>
            <a:ext cx="1389888" cy="118872"/>
          </a:xfrm>
          <a:prstGeom prst="rect">
            <a:avLst/>
          </a:prstGeom>
          <a:noFill/>
          <a:ln/>
        </p:spPr>
        <p:txBody>
          <a:bodyPr wrap="square" lIns="0" tIns="0" rIns="0" bIns="0" rtlCol="0" anchor="ctr">
            <a:normAutofit/>
          </a:bodyPr>
          <a:lstStyle/>
          <a:p>
            <a:pPr indent="0" marL="0">
              <a:buNone/>
            </a:pPr>
            <a:r>
              <a:rPr lang="en-US" sz="590" b="1" dirty="0">
                <a:solidFill>
                  <a:srgbClr val="E5E7EB"/>
                </a:solidFill>
              </a:rPr>
              <a:t>AccessControlBug.sol</a:t>
            </a:r>
            <a:endParaRPr lang="en-US" sz="590" dirty="0"/>
          </a:p>
        </p:txBody>
      </p:sp>
      <p:sp>
        <p:nvSpPr>
          <p:cNvPr id="106" name="Text 104"/>
          <p:cNvSpPr/>
          <p:nvPr/>
        </p:nvSpPr>
        <p:spPr>
          <a:xfrm>
            <a:off x="7607808" y="4023360"/>
            <a:ext cx="1554480" cy="118872"/>
          </a:xfrm>
          <a:prstGeom prst="rect">
            <a:avLst/>
          </a:prstGeom>
          <a:noFill/>
          <a:ln/>
        </p:spPr>
        <p:txBody>
          <a:bodyPr wrap="square" lIns="0" tIns="0" rIns="0" bIns="0" rtlCol="0" anchor="ctr">
            <a:normAutofit/>
          </a:bodyPr>
          <a:lstStyle/>
          <a:p>
            <a:pPr indent="0" marL="0">
              <a:buNone/>
            </a:pPr>
            <a:r>
              <a:rPr lang="en-US" sz="550" dirty="0">
                <a:solidFill>
                  <a:srgbClr val="94A3B8"/>
                </a:solidFill>
              </a:rPr>
              <a:t>tx.origin / drain patterns</a:t>
            </a:r>
            <a:endParaRPr lang="en-US" sz="550" dirty="0"/>
          </a:p>
        </p:txBody>
      </p:sp>
      <p:sp>
        <p:nvSpPr>
          <p:cNvPr id="107" name="Text 105"/>
          <p:cNvSpPr/>
          <p:nvPr/>
        </p:nvSpPr>
        <p:spPr>
          <a:xfrm>
            <a:off x="9262872" y="4023360"/>
            <a:ext cx="1508760" cy="118872"/>
          </a:xfrm>
          <a:prstGeom prst="rect">
            <a:avLst/>
          </a:prstGeom>
          <a:noFill/>
          <a:ln/>
        </p:spPr>
        <p:txBody>
          <a:bodyPr wrap="square" lIns="0" tIns="0" rIns="0" bIns="0" rtlCol="0" anchor="ctr">
            <a:normAutofit/>
          </a:bodyPr>
          <a:lstStyle/>
          <a:p>
            <a:pPr indent="0" marL="0">
              <a:buNone/>
            </a:pPr>
            <a:r>
              <a:rPr lang="en-US" sz="540" dirty="0">
                <a:solidFill>
                  <a:srgbClr val="64748B"/>
                </a:solidFill>
              </a:rPr>
              <a:t>0x1111...1111</a:t>
            </a:r>
            <a:endParaRPr lang="en-US" sz="540" dirty="0"/>
          </a:p>
        </p:txBody>
      </p:sp>
      <p:sp>
        <p:nvSpPr>
          <p:cNvPr id="108" name="Shape 106"/>
          <p:cNvSpPr/>
          <p:nvPr/>
        </p:nvSpPr>
        <p:spPr>
          <a:xfrm>
            <a:off x="5989320" y="4416552"/>
            <a:ext cx="100584" cy="100584"/>
          </a:xfrm>
          <a:prstGeom prst="ellipse">
            <a:avLst/>
          </a:prstGeom>
          <a:solidFill>
            <a:srgbClr val="A78BFA"/>
          </a:solidFill>
          <a:ln w="12700">
            <a:solidFill>
              <a:srgbClr val="A78BFA"/>
            </a:solidFill>
            <a:prstDash val="solid"/>
          </a:ln>
        </p:spPr>
      </p:sp>
      <p:sp>
        <p:nvSpPr>
          <p:cNvPr id="109" name="Text 107"/>
          <p:cNvSpPr/>
          <p:nvPr/>
        </p:nvSpPr>
        <p:spPr>
          <a:xfrm>
            <a:off x="6172200" y="4370832"/>
            <a:ext cx="1389888" cy="118872"/>
          </a:xfrm>
          <a:prstGeom prst="rect">
            <a:avLst/>
          </a:prstGeom>
          <a:noFill/>
          <a:ln/>
        </p:spPr>
        <p:txBody>
          <a:bodyPr wrap="square" lIns="0" tIns="0" rIns="0" bIns="0" rtlCol="0" anchor="ctr">
            <a:normAutofit/>
          </a:bodyPr>
          <a:lstStyle/>
          <a:p>
            <a:pPr indent="0" marL="0">
              <a:buNone/>
            </a:pPr>
            <a:r>
              <a:rPr lang="en-US" sz="590" b="1" dirty="0">
                <a:solidFill>
                  <a:srgbClr val="E5E7EB"/>
                </a:solidFill>
              </a:rPr>
              <a:t>UncheckedCall.sol</a:t>
            </a:r>
            <a:endParaRPr lang="en-US" sz="590" dirty="0"/>
          </a:p>
        </p:txBody>
      </p:sp>
      <p:sp>
        <p:nvSpPr>
          <p:cNvPr id="110" name="Text 108"/>
          <p:cNvSpPr/>
          <p:nvPr/>
        </p:nvSpPr>
        <p:spPr>
          <a:xfrm>
            <a:off x="7607808" y="4370832"/>
            <a:ext cx="1554480" cy="118872"/>
          </a:xfrm>
          <a:prstGeom prst="rect">
            <a:avLst/>
          </a:prstGeom>
          <a:noFill/>
          <a:ln/>
        </p:spPr>
        <p:txBody>
          <a:bodyPr wrap="square" lIns="0" tIns="0" rIns="0" bIns="0" rtlCol="0" anchor="ctr">
            <a:normAutofit/>
          </a:bodyPr>
          <a:lstStyle/>
          <a:p>
            <a:pPr indent="0" marL="0">
              <a:buNone/>
            </a:pPr>
            <a:r>
              <a:rPr lang="en-US" sz="550" dirty="0">
                <a:solidFill>
                  <a:srgbClr val="94A3B8"/>
                </a:solidFill>
              </a:rPr>
              <a:t>unchecked low-level calls</a:t>
            </a:r>
            <a:endParaRPr lang="en-US" sz="550" dirty="0"/>
          </a:p>
        </p:txBody>
      </p:sp>
      <p:sp>
        <p:nvSpPr>
          <p:cNvPr id="111" name="Text 109"/>
          <p:cNvSpPr/>
          <p:nvPr/>
        </p:nvSpPr>
        <p:spPr>
          <a:xfrm>
            <a:off x="9262872" y="4370832"/>
            <a:ext cx="1508760" cy="118872"/>
          </a:xfrm>
          <a:prstGeom prst="rect">
            <a:avLst/>
          </a:prstGeom>
          <a:noFill/>
          <a:ln/>
        </p:spPr>
        <p:txBody>
          <a:bodyPr wrap="square" lIns="0" tIns="0" rIns="0" bIns="0" rtlCol="0" anchor="ctr">
            <a:normAutofit/>
          </a:bodyPr>
          <a:lstStyle/>
          <a:p>
            <a:pPr indent="0" marL="0">
              <a:buNone/>
            </a:pPr>
            <a:r>
              <a:rPr lang="en-US" sz="540" dirty="0">
                <a:solidFill>
                  <a:srgbClr val="64748B"/>
                </a:solidFill>
              </a:rPr>
              <a:t>0x2222...2222</a:t>
            </a:r>
            <a:endParaRPr lang="en-US" sz="540" dirty="0"/>
          </a:p>
        </p:txBody>
      </p:sp>
      <p:sp>
        <p:nvSpPr>
          <p:cNvPr id="112" name="Shape 110"/>
          <p:cNvSpPr/>
          <p:nvPr/>
        </p:nvSpPr>
        <p:spPr>
          <a:xfrm>
            <a:off x="5989320" y="4764024"/>
            <a:ext cx="100584" cy="100584"/>
          </a:xfrm>
          <a:prstGeom prst="ellipse">
            <a:avLst/>
          </a:prstGeom>
          <a:solidFill>
            <a:srgbClr val="60A5FA"/>
          </a:solidFill>
          <a:ln w="12700">
            <a:solidFill>
              <a:srgbClr val="60A5FA"/>
            </a:solidFill>
            <a:prstDash val="solid"/>
          </a:ln>
        </p:spPr>
      </p:sp>
      <p:sp>
        <p:nvSpPr>
          <p:cNvPr id="113" name="Text 111"/>
          <p:cNvSpPr/>
          <p:nvPr/>
        </p:nvSpPr>
        <p:spPr>
          <a:xfrm>
            <a:off x="6172200" y="4718304"/>
            <a:ext cx="1389888" cy="118872"/>
          </a:xfrm>
          <a:prstGeom prst="rect">
            <a:avLst/>
          </a:prstGeom>
          <a:noFill/>
          <a:ln/>
        </p:spPr>
        <p:txBody>
          <a:bodyPr wrap="square" lIns="0" tIns="0" rIns="0" bIns="0" rtlCol="0" anchor="ctr">
            <a:normAutofit/>
          </a:bodyPr>
          <a:lstStyle/>
          <a:p>
            <a:pPr indent="0" marL="0">
              <a:buNone/>
            </a:pPr>
            <a:r>
              <a:rPr lang="en-US" sz="590" b="1" dirty="0">
                <a:solidFill>
                  <a:srgbClr val="E5E7EB"/>
                </a:solidFill>
              </a:rPr>
              <a:t>OverflowToken.sol</a:t>
            </a:r>
            <a:endParaRPr lang="en-US" sz="590" dirty="0"/>
          </a:p>
        </p:txBody>
      </p:sp>
      <p:sp>
        <p:nvSpPr>
          <p:cNvPr id="114" name="Text 112"/>
          <p:cNvSpPr/>
          <p:nvPr/>
        </p:nvSpPr>
        <p:spPr>
          <a:xfrm>
            <a:off x="7607808" y="4718304"/>
            <a:ext cx="1554480" cy="118872"/>
          </a:xfrm>
          <a:prstGeom prst="rect">
            <a:avLst/>
          </a:prstGeom>
          <a:noFill/>
          <a:ln/>
        </p:spPr>
        <p:txBody>
          <a:bodyPr wrap="square" lIns="0" tIns="0" rIns="0" bIns="0" rtlCol="0" anchor="ctr">
            <a:normAutofit/>
          </a:bodyPr>
          <a:lstStyle/>
          <a:p>
            <a:pPr indent="0" marL="0">
              <a:buNone/>
            </a:pPr>
            <a:r>
              <a:rPr lang="en-US" sz="550" dirty="0">
                <a:solidFill>
                  <a:srgbClr val="94A3B8"/>
                </a:solidFill>
              </a:rPr>
              <a:t>pre-0.8 arithmetic edge case</a:t>
            </a:r>
            <a:endParaRPr lang="en-US" sz="550" dirty="0"/>
          </a:p>
        </p:txBody>
      </p:sp>
      <p:sp>
        <p:nvSpPr>
          <p:cNvPr id="115" name="Text 113"/>
          <p:cNvSpPr/>
          <p:nvPr/>
        </p:nvSpPr>
        <p:spPr>
          <a:xfrm>
            <a:off x="9262872" y="4718304"/>
            <a:ext cx="1508760" cy="118872"/>
          </a:xfrm>
          <a:prstGeom prst="rect">
            <a:avLst/>
          </a:prstGeom>
          <a:noFill/>
          <a:ln/>
        </p:spPr>
        <p:txBody>
          <a:bodyPr wrap="square" lIns="0" tIns="0" rIns="0" bIns="0" rtlCol="0" anchor="ctr">
            <a:normAutofit/>
          </a:bodyPr>
          <a:lstStyle/>
          <a:p>
            <a:pPr indent="0" marL="0">
              <a:buNone/>
            </a:pPr>
            <a:r>
              <a:rPr lang="en-US" sz="540" dirty="0">
                <a:solidFill>
                  <a:srgbClr val="64748B"/>
                </a:solidFill>
              </a:rPr>
              <a:t>0x3333...3333</a:t>
            </a:r>
            <a:endParaRPr lang="en-US" sz="540" dirty="0"/>
          </a:p>
        </p:txBody>
      </p:sp>
      <p:sp>
        <p:nvSpPr>
          <p:cNvPr id="116" name="Text 114"/>
          <p:cNvSpPr/>
          <p:nvPr/>
        </p:nvSpPr>
        <p:spPr>
          <a:xfrm>
            <a:off x="5989320" y="5166360"/>
            <a:ext cx="5120640" cy="256032"/>
          </a:xfrm>
          <a:prstGeom prst="rect">
            <a:avLst/>
          </a:prstGeom>
          <a:noFill/>
          <a:ln/>
        </p:spPr>
        <p:txBody>
          <a:bodyPr wrap="square" lIns="0" tIns="0" rIns="0" bIns="0" rtlCol="0" anchor="ctr">
            <a:normAutofit/>
          </a:bodyPr>
          <a:lstStyle/>
          <a:p>
            <a:pPr indent="0" marL="0">
              <a:buNone/>
            </a:pPr>
            <a:r>
              <a:rPr lang="en-US" sz="650" dirty="0">
                <a:solidFill>
                  <a:srgbClr val="22D3EE"/>
                </a:solidFill>
              </a:rPr>
              <a:t>Note: this is an analyzer tool, not a deployed protocol. Demo contracts are local Solidity fixtures mapped to sample addresses for scanning.</a:t>
            </a:r>
            <a:endParaRPr lang="en-US" sz="650" dirty="0"/>
          </a:p>
        </p:txBody>
      </p:sp>
      <p:sp>
        <p:nvSpPr>
          <p:cNvPr id="117" name="Shape 115"/>
          <p:cNvSpPr/>
          <p:nvPr/>
        </p:nvSpPr>
        <p:spPr>
          <a:xfrm>
            <a:off x="502920" y="6263640"/>
            <a:ext cx="1828800" cy="292608"/>
          </a:xfrm>
          <a:prstGeom prst="roundRect">
            <a:avLst>
              <a:gd name="adj" fmla="val 25000"/>
            </a:avLst>
          </a:prstGeom>
          <a:solidFill>
            <a:srgbClr val="60A5FA">
              <a:alpha val="16000"/>
            </a:srgbClr>
          </a:solidFill>
          <a:ln w="12700">
            <a:solidFill>
              <a:srgbClr val="60A5FA">
                <a:alpha val="65000"/>
              </a:srgbClr>
            </a:solidFill>
            <a:prstDash val="solid"/>
          </a:ln>
        </p:spPr>
      </p:sp>
      <p:sp>
        <p:nvSpPr>
          <p:cNvPr id="118" name="Text 116"/>
          <p:cNvSpPr/>
          <p:nvPr/>
        </p:nvSpPr>
        <p:spPr>
          <a:xfrm>
            <a:off x="612648" y="6336792"/>
            <a:ext cx="1609344" cy="146304"/>
          </a:xfrm>
          <a:prstGeom prst="rect">
            <a:avLst/>
          </a:prstGeom>
          <a:noFill/>
          <a:ln/>
        </p:spPr>
        <p:txBody>
          <a:bodyPr wrap="square" lIns="0" tIns="0" rIns="0" bIns="0" rtlCol="0" anchor="ctr">
            <a:normAutofit/>
          </a:bodyPr>
          <a:lstStyle/>
          <a:p>
            <a:pPr indent="0" marL="0">
              <a:buNone/>
            </a:pPr>
            <a:r>
              <a:rPr lang="en-US" sz="650" b="1" dirty="0">
                <a:solidFill>
                  <a:srgbClr val="60A5FA"/>
                </a:solidFill>
              </a:rPr>
              <a:t>ARCHITECTURE</a:t>
            </a:r>
            <a:endParaRPr lang="en-US" sz="650" dirty="0"/>
          </a:p>
        </p:txBody>
      </p:sp>
      <p:sp>
        <p:nvSpPr>
          <p:cNvPr id="119" name="Text 117"/>
          <p:cNvSpPr/>
          <p:nvPr/>
        </p:nvSpPr>
        <p:spPr>
          <a:xfrm>
            <a:off x="2743200" y="6345936"/>
            <a:ext cx="5029200" cy="109728"/>
          </a:xfrm>
          <a:prstGeom prst="rect">
            <a:avLst/>
          </a:prstGeom>
          <a:noFill/>
          <a:ln/>
        </p:spPr>
        <p:txBody>
          <a:bodyPr wrap="square" lIns="0" tIns="0" rIns="0" bIns="0" rtlCol="0" anchor="ctr"/>
          <a:lstStyle/>
          <a:p>
            <a:pPr indent="0" marL="0">
              <a:buNone/>
            </a:pPr>
            <a:r>
              <a:rPr lang="en-US" sz="550" dirty="0">
                <a:solidFill>
                  <a:srgbClr val="64748B"/>
                </a:solidFill>
              </a:rPr>
              <a:t>SC6107 • Blockchain Development Fundamentals</a:t>
            </a:r>
            <a:endParaRPr lang="en-US" sz="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A78BFA">
              <a:alpha val="14000"/>
            </a:srgbClr>
          </a:solidFill>
          <a:ln w="12700">
            <a:solidFill>
              <a:srgbClr val="A78BFA">
                <a:alpha val="0"/>
              </a:srgbClr>
            </a:solidFill>
            <a:prstDash val="solid"/>
          </a:ln>
        </p:spPr>
      </p:sp>
      <p:sp>
        <p:nvSpPr>
          <p:cNvPr id="4" name="Shape 2"/>
          <p:cNvSpPr/>
          <p:nvPr/>
        </p:nvSpPr>
        <p:spPr>
          <a:xfrm>
            <a:off x="8686800" y="4206240"/>
            <a:ext cx="4663440" cy="4663440"/>
          </a:xfrm>
          <a:prstGeom prst="ellipse">
            <a:avLst/>
          </a:prstGeom>
          <a:solidFill>
            <a:srgbClr val="A78BFA">
              <a:alpha val="12000"/>
            </a:srgbClr>
          </a:solidFill>
          <a:ln w="12700">
            <a:solidFill>
              <a:srgbClr val="A78BFA">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Text 56"/>
          <p:cNvSpPr/>
          <p:nvPr/>
        </p:nvSpPr>
        <p:spPr>
          <a:xfrm>
            <a:off x="502920" y="320040"/>
            <a:ext cx="7589520" cy="320040"/>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3. Live Demonstration</a:t>
            </a:r>
            <a:endParaRPr lang="en-US" sz="1900" dirty="0"/>
          </a:p>
        </p:txBody>
      </p:sp>
      <p:sp>
        <p:nvSpPr>
          <p:cNvPr id="59" name="Text 57"/>
          <p:cNvSpPr/>
          <p:nvPr/>
        </p:nvSpPr>
        <p:spPr>
          <a:xfrm>
            <a:off x="521208" y="685800"/>
            <a:ext cx="7772400" cy="219456"/>
          </a:xfrm>
          <a:prstGeom prst="rect">
            <a:avLst/>
          </a:prstGeom>
          <a:noFill/>
          <a:ln/>
        </p:spPr>
        <p:txBody>
          <a:bodyPr wrap="square" lIns="0" tIns="0" rIns="0" bIns="0" rtlCol="0" anchor="ctr"/>
          <a:lstStyle/>
          <a:p>
            <a:pPr indent="0" marL="0">
              <a:buNone/>
            </a:pPr>
            <a:r>
              <a:rPr lang="en-US" sz="780" dirty="0">
                <a:solidFill>
                  <a:srgbClr val="94A3B8"/>
                </a:solidFill>
              </a:rPr>
              <a:t>Core functionality walkthrough • user flow • sample transaction</a:t>
            </a:r>
            <a:endParaRPr lang="en-US" sz="780" dirty="0"/>
          </a:p>
        </p:txBody>
      </p:sp>
      <p:sp>
        <p:nvSpPr>
          <p:cNvPr id="60" name="Text 58"/>
          <p:cNvSpPr/>
          <p:nvPr/>
        </p:nvSpPr>
        <p:spPr>
          <a:xfrm>
            <a:off x="9994392" y="320040"/>
            <a:ext cx="1691640" cy="237744"/>
          </a:xfrm>
          <a:prstGeom prst="rect">
            <a:avLst/>
          </a:prstGeom>
          <a:noFill/>
          <a:ln/>
        </p:spPr>
        <p:txBody>
          <a:bodyPr wrap="square" lIns="0" tIns="0" rIns="0" bIns="0" rtlCol="0" anchor="ctr"/>
          <a:lstStyle/>
          <a:p>
            <a:pPr algn="r" indent="0" marL="0">
              <a:buNone/>
            </a:pPr>
            <a:r>
              <a:rPr lang="en-US" sz="850" b="1" dirty="0">
                <a:solidFill>
                  <a:srgbClr val="22D3EE"/>
                </a:solidFill>
              </a:rPr>
              <a:t>~1 min</a:t>
            </a:r>
            <a:endParaRPr lang="en-US" sz="850" dirty="0"/>
          </a:p>
        </p:txBody>
      </p:sp>
      <p:sp>
        <p:nvSpPr>
          <p:cNvPr id="61" name="Shape 59"/>
          <p:cNvSpPr/>
          <p:nvPr/>
        </p:nvSpPr>
        <p:spPr>
          <a:xfrm>
            <a:off x="685800" y="1143000"/>
            <a:ext cx="6720840" cy="4526280"/>
          </a:xfrm>
          <a:prstGeom prst="roundRect">
            <a:avLst>
              <a:gd name="adj" fmla="val 2424"/>
            </a:avLst>
          </a:prstGeom>
          <a:solidFill>
            <a:srgbClr val="090F1F">
              <a:alpha val="96000"/>
            </a:srgbClr>
          </a:solidFill>
          <a:ln w="12700">
            <a:solidFill>
              <a:srgbClr val="27324D"/>
            </a:solidFill>
            <a:prstDash val="solid"/>
          </a:ln>
          <a:effectLst>
            <a:outerShdw sx="100000" sy="100000" kx="0" ky="0" algn="bl" rotWithShape="0" blurRad="25400" dist="50800" dir="2700000">
              <a:srgbClr val="000000">
                <a:alpha val="25000"/>
              </a:srgbClr>
            </a:outerShdw>
          </a:effectLst>
        </p:spPr>
      </p:sp>
      <p:sp>
        <p:nvSpPr>
          <p:cNvPr id="62" name="Shape 60"/>
          <p:cNvSpPr/>
          <p:nvPr/>
        </p:nvSpPr>
        <p:spPr>
          <a:xfrm>
            <a:off x="685800" y="1143000"/>
            <a:ext cx="6720840" cy="393192"/>
          </a:xfrm>
          <a:prstGeom prst="rect">
            <a:avLst/>
          </a:prstGeom>
          <a:solidFill>
            <a:srgbClr val="0E1729"/>
          </a:solidFill>
          <a:ln w="12700">
            <a:solidFill>
              <a:srgbClr val="0E1729"/>
            </a:solidFill>
            <a:prstDash val="solid"/>
          </a:ln>
        </p:spPr>
      </p:sp>
      <p:sp>
        <p:nvSpPr>
          <p:cNvPr id="63" name="Shape 61"/>
          <p:cNvSpPr/>
          <p:nvPr/>
        </p:nvSpPr>
        <p:spPr>
          <a:xfrm>
            <a:off x="896112" y="1271016"/>
            <a:ext cx="91440" cy="91440"/>
          </a:xfrm>
          <a:prstGeom prst="ellipse">
            <a:avLst/>
          </a:prstGeom>
          <a:solidFill>
            <a:srgbClr val="FB7185"/>
          </a:solidFill>
          <a:ln w="12700">
            <a:solidFill>
              <a:srgbClr val="FB7185"/>
            </a:solidFill>
            <a:prstDash val="solid"/>
          </a:ln>
        </p:spPr>
      </p:sp>
      <p:sp>
        <p:nvSpPr>
          <p:cNvPr id="64" name="Shape 62"/>
          <p:cNvSpPr/>
          <p:nvPr/>
        </p:nvSpPr>
        <p:spPr>
          <a:xfrm>
            <a:off x="1115568" y="1271016"/>
            <a:ext cx="91440" cy="91440"/>
          </a:xfrm>
          <a:prstGeom prst="ellipse">
            <a:avLst/>
          </a:prstGeom>
          <a:solidFill>
            <a:srgbClr val="FBBF24"/>
          </a:solidFill>
          <a:ln w="12700">
            <a:solidFill>
              <a:srgbClr val="FBBF24"/>
            </a:solidFill>
            <a:prstDash val="solid"/>
          </a:ln>
        </p:spPr>
      </p:sp>
      <p:sp>
        <p:nvSpPr>
          <p:cNvPr id="65" name="Shape 63"/>
          <p:cNvSpPr/>
          <p:nvPr/>
        </p:nvSpPr>
        <p:spPr>
          <a:xfrm>
            <a:off x="1335024" y="1271016"/>
            <a:ext cx="91440" cy="91440"/>
          </a:xfrm>
          <a:prstGeom prst="ellipse">
            <a:avLst/>
          </a:prstGeom>
          <a:solidFill>
            <a:srgbClr val="34D399"/>
          </a:solidFill>
          <a:ln w="12700">
            <a:solidFill>
              <a:srgbClr val="34D399"/>
            </a:solidFill>
            <a:prstDash val="solid"/>
          </a:ln>
        </p:spPr>
      </p:sp>
      <p:sp>
        <p:nvSpPr>
          <p:cNvPr id="66" name="Text 64"/>
          <p:cNvSpPr/>
          <p:nvPr/>
        </p:nvSpPr>
        <p:spPr>
          <a:xfrm>
            <a:off x="1600200" y="1252728"/>
            <a:ext cx="3840480" cy="118872"/>
          </a:xfrm>
          <a:prstGeom prst="rect">
            <a:avLst/>
          </a:prstGeom>
          <a:noFill/>
          <a:ln/>
        </p:spPr>
        <p:txBody>
          <a:bodyPr wrap="square" lIns="0" tIns="0" rIns="0" bIns="0" rtlCol="0" anchor="ctr"/>
          <a:lstStyle/>
          <a:p>
            <a:pPr indent="0" marL="0">
              <a:buNone/>
            </a:pPr>
            <a:r>
              <a:rPr lang="en-US" sz="640" dirty="0">
                <a:solidFill>
                  <a:srgbClr val="64748B"/>
                </a:solidFill>
              </a:rPr>
              <a:t>localhost:3000  •  EVM Analyzer Dashboard</a:t>
            </a:r>
            <a:endParaRPr lang="en-US" sz="640" dirty="0"/>
          </a:p>
        </p:txBody>
      </p:sp>
      <p:sp>
        <p:nvSpPr>
          <p:cNvPr id="67" name="Shape 65"/>
          <p:cNvSpPr/>
          <p:nvPr/>
        </p:nvSpPr>
        <p:spPr>
          <a:xfrm>
            <a:off x="914400" y="1755648"/>
            <a:ext cx="6263640" cy="493776"/>
          </a:xfrm>
          <a:prstGeom prst="roundRect">
            <a:avLst>
              <a:gd name="adj" fmla="val 22222"/>
            </a:avLst>
          </a:prstGeom>
          <a:solidFill>
            <a:srgbClr val="0B1224">
              <a:alpha val="96000"/>
            </a:srgbClr>
          </a:solidFill>
          <a:ln w="12700">
            <a:solidFill>
              <a:srgbClr val="60A5FA">
                <a:alpha val="60000"/>
              </a:srgbClr>
            </a:solidFill>
            <a:prstDash val="solid"/>
          </a:ln>
        </p:spPr>
      </p:sp>
      <p:sp>
        <p:nvSpPr>
          <p:cNvPr id="68" name="Text 66"/>
          <p:cNvSpPr/>
          <p:nvPr/>
        </p:nvSpPr>
        <p:spPr>
          <a:xfrm>
            <a:off x="1078992" y="1892808"/>
            <a:ext cx="594360" cy="109728"/>
          </a:xfrm>
          <a:prstGeom prst="rect">
            <a:avLst/>
          </a:prstGeom>
          <a:noFill/>
          <a:ln/>
        </p:spPr>
        <p:txBody>
          <a:bodyPr wrap="square" lIns="0" tIns="0" rIns="0" bIns="0" rtlCol="0" anchor="ctr"/>
          <a:lstStyle/>
          <a:p>
            <a:pPr indent="0" marL="0">
              <a:buNone/>
            </a:pPr>
            <a:r>
              <a:rPr lang="en-US" sz="580" b="1" dirty="0">
                <a:solidFill>
                  <a:srgbClr val="64748B"/>
                </a:solidFill>
              </a:rPr>
              <a:t>Tx Hash</a:t>
            </a:r>
            <a:endParaRPr lang="en-US" sz="580" dirty="0"/>
          </a:p>
        </p:txBody>
      </p:sp>
      <p:sp>
        <p:nvSpPr>
          <p:cNvPr id="69" name="Text 67"/>
          <p:cNvSpPr/>
          <p:nvPr/>
        </p:nvSpPr>
        <p:spPr>
          <a:xfrm>
            <a:off x="1737360" y="1874520"/>
            <a:ext cx="3291840" cy="128016"/>
          </a:xfrm>
          <a:prstGeom prst="rect">
            <a:avLst/>
          </a:prstGeom>
          <a:noFill/>
          <a:ln/>
        </p:spPr>
        <p:txBody>
          <a:bodyPr wrap="square" lIns="0" tIns="0" rIns="0" bIns="0" rtlCol="0" anchor="ctr"/>
          <a:lstStyle/>
          <a:p>
            <a:pPr indent="0" marL="0">
              <a:buNone/>
            </a:pPr>
            <a:r>
              <a:rPr lang="en-US" sz="700" dirty="0">
                <a:solidFill>
                  <a:srgbClr val="E5E7EB"/>
                </a:solidFill>
                <a:latin typeface="Cascadia Code" pitchFamily="34" charset="0"/>
                <a:ea typeface="Cascadia Code" pitchFamily="34" charset="-122"/>
                <a:cs typeface="Cascadia Code" pitchFamily="34" charset="-120"/>
              </a:rPr>
              <a:t>0x5c504ed4...1b22026</a:t>
            </a:r>
            <a:endParaRPr lang="en-US" sz="700" dirty="0"/>
          </a:p>
        </p:txBody>
      </p:sp>
      <p:sp>
        <p:nvSpPr>
          <p:cNvPr id="70" name="Shape 68"/>
          <p:cNvSpPr/>
          <p:nvPr/>
        </p:nvSpPr>
        <p:spPr>
          <a:xfrm>
            <a:off x="6016752" y="1837944"/>
            <a:ext cx="786384" cy="256032"/>
          </a:xfrm>
          <a:prstGeom prst="roundRect">
            <a:avLst>
              <a:gd name="adj" fmla="val 14286"/>
            </a:avLst>
          </a:prstGeom>
          <a:solidFill>
            <a:srgbClr val="22D3EE">
              <a:alpha val="90000"/>
            </a:srgbClr>
          </a:solidFill>
          <a:ln w="12700">
            <a:solidFill>
              <a:srgbClr val="22D3EE"/>
            </a:solidFill>
            <a:prstDash val="solid"/>
          </a:ln>
        </p:spPr>
      </p:sp>
      <p:sp>
        <p:nvSpPr>
          <p:cNvPr id="71" name="Text 69"/>
          <p:cNvSpPr/>
          <p:nvPr/>
        </p:nvSpPr>
        <p:spPr>
          <a:xfrm>
            <a:off x="6144768" y="1911096"/>
            <a:ext cx="502920" cy="91440"/>
          </a:xfrm>
          <a:prstGeom prst="rect">
            <a:avLst/>
          </a:prstGeom>
          <a:noFill/>
          <a:ln/>
        </p:spPr>
        <p:txBody>
          <a:bodyPr wrap="square" lIns="0" tIns="0" rIns="0" bIns="0" rtlCol="0" anchor="ctr"/>
          <a:lstStyle/>
          <a:p>
            <a:pPr algn="ctr" indent="0" marL="0">
              <a:buNone/>
            </a:pPr>
            <a:r>
              <a:rPr lang="en-US" sz="540" b="1" dirty="0">
                <a:solidFill>
                  <a:srgbClr val="070A13"/>
                </a:solidFill>
              </a:rPr>
              <a:t>Analyze</a:t>
            </a:r>
            <a:endParaRPr lang="en-US" sz="540" dirty="0"/>
          </a:p>
        </p:txBody>
      </p:sp>
      <p:sp>
        <p:nvSpPr>
          <p:cNvPr id="72" name="Shape 70"/>
          <p:cNvSpPr/>
          <p:nvPr/>
        </p:nvSpPr>
        <p:spPr>
          <a:xfrm>
            <a:off x="914400" y="2514600"/>
            <a:ext cx="1024128" cy="292608"/>
          </a:xfrm>
          <a:prstGeom prst="roundRect">
            <a:avLst>
              <a:gd name="adj" fmla="val 15625"/>
            </a:avLst>
          </a:prstGeom>
          <a:solidFill>
            <a:srgbClr val="60A5FA">
              <a:alpha val="25000"/>
            </a:srgbClr>
          </a:solidFill>
          <a:ln w="12700">
            <a:solidFill>
              <a:srgbClr val="60A5FA">
                <a:alpha val="80000"/>
              </a:srgbClr>
            </a:solidFill>
            <a:prstDash val="solid"/>
          </a:ln>
        </p:spPr>
      </p:sp>
      <p:sp>
        <p:nvSpPr>
          <p:cNvPr id="73" name="Text 71"/>
          <p:cNvSpPr/>
          <p:nvPr/>
        </p:nvSpPr>
        <p:spPr>
          <a:xfrm>
            <a:off x="1024128" y="2606040"/>
            <a:ext cx="804672" cy="82296"/>
          </a:xfrm>
          <a:prstGeom prst="rect">
            <a:avLst/>
          </a:prstGeom>
          <a:noFill/>
          <a:ln/>
        </p:spPr>
        <p:txBody>
          <a:bodyPr wrap="square" lIns="0" tIns="0" rIns="0" bIns="0" rtlCol="0" anchor="ctr"/>
          <a:lstStyle/>
          <a:p>
            <a:pPr algn="ctr" indent="0" marL="0">
              <a:buNone/>
            </a:pPr>
            <a:r>
              <a:rPr lang="en-US" sz="540" b="1" dirty="0">
                <a:solidFill>
                  <a:srgbClr val="60A5FA"/>
                </a:solidFill>
              </a:rPr>
              <a:t>Trace</a:t>
            </a:r>
            <a:endParaRPr lang="en-US" sz="540" dirty="0"/>
          </a:p>
        </p:txBody>
      </p:sp>
      <p:sp>
        <p:nvSpPr>
          <p:cNvPr id="74" name="Shape 72"/>
          <p:cNvSpPr/>
          <p:nvPr/>
        </p:nvSpPr>
        <p:spPr>
          <a:xfrm>
            <a:off x="2130552" y="2514600"/>
            <a:ext cx="1024128" cy="292608"/>
          </a:xfrm>
          <a:prstGeom prst="roundRect">
            <a:avLst>
              <a:gd name="adj" fmla="val 15625"/>
            </a:avLst>
          </a:prstGeom>
          <a:solidFill>
            <a:srgbClr val="34D399">
              <a:alpha val="8000"/>
            </a:srgbClr>
          </a:solidFill>
          <a:ln w="12700">
            <a:solidFill>
              <a:srgbClr val="34D399">
                <a:alpha val="40000"/>
              </a:srgbClr>
            </a:solidFill>
            <a:prstDash val="solid"/>
          </a:ln>
        </p:spPr>
      </p:sp>
      <p:sp>
        <p:nvSpPr>
          <p:cNvPr id="75" name="Text 73"/>
          <p:cNvSpPr/>
          <p:nvPr/>
        </p:nvSpPr>
        <p:spPr>
          <a:xfrm>
            <a:off x="2240280" y="2606040"/>
            <a:ext cx="804672" cy="82296"/>
          </a:xfrm>
          <a:prstGeom prst="rect">
            <a:avLst/>
          </a:prstGeom>
          <a:noFill/>
          <a:ln/>
        </p:spPr>
        <p:txBody>
          <a:bodyPr wrap="square" lIns="0" tIns="0" rIns="0" bIns="0" rtlCol="0" anchor="ctr"/>
          <a:lstStyle/>
          <a:p>
            <a:pPr algn="ctr" indent="0" marL="0">
              <a:buNone/>
            </a:pPr>
            <a:r>
              <a:rPr lang="en-US" sz="540" b="1" dirty="0">
                <a:solidFill>
                  <a:srgbClr val="64748B"/>
                </a:solidFill>
              </a:rPr>
              <a:t>Gas &amp; State</a:t>
            </a:r>
            <a:endParaRPr lang="en-US" sz="540" dirty="0"/>
          </a:p>
        </p:txBody>
      </p:sp>
      <p:sp>
        <p:nvSpPr>
          <p:cNvPr id="76" name="Shape 74"/>
          <p:cNvSpPr/>
          <p:nvPr/>
        </p:nvSpPr>
        <p:spPr>
          <a:xfrm>
            <a:off x="3346704" y="2514600"/>
            <a:ext cx="1024128" cy="292608"/>
          </a:xfrm>
          <a:prstGeom prst="roundRect">
            <a:avLst>
              <a:gd name="adj" fmla="val 15625"/>
            </a:avLst>
          </a:prstGeom>
          <a:solidFill>
            <a:srgbClr val="FB7185">
              <a:alpha val="8000"/>
            </a:srgbClr>
          </a:solidFill>
          <a:ln w="12700">
            <a:solidFill>
              <a:srgbClr val="FB7185">
                <a:alpha val="40000"/>
              </a:srgbClr>
            </a:solidFill>
            <a:prstDash val="solid"/>
          </a:ln>
        </p:spPr>
      </p:sp>
      <p:sp>
        <p:nvSpPr>
          <p:cNvPr id="77" name="Text 75"/>
          <p:cNvSpPr/>
          <p:nvPr/>
        </p:nvSpPr>
        <p:spPr>
          <a:xfrm>
            <a:off x="3456432" y="2606040"/>
            <a:ext cx="804672" cy="82296"/>
          </a:xfrm>
          <a:prstGeom prst="rect">
            <a:avLst/>
          </a:prstGeom>
          <a:noFill/>
          <a:ln/>
        </p:spPr>
        <p:txBody>
          <a:bodyPr wrap="square" lIns="0" tIns="0" rIns="0" bIns="0" rtlCol="0" anchor="ctr"/>
          <a:lstStyle/>
          <a:p>
            <a:pPr algn="ctr" indent="0" marL="0">
              <a:buNone/>
            </a:pPr>
            <a:r>
              <a:rPr lang="en-US" sz="540" b="1" dirty="0">
                <a:solidFill>
                  <a:srgbClr val="64748B"/>
                </a:solidFill>
              </a:rPr>
              <a:t>Security</a:t>
            </a:r>
            <a:endParaRPr lang="en-US" sz="540" dirty="0"/>
          </a:p>
        </p:txBody>
      </p:sp>
      <p:sp>
        <p:nvSpPr>
          <p:cNvPr id="78" name="Shape 76"/>
          <p:cNvSpPr/>
          <p:nvPr/>
        </p:nvSpPr>
        <p:spPr>
          <a:xfrm>
            <a:off x="1005840" y="3035808"/>
            <a:ext cx="2057400" cy="502920"/>
          </a:xfrm>
          <a:prstGeom prst="roundRect">
            <a:avLst>
              <a:gd name="adj" fmla="val 21818"/>
            </a:avLst>
          </a:prstGeom>
          <a:solidFill>
            <a:srgbClr val="0B1224">
              <a:alpha val="96000"/>
            </a:srgbClr>
          </a:solidFill>
          <a:ln w="12700">
            <a:solidFill>
              <a:srgbClr val="60A5FA">
                <a:alpha val="90000"/>
              </a:srgbClr>
            </a:solidFill>
            <a:prstDash val="solid"/>
          </a:ln>
          <a:effectLst>
            <a:outerShdw sx="100000" sy="100000" kx="0" ky="0" algn="bl" rotWithShape="0" blurRad="25400" dist="50800" dir="2700000">
              <a:srgbClr val="000000">
                <a:alpha val="25000"/>
              </a:srgbClr>
            </a:outerShdw>
          </a:effectLst>
        </p:spPr>
      </p:sp>
      <p:sp>
        <p:nvSpPr>
          <p:cNvPr id="79" name="Text 77"/>
          <p:cNvSpPr/>
          <p:nvPr/>
        </p:nvSpPr>
        <p:spPr>
          <a:xfrm>
            <a:off x="1133856" y="3145536"/>
            <a:ext cx="180136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CALL: swapExactETHForTokens</a:t>
            </a:r>
            <a:endParaRPr lang="en-US" sz="920" dirty="0"/>
          </a:p>
        </p:txBody>
      </p:sp>
      <p:sp>
        <p:nvSpPr>
          <p:cNvPr id="80" name="Text 78"/>
          <p:cNvSpPr/>
          <p:nvPr/>
        </p:nvSpPr>
        <p:spPr>
          <a:xfrm>
            <a:off x="1133856" y="3447288"/>
            <a:ext cx="1801368" cy="0"/>
          </a:xfrm>
          <a:prstGeom prst="rect">
            <a:avLst/>
          </a:prstGeom>
          <a:noFill/>
          <a:ln/>
        </p:spPr>
        <p:txBody>
          <a:bodyPr wrap="square" lIns="127" tIns="127" rIns="127" bIns="127" rtlCol="0" anchor="ctr">
            <a:normAutofit/>
          </a:bodyPr>
          <a:lstStyle>
            <a:lvl1pPr algn="l"/>
          </a:lstStyle>
          <a:p>
            <a:pPr algn="ctr" indent="0" marL="0">
              <a:buNone/>
            </a:pPr>
            <a:r>
              <a:rPr lang="en-US" sz="650" dirty="0">
                <a:solidFill>
                  <a:srgbClr val="94A3B8"/>
                </a:solidFill>
              </a:rPr>
              <a:t>125,000 gas • 1.5 ETH</a:t>
            </a:r>
            <a:endParaRPr lang="en-US" sz="650" dirty="0"/>
          </a:p>
        </p:txBody>
      </p:sp>
      <p:sp>
        <p:nvSpPr>
          <p:cNvPr id="81" name="Shape 79"/>
          <p:cNvSpPr/>
          <p:nvPr/>
        </p:nvSpPr>
        <p:spPr>
          <a:xfrm>
            <a:off x="1508760" y="3877056"/>
            <a:ext cx="1920240" cy="438912"/>
          </a:xfrm>
          <a:prstGeom prst="roundRect">
            <a:avLst>
              <a:gd name="adj" fmla="val 25000"/>
            </a:avLst>
          </a:prstGeom>
          <a:solidFill>
            <a:srgbClr val="0B1224">
              <a:alpha val="96000"/>
            </a:srgbClr>
          </a:solidFill>
          <a:ln w="12700">
            <a:solidFill>
              <a:srgbClr val="34D399">
                <a:alpha val="90000"/>
              </a:srgbClr>
            </a:solidFill>
            <a:prstDash val="solid"/>
          </a:ln>
          <a:effectLst>
            <a:outerShdw sx="100000" sy="100000" kx="0" ky="0" algn="bl" rotWithShape="0" blurRad="25400" dist="50800" dir="2700000">
              <a:srgbClr val="000000">
                <a:alpha val="25000"/>
              </a:srgbClr>
            </a:outerShdw>
          </a:effectLst>
        </p:spPr>
      </p:sp>
      <p:sp>
        <p:nvSpPr>
          <p:cNvPr id="82" name="Text 80"/>
          <p:cNvSpPr/>
          <p:nvPr/>
        </p:nvSpPr>
        <p:spPr>
          <a:xfrm>
            <a:off x="1636776" y="3986784"/>
            <a:ext cx="166420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CALL: WETH.deposit()</a:t>
            </a:r>
            <a:endParaRPr lang="en-US" sz="920" dirty="0"/>
          </a:p>
        </p:txBody>
      </p:sp>
      <p:sp>
        <p:nvSpPr>
          <p:cNvPr id="83" name="Text 81"/>
          <p:cNvSpPr/>
          <p:nvPr/>
        </p:nvSpPr>
        <p:spPr>
          <a:xfrm>
            <a:off x="1636776" y="4288536"/>
            <a:ext cx="1664208" cy="-64008"/>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25,000 gas</a:t>
            </a:r>
            <a:endParaRPr lang="en-US" sz="650" dirty="0"/>
          </a:p>
        </p:txBody>
      </p:sp>
      <p:sp>
        <p:nvSpPr>
          <p:cNvPr id="84" name="Shape 82"/>
          <p:cNvSpPr/>
          <p:nvPr/>
        </p:nvSpPr>
        <p:spPr>
          <a:xfrm>
            <a:off x="3749040" y="3877056"/>
            <a:ext cx="2057400" cy="438912"/>
          </a:xfrm>
          <a:prstGeom prst="roundRect">
            <a:avLst>
              <a:gd name="adj" fmla="val 25000"/>
            </a:avLst>
          </a:prstGeom>
          <a:solidFill>
            <a:srgbClr val="0B1224">
              <a:alpha val="96000"/>
            </a:srgbClr>
          </a:solidFill>
          <a:ln w="12700">
            <a:solidFill>
              <a:srgbClr val="A78BFA">
                <a:alpha val="90000"/>
              </a:srgbClr>
            </a:solidFill>
            <a:prstDash val="solid"/>
          </a:ln>
          <a:effectLst>
            <a:outerShdw sx="100000" sy="100000" kx="0" ky="0" algn="bl" rotWithShape="0" blurRad="25400" dist="50800" dir="2700000">
              <a:srgbClr val="000000">
                <a:alpha val="25000"/>
              </a:srgbClr>
            </a:outerShdw>
          </a:effectLst>
        </p:spPr>
      </p:sp>
      <p:sp>
        <p:nvSpPr>
          <p:cNvPr id="85" name="Text 83"/>
          <p:cNvSpPr/>
          <p:nvPr/>
        </p:nvSpPr>
        <p:spPr>
          <a:xfrm>
            <a:off x="3877056" y="3986784"/>
            <a:ext cx="180136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DELEGATECALL: V3 swap</a:t>
            </a:r>
            <a:endParaRPr lang="en-US" sz="920" dirty="0"/>
          </a:p>
        </p:txBody>
      </p:sp>
      <p:sp>
        <p:nvSpPr>
          <p:cNvPr id="86" name="Text 84"/>
          <p:cNvSpPr/>
          <p:nvPr/>
        </p:nvSpPr>
        <p:spPr>
          <a:xfrm>
            <a:off x="3877056" y="4288536"/>
            <a:ext cx="1801368" cy="-64008"/>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85,000 gas</a:t>
            </a:r>
            <a:endParaRPr lang="en-US" sz="650" dirty="0"/>
          </a:p>
        </p:txBody>
      </p:sp>
      <p:sp>
        <p:nvSpPr>
          <p:cNvPr id="87" name="Shape 85"/>
          <p:cNvSpPr/>
          <p:nvPr/>
        </p:nvSpPr>
        <p:spPr>
          <a:xfrm>
            <a:off x="2011680" y="3538728"/>
            <a:ext cx="411480" cy="338328"/>
          </a:xfrm>
          <a:prstGeom prst="line">
            <a:avLst/>
          </a:prstGeom>
          <a:noFill/>
          <a:ln w="17780">
            <a:solidFill>
              <a:srgbClr val="60A5FA"/>
            </a:solidFill>
            <a:prstDash val="solid"/>
            <a:headEnd type="none"/>
            <a:tailEnd type="triangle"/>
          </a:ln>
        </p:spPr>
      </p:sp>
      <p:sp>
        <p:nvSpPr>
          <p:cNvPr id="88" name="Shape 86"/>
          <p:cNvSpPr/>
          <p:nvPr/>
        </p:nvSpPr>
        <p:spPr>
          <a:xfrm>
            <a:off x="2011680" y="3538728"/>
            <a:ext cx="2651760" cy="338328"/>
          </a:xfrm>
          <a:prstGeom prst="line">
            <a:avLst/>
          </a:prstGeom>
          <a:noFill/>
          <a:ln w="17780">
            <a:solidFill>
              <a:srgbClr val="60A5FA"/>
            </a:solidFill>
            <a:prstDash val="solid"/>
            <a:headEnd type="none"/>
            <a:tailEnd type="triangle"/>
          </a:ln>
        </p:spPr>
      </p:sp>
      <p:sp>
        <p:nvSpPr>
          <p:cNvPr id="89" name="Shape 87"/>
          <p:cNvSpPr/>
          <p:nvPr/>
        </p:nvSpPr>
        <p:spPr>
          <a:xfrm>
            <a:off x="960120" y="4754880"/>
            <a:ext cx="1371600" cy="694944"/>
          </a:xfrm>
          <a:prstGeom prst="roundRect">
            <a:avLst>
              <a:gd name="adj" fmla="val 15789"/>
            </a:avLst>
          </a:prstGeom>
          <a:solidFill>
            <a:srgbClr val="0B1224">
              <a:alpha val="96000"/>
            </a:srgbClr>
          </a:solidFill>
          <a:ln w="12700">
            <a:solidFill>
              <a:srgbClr val="34D399">
                <a:alpha val="65000"/>
              </a:srgbClr>
            </a:solidFill>
            <a:prstDash val="solid"/>
          </a:ln>
          <a:effectLst>
            <a:outerShdw sx="100000" sy="100000" kx="0" ky="0" algn="bl" rotWithShape="0" blurRad="25400" dist="50800" dir="2700000">
              <a:srgbClr val="000000">
                <a:alpha val="25000"/>
              </a:srgbClr>
            </a:outerShdw>
          </a:effectLst>
        </p:spPr>
      </p:sp>
      <p:sp>
        <p:nvSpPr>
          <p:cNvPr id="90" name="Text 88"/>
          <p:cNvSpPr/>
          <p:nvPr/>
        </p:nvSpPr>
        <p:spPr>
          <a:xfrm>
            <a:off x="1069848" y="4837176"/>
            <a:ext cx="115214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STATUS</a:t>
            </a:r>
            <a:endParaRPr lang="en-US" sz="570" dirty="0"/>
          </a:p>
        </p:txBody>
      </p:sp>
      <p:sp>
        <p:nvSpPr>
          <p:cNvPr id="91" name="Text 89"/>
          <p:cNvSpPr/>
          <p:nvPr/>
        </p:nvSpPr>
        <p:spPr>
          <a:xfrm>
            <a:off x="1069848" y="5020056"/>
            <a:ext cx="1152144" cy="256032"/>
          </a:xfrm>
          <a:prstGeom prst="rect">
            <a:avLst/>
          </a:prstGeom>
          <a:noFill/>
          <a:ln/>
        </p:spPr>
        <p:txBody>
          <a:bodyPr wrap="square" lIns="0" tIns="0" rIns="0" bIns="0" rtlCol="0" anchor="ctr">
            <a:normAutofit/>
          </a:bodyPr>
          <a:lstStyle/>
          <a:p>
            <a:pPr indent="0" marL="0">
              <a:buNone/>
            </a:pPr>
            <a:r>
              <a:rPr lang="en-US" sz="1600" b="1" dirty="0">
                <a:solidFill>
                  <a:srgbClr val="34D399"/>
                </a:solidFill>
              </a:rPr>
              <a:t>Success</a:t>
            </a:r>
            <a:endParaRPr lang="en-US" sz="1600" dirty="0"/>
          </a:p>
        </p:txBody>
      </p:sp>
      <p:sp>
        <p:nvSpPr>
          <p:cNvPr id="92" name="Text 90"/>
          <p:cNvSpPr/>
          <p:nvPr/>
        </p:nvSpPr>
        <p:spPr>
          <a:xfrm>
            <a:off x="1069848" y="5276088"/>
            <a:ext cx="115214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trace resolved</a:t>
            </a:r>
            <a:endParaRPr lang="en-US" sz="540" dirty="0"/>
          </a:p>
        </p:txBody>
      </p:sp>
      <p:sp>
        <p:nvSpPr>
          <p:cNvPr id="93" name="Shape 91"/>
          <p:cNvSpPr/>
          <p:nvPr/>
        </p:nvSpPr>
        <p:spPr>
          <a:xfrm>
            <a:off x="2542032" y="4754880"/>
            <a:ext cx="1371600" cy="694944"/>
          </a:xfrm>
          <a:prstGeom prst="roundRect">
            <a:avLst>
              <a:gd name="adj" fmla="val 15789"/>
            </a:avLst>
          </a:prstGeom>
          <a:solidFill>
            <a:srgbClr val="0B1224">
              <a:alpha val="96000"/>
            </a:srgbClr>
          </a:solidFill>
          <a:ln w="12700">
            <a:solidFill>
              <a:srgbClr val="FBBF24">
                <a:alpha val="65000"/>
              </a:srgbClr>
            </a:solidFill>
            <a:prstDash val="solid"/>
          </a:ln>
          <a:effectLst>
            <a:outerShdw sx="100000" sy="100000" kx="0" ky="0" algn="bl" rotWithShape="0" blurRad="25400" dist="50800" dir="2700000">
              <a:srgbClr val="000000">
                <a:alpha val="25000"/>
              </a:srgbClr>
            </a:outerShdw>
          </a:effectLst>
        </p:spPr>
      </p:sp>
      <p:sp>
        <p:nvSpPr>
          <p:cNvPr id="94" name="Text 92"/>
          <p:cNvSpPr/>
          <p:nvPr/>
        </p:nvSpPr>
        <p:spPr>
          <a:xfrm>
            <a:off x="2651760" y="4837176"/>
            <a:ext cx="115214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TOTAL GAS</a:t>
            </a:r>
            <a:endParaRPr lang="en-US" sz="570" dirty="0"/>
          </a:p>
        </p:txBody>
      </p:sp>
      <p:sp>
        <p:nvSpPr>
          <p:cNvPr id="95" name="Text 93"/>
          <p:cNvSpPr/>
          <p:nvPr/>
        </p:nvSpPr>
        <p:spPr>
          <a:xfrm>
            <a:off x="2651760" y="5020056"/>
            <a:ext cx="1152144" cy="256032"/>
          </a:xfrm>
          <a:prstGeom prst="rect">
            <a:avLst/>
          </a:prstGeom>
          <a:noFill/>
          <a:ln/>
        </p:spPr>
        <p:txBody>
          <a:bodyPr wrap="square" lIns="0" tIns="0" rIns="0" bIns="0" rtlCol="0" anchor="ctr">
            <a:normAutofit/>
          </a:bodyPr>
          <a:lstStyle/>
          <a:p>
            <a:pPr indent="0" marL="0">
              <a:buNone/>
            </a:pPr>
            <a:r>
              <a:rPr lang="en-US" sz="1600" b="1" dirty="0">
                <a:solidFill>
                  <a:srgbClr val="FBBF24"/>
                </a:solidFill>
              </a:rPr>
              <a:t>125k</a:t>
            </a:r>
            <a:endParaRPr lang="en-US" sz="1600" dirty="0"/>
          </a:p>
        </p:txBody>
      </p:sp>
      <p:sp>
        <p:nvSpPr>
          <p:cNvPr id="96" name="Text 94"/>
          <p:cNvSpPr/>
          <p:nvPr/>
        </p:nvSpPr>
        <p:spPr>
          <a:xfrm>
            <a:off x="2651760" y="5276088"/>
            <a:ext cx="115214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profiled</a:t>
            </a:r>
            <a:endParaRPr lang="en-US" sz="540" dirty="0"/>
          </a:p>
        </p:txBody>
      </p:sp>
      <p:sp>
        <p:nvSpPr>
          <p:cNvPr id="97" name="Shape 95"/>
          <p:cNvSpPr/>
          <p:nvPr/>
        </p:nvSpPr>
        <p:spPr>
          <a:xfrm>
            <a:off x="4123944" y="4754880"/>
            <a:ext cx="1371600" cy="694944"/>
          </a:xfrm>
          <a:prstGeom prst="roundRect">
            <a:avLst>
              <a:gd name="adj" fmla="val 15789"/>
            </a:avLst>
          </a:prstGeom>
          <a:solidFill>
            <a:srgbClr val="0B1224">
              <a:alpha val="96000"/>
            </a:srgbClr>
          </a:solidFill>
          <a:ln w="12700">
            <a:solidFill>
              <a:srgbClr val="22D3EE">
                <a:alpha val="65000"/>
              </a:srgbClr>
            </a:solidFill>
            <a:prstDash val="solid"/>
          </a:ln>
          <a:effectLst>
            <a:outerShdw sx="100000" sy="100000" kx="0" ky="0" algn="bl" rotWithShape="0" blurRad="25400" dist="50800" dir="2700000">
              <a:srgbClr val="000000">
                <a:alpha val="25000"/>
              </a:srgbClr>
            </a:outerShdw>
          </a:effectLst>
        </p:spPr>
      </p:sp>
      <p:sp>
        <p:nvSpPr>
          <p:cNvPr id="98" name="Text 96"/>
          <p:cNvSpPr/>
          <p:nvPr/>
        </p:nvSpPr>
        <p:spPr>
          <a:xfrm>
            <a:off x="4233672" y="4837176"/>
            <a:ext cx="115214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TRANSFER</a:t>
            </a:r>
            <a:endParaRPr lang="en-US" sz="570" dirty="0"/>
          </a:p>
        </p:txBody>
      </p:sp>
      <p:sp>
        <p:nvSpPr>
          <p:cNvPr id="99" name="Text 97"/>
          <p:cNvSpPr/>
          <p:nvPr/>
        </p:nvSpPr>
        <p:spPr>
          <a:xfrm>
            <a:off x="4233672" y="5020056"/>
            <a:ext cx="1152144" cy="256032"/>
          </a:xfrm>
          <a:prstGeom prst="rect">
            <a:avLst/>
          </a:prstGeom>
          <a:noFill/>
          <a:ln/>
        </p:spPr>
        <p:txBody>
          <a:bodyPr wrap="square" lIns="0" tIns="0" rIns="0" bIns="0" rtlCol="0" anchor="ctr">
            <a:normAutofit/>
          </a:bodyPr>
          <a:lstStyle/>
          <a:p>
            <a:pPr indent="0" marL="0">
              <a:buNone/>
            </a:pPr>
            <a:r>
              <a:rPr lang="en-US" sz="1600" b="1" dirty="0">
                <a:solidFill>
                  <a:srgbClr val="22D3EE"/>
                </a:solidFill>
              </a:rPr>
              <a:t>4,500</a:t>
            </a:r>
            <a:endParaRPr lang="en-US" sz="1600" dirty="0"/>
          </a:p>
        </p:txBody>
      </p:sp>
      <p:sp>
        <p:nvSpPr>
          <p:cNvPr id="100" name="Text 98"/>
          <p:cNvSpPr/>
          <p:nvPr/>
        </p:nvSpPr>
        <p:spPr>
          <a:xfrm>
            <a:off x="4233672" y="5276088"/>
            <a:ext cx="115214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USDC tracked</a:t>
            </a:r>
            <a:endParaRPr lang="en-US" sz="540" dirty="0"/>
          </a:p>
        </p:txBody>
      </p:sp>
      <p:sp>
        <p:nvSpPr>
          <p:cNvPr id="101" name="Shape 99"/>
          <p:cNvSpPr/>
          <p:nvPr/>
        </p:nvSpPr>
        <p:spPr>
          <a:xfrm>
            <a:off x="5705856" y="4754880"/>
            <a:ext cx="1371600" cy="694944"/>
          </a:xfrm>
          <a:prstGeom prst="roundRect">
            <a:avLst>
              <a:gd name="adj" fmla="val 15789"/>
            </a:avLst>
          </a:prstGeom>
          <a:solidFill>
            <a:srgbClr val="0B1224">
              <a:alpha val="96000"/>
            </a:srgbClr>
          </a:solidFill>
          <a:ln w="12700">
            <a:solidFill>
              <a:srgbClr val="FB7185">
                <a:alpha val="65000"/>
              </a:srgbClr>
            </a:solidFill>
            <a:prstDash val="solid"/>
          </a:ln>
          <a:effectLst>
            <a:outerShdw sx="100000" sy="100000" kx="0" ky="0" algn="bl" rotWithShape="0" blurRad="25400" dist="50800" dir="2700000">
              <a:srgbClr val="000000">
                <a:alpha val="25000"/>
              </a:srgbClr>
            </a:outerShdw>
          </a:effectLst>
        </p:spPr>
      </p:sp>
      <p:sp>
        <p:nvSpPr>
          <p:cNvPr id="102" name="Text 100"/>
          <p:cNvSpPr/>
          <p:nvPr/>
        </p:nvSpPr>
        <p:spPr>
          <a:xfrm>
            <a:off x="5815584" y="4837176"/>
            <a:ext cx="1152144" cy="137160"/>
          </a:xfrm>
          <a:prstGeom prst="rect">
            <a:avLst/>
          </a:prstGeom>
          <a:noFill/>
          <a:ln/>
        </p:spPr>
        <p:txBody>
          <a:bodyPr wrap="square" lIns="0" tIns="0" rIns="0" bIns="0" rtlCol="0" anchor="ctr">
            <a:normAutofit/>
          </a:bodyPr>
          <a:lstStyle/>
          <a:p>
            <a:pPr indent="0" marL="0">
              <a:buNone/>
            </a:pPr>
            <a:r>
              <a:rPr lang="en-US" sz="570" b="1" dirty="0">
                <a:solidFill>
                  <a:srgbClr val="94A3B8"/>
                </a:solidFill>
              </a:rPr>
              <a:t>FINDINGS</a:t>
            </a:r>
            <a:endParaRPr lang="en-US" sz="570" dirty="0"/>
          </a:p>
        </p:txBody>
      </p:sp>
      <p:sp>
        <p:nvSpPr>
          <p:cNvPr id="103" name="Text 101"/>
          <p:cNvSpPr/>
          <p:nvPr/>
        </p:nvSpPr>
        <p:spPr>
          <a:xfrm>
            <a:off x="5815584" y="5020056"/>
            <a:ext cx="1152144" cy="256032"/>
          </a:xfrm>
          <a:prstGeom prst="rect">
            <a:avLst/>
          </a:prstGeom>
          <a:noFill/>
          <a:ln/>
        </p:spPr>
        <p:txBody>
          <a:bodyPr wrap="square" lIns="0" tIns="0" rIns="0" bIns="0" rtlCol="0" anchor="ctr">
            <a:normAutofit/>
          </a:bodyPr>
          <a:lstStyle/>
          <a:p>
            <a:pPr indent="0" marL="0">
              <a:buNone/>
            </a:pPr>
            <a:r>
              <a:rPr lang="en-US" sz="1600" b="1" dirty="0">
                <a:solidFill>
                  <a:srgbClr val="FB7185"/>
                </a:solidFill>
              </a:rPr>
              <a:t>1+</a:t>
            </a:r>
            <a:endParaRPr lang="en-US" sz="1600" dirty="0"/>
          </a:p>
        </p:txBody>
      </p:sp>
      <p:sp>
        <p:nvSpPr>
          <p:cNvPr id="104" name="Text 102"/>
          <p:cNvSpPr/>
          <p:nvPr/>
        </p:nvSpPr>
        <p:spPr>
          <a:xfrm>
            <a:off x="5815584" y="5276088"/>
            <a:ext cx="1152144" cy="109728"/>
          </a:xfrm>
          <a:prstGeom prst="rect">
            <a:avLst/>
          </a:prstGeom>
          <a:noFill/>
          <a:ln/>
        </p:spPr>
        <p:txBody>
          <a:bodyPr wrap="square" lIns="0" tIns="0" rIns="0" bIns="0" rtlCol="0" anchor="ctr">
            <a:normAutofit/>
          </a:bodyPr>
          <a:lstStyle/>
          <a:p>
            <a:pPr indent="0" marL="0">
              <a:buNone/>
            </a:pPr>
            <a:r>
              <a:rPr lang="en-US" sz="540" dirty="0">
                <a:solidFill>
                  <a:srgbClr val="64748B"/>
                </a:solidFill>
              </a:rPr>
              <a:t>Slither</a:t>
            </a:r>
            <a:endParaRPr lang="en-US" sz="540" dirty="0"/>
          </a:p>
        </p:txBody>
      </p:sp>
      <p:sp>
        <p:nvSpPr>
          <p:cNvPr id="105" name="Text 103"/>
          <p:cNvSpPr/>
          <p:nvPr/>
        </p:nvSpPr>
        <p:spPr>
          <a:xfrm>
            <a:off x="7909560" y="1188720"/>
            <a:ext cx="1920240" cy="219456"/>
          </a:xfrm>
          <a:prstGeom prst="rect">
            <a:avLst/>
          </a:prstGeom>
          <a:noFill/>
          <a:ln/>
        </p:spPr>
        <p:txBody>
          <a:bodyPr wrap="square" lIns="0" tIns="0" rIns="0" bIns="0" rtlCol="0" anchor="ctr"/>
          <a:lstStyle/>
          <a:p>
            <a:pPr indent="0" marL="0">
              <a:buNone/>
            </a:pPr>
            <a:r>
              <a:rPr lang="en-US" sz="1500" b="1" dirty="0">
                <a:solidFill>
                  <a:srgbClr val="FFFFFF"/>
                </a:solidFill>
              </a:rPr>
              <a:t>Demo script</a:t>
            </a:r>
            <a:endParaRPr lang="en-US" sz="1500" dirty="0"/>
          </a:p>
        </p:txBody>
      </p:sp>
      <p:sp>
        <p:nvSpPr>
          <p:cNvPr id="106" name="Shape 104"/>
          <p:cNvSpPr/>
          <p:nvPr/>
        </p:nvSpPr>
        <p:spPr>
          <a:xfrm>
            <a:off x="7909560" y="1664208"/>
            <a:ext cx="329184" cy="329184"/>
          </a:xfrm>
          <a:prstGeom prst="ellipse">
            <a:avLst/>
          </a:prstGeom>
          <a:solidFill>
            <a:srgbClr val="60A5FA">
              <a:alpha val="95000"/>
            </a:srgbClr>
          </a:solidFill>
          <a:ln w="12700">
            <a:solidFill>
              <a:srgbClr val="60A5FA"/>
            </a:solidFill>
            <a:prstDash val="solid"/>
          </a:ln>
        </p:spPr>
      </p:sp>
      <p:sp>
        <p:nvSpPr>
          <p:cNvPr id="107" name="Text 105"/>
          <p:cNvSpPr/>
          <p:nvPr/>
        </p:nvSpPr>
        <p:spPr>
          <a:xfrm>
            <a:off x="7991856" y="1773936"/>
            <a:ext cx="164592" cy="73152"/>
          </a:xfrm>
          <a:prstGeom prst="rect">
            <a:avLst/>
          </a:prstGeom>
          <a:noFill/>
          <a:ln/>
        </p:spPr>
        <p:txBody>
          <a:bodyPr wrap="square" lIns="0" tIns="0" rIns="0" bIns="0" rtlCol="0" anchor="ctr"/>
          <a:lstStyle/>
          <a:p>
            <a:pPr algn="ctr" indent="0" marL="0">
              <a:buNone/>
            </a:pPr>
            <a:r>
              <a:rPr lang="en-US" sz="460" b="1" dirty="0">
                <a:solidFill>
                  <a:srgbClr val="070A13"/>
                </a:solidFill>
              </a:rPr>
              <a:t>01</a:t>
            </a:r>
            <a:endParaRPr lang="en-US" sz="460" dirty="0"/>
          </a:p>
        </p:txBody>
      </p:sp>
      <p:sp>
        <p:nvSpPr>
          <p:cNvPr id="108" name="Text 106"/>
          <p:cNvSpPr/>
          <p:nvPr/>
        </p:nvSpPr>
        <p:spPr>
          <a:xfrm>
            <a:off x="8348472" y="1664208"/>
            <a:ext cx="2697480" cy="164592"/>
          </a:xfrm>
          <a:prstGeom prst="rect">
            <a:avLst/>
          </a:prstGeom>
          <a:noFill/>
          <a:ln/>
        </p:spPr>
        <p:txBody>
          <a:bodyPr wrap="square" lIns="0" tIns="0" rIns="0" bIns="0" rtlCol="0" anchor="ctr"/>
          <a:lstStyle/>
          <a:p>
            <a:pPr indent="0" marL="0">
              <a:buNone/>
            </a:pPr>
            <a:r>
              <a:rPr lang="en-US" sz="830" b="1" dirty="0">
                <a:solidFill>
                  <a:srgbClr val="E5E7EB"/>
                </a:solidFill>
              </a:rPr>
              <a:t>Paste or select sample tx hash</a:t>
            </a:r>
            <a:endParaRPr lang="en-US" sz="830" dirty="0"/>
          </a:p>
        </p:txBody>
      </p:sp>
      <p:sp>
        <p:nvSpPr>
          <p:cNvPr id="109" name="Text 107"/>
          <p:cNvSpPr/>
          <p:nvPr/>
        </p:nvSpPr>
        <p:spPr>
          <a:xfrm>
            <a:off x="8348472" y="1911096"/>
            <a:ext cx="2697480" cy="137160"/>
          </a:xfrm>
          <a:prstGeom prst="rect">
            <a:avLst/>
          </a:prstGeom>
          <a:noFill/>
          <a:ln/>
        </p:spPr>
        <p:txBody>
          <a:bodyPr wrap="square" lIns="0" tIns="0" rIns="0" bIns="0" rtlCol="0" anchor="ctr"/>
          <a:lstStyle/>
          <a:p>
            <a:pPr indent="0" marL="0">
              <a:buNone/>
            </a:pPr>
            <a:r>
              <a:rPr lang="en-US" sz="630" dirty="0">
                <a:solidFill>
                  <a:srgbClr val="94A3B8"/>
                </a:solidFill>
              </a:rPr>
              <a:t>Trace tab renders internal calls.</a:t>
            </a:r>
            <a:endParaRPr lang="en-US" sz="630" dirty="0"/>
          </a:p>
        </p:txBody>
      </p:sp>
      <p:sp>
        <p:nvSpPr>
          <p:cNvPr id="110" name="Shape 108"/>
          <p:cNvSpPr/>
          <p:nvPr/>
        </p:nvSpPr>
        <p:spPr>
          <a:xfrm>
            <a:off x="7909560" y="2423160"/>
            <a:ext cx="329184" cy="329184"/>
          </a:xfrm>
          <a:prstGeom prst="ellipse">
            <a:avLst/>
          </a:prstGeom>
          <a:solidFill>
            <a:srgbClr val="34D399">
              <a:alpha val="95000"/>
            </a:srgbClr>
          </a:solidFill>
          <a:ln w="12700">
            <a:solidFill>
              <a:srgbClr val="34D399"/>
            </a:solidFill>
            <a:prstDash val="solid"/>
          </a:ln>
        </p:spPr>
      </p:sp>
      <p:sp>
        <p:nvSpPr>
          <p:cNvPr id="111" name="Text 109"/>
          <p:cNvSpPr/>
          <p:nvPr/>
        </p:nvSpPr>
        <p:spPr>
          <a:xfrm>
            <a:off x="7991856" y="2532888"/>
            <a:ext cx="164592" cy="73152"/>
          </a:xfrm>
          <a:prstGeom prst="rect">
            <a:avLst/>
          </a:prstGeom>
          <a:noFill/>
          <a:ln/>
        </p:spPr>
        <p:txBody>
          <a:bodyPr wrap="square" lIns="0" tIns="0" rIns="0" bIns="0" rtlCol="0" anchor="ctr"/>
          <a:lstStyle/>
          <a:p>
            <a:pPr algn="ctr" indent="0" marL="0">
              <a:buNone/>
            </a:pPr>
            <a:r>
              <a:rPr lang="en-US" sz="460" b="1" dirty="0">
                <a:solidFill>
                  <a:srgbClr val="070A13"/>
                </a:solidFill>
              </a:rPr>
              <a:t>02</a:t>
            </a:r>
            <a:endParaRPr lang="en-US" sz="460" dirty="0"/>
          </a:p>
        </p:txBody>
      </p:sp>
      <p:sp>
        <p:nvSpPr>
          <p:cNvPr id="112" name="Text 110"/>
          <p:cNvSpPr/>
          <p:nvPr/>
        </p:nvSpPr>
        <p:spPr>
          <a:xfrm>
            <a:off x="8348472" y="2423160"/>
            <a:ext cx="2697480" cy="164592"/>
          </a:xfrm>
          <a:prstGeom prst="rect">
            <a:avLst/>
          </a:prstGeom>
          <a:noFill/>
          <a:ln/>
        </p:spPr>
        <p:txBody>
          <a:bodyPr wrap="square" lIns="0" tIns="0" rIns="0" bIns="0" rtlCol="0" anchor="ctr"/>
          <a:lstStyle/>
          <a:p>
            <a:pPr indent="0" marL="0">
              <a:buNone/>
            </a:pPr>
            <a:r>
              <a:rPr lang="en-US" sz="830" b="1" dirty="0">
                <a:solidFill>
                  <a:srgbClr val="E5E7EB"/>
                </a:solidFill>
              </a:rPr>
              <a:t>Open Gas &amp; State</a:t>
            </a:r>
            <a:endParaRPr lang="en-US" sz="830" dirty="0"/>
          </a:p>
        </p:txBody>
      </p:sp>
      <p:sp>
        <p:nvSpPr>
          <p:cNvPr id="113" name="Text 111"/>
          <p:cNvSpPr/>
          <p:nvPr/>
        </p:nvSpPr>
        <p:spPr>
          <a:xfrm>
            <a:off x="8348472" y="2670048"/>
            <a:ext cx="2697480" cy="137160"/>
          </a:xfrm>
          <a:prstGeom prst="rect">
            <a:avLst/>
          </a:prstGeom>
          <a:noFill/>
          <a:ln/>
        </p:spPr>
        <p:txBody>
          <a:bodyPr wrap="square" lIns="0" tIns="0" rIns="0" bIns="0" rtlCol="0" anchor="ctr"/>
          <a:lstStyle/>
          <a:p>
            <a:pPr indent="0" marL="0">
              <a:buNone/>
            </a:pPr>
            <a:r>
              <a:rPr lang="en-US" sz="630" dirty="0">
                <a:solidFill>
                  <a:srgbClr val="94A3B8"/>
                </a:solidFill>
              </a:rPr>
              <a:t>View top gas consumers and token/balance changes.</a:t>
            </a:r>
            <a:endParaRPr lang="en-US" sz="630" dirty="0"/>
          </a:p>
        </p:txBody>
      </p:sp>
      <p:sp>
        <p:nvSpPr>
          <p:cNvPr id="114" name="Shape 112"/>
          <p:cNvSpPr/>
          <p:nvPr/>
        </p:nvSpPr>
        <p:spPr>
          <a:xfrm>
            <a:off x="7909560" y="3182112"/>
            <a:ext cx="329184" cy="329184"/>
          </a:xfrm>
          <a:prstGeom prst="ellipse">
            <a:avLst/>
          </a:prstGeom>
          <a:solidFill>
            <a:srgbClr val="FB7185">
              <a:alpha val="95000"/>
            </a:srgbClr>
          </a:solidFill>
          <a:ln w="12700">
            <a:solidFill>
              <a:srgbClr val="FB7185"/>
            </a:solidFill>
            <a:prstDash val="solid"/>
          </a:ln>
        </p:spPr>
      </p:sp>
      <p:sp>
        <p:nvSpPr>
          <p:cNvPr id="115" name="Text 113"/>
          <p:cNvSpPr/>
          <p:nvPr/>
        </p:nvSpPr>
        <p:spPr>
          <a:xfrm>
            <a:off x="7991856" y="3291840"/>
            <a:ext cx="164592" cy="73152"/>
          </a:xfrm>
          <a:prstGeom prst="rect">
            <a:avLst/>
          </a:prstGeom>
          <a:noFill/>
          <a:ln/>
        </p:spPr>
        <p:txBody>
          <a:bodyPr wrap="square" lIns="0" tIns="0" rIns="0" bIns="0" rtlCol="0" anchor="ctr"/>
          <a:lstStyle/>
          <a:p>
            <a:pPr algn="ctr" indent="0" marL="0">
              <a:buNone/>
            </a:pPr>
            <a:r>
              <a:rPr lang="en-US" sz="460" b="1" dirty="0">
                <a:solidFill>
                  <a:srgbClr val="070A13"/>
                </a:solidFill>
              </a:rPr>
              <a:t>03</a:t>
            </a:r>
            <a:endParaRPr lang="en-US" sz="460" dirty="0"/>
          </a:p>
        </p:txBody>
      </p:sp>
      <p:sp>
        <p:nvSpPr>
          <p:cNvPr id="116" name="Text 114"/>
          <p:cNvSpPr/>
          <p:nvPr/>
        </p:nvSpPr>
        <p:spPr>
          <a:xfrm>
            <a:off x="8348472" y="3182112"/>
            <a:ext cx="2697480" cy="164592"/>
          </a:xfrm>
          <a:prstGeom prst="rect">
            <a:avLst/>
          </a:prstGeom>
          <a:noFill/>
          <a:ln/>
        </p:spPr>
        <p:txBody>
          <a:bodyPr wrap="square" lIns="0" tIns="0" rIns="0" bIns="0" rtlCol="0" anchor="ctr"/>
          <a:lstStyle/>
          <a:p>
            <a:pPr indent="0" marL="0">
              <a:buNone/>
            </a:pPr>
            <a:r>
              <a:rPr lang="en-US" sz="830" b="1" dirty="0">
                <a:solidFill>
                  <a:srgbClr val="E5E7EB"/>
                </a:solidFill>
              </a:rPr>
              <a:t>Open Security</a:t>
            </a:r>
            <a:endParaRPr lang="en-US" sz="830" dirty="0"/>
          </a:p>
        </p:txBody>
      </p:sp>
      <p:sp>
        <p:nvSpPr>
          <p:cNvPr id="117" name="Text 115"/>
          <p:cNvSpPr/>
          <p:nvPr/>
        </p:nvSpPr>
        <p:spPr>
          <a:xfrm>
            <a:off x="8348472" y="3429000"/>
            <a:ext cx="2697480" cy="137160"/>
          </a:xfrm>
          <a:prstGeom prst="rect">
            <a:avLst/>
          </a:prstGeom>
          <a:noFill/>
          <a:ln/>
        </p:spPr>
        <p:txBody>
          <a:bodyPr wrap="square" lIns="0" tIns="0" rIns="0" bIns="0" rtlCol="0" anchor="ctr"/>
          <a:lstStyle/>
          <a:p>
            <a:pPr indent="0" marL="0">
              <a:buNone/>
            </a:pPr>
            <a:r>
              <a:rPr lang="en-US" sz="630" dirty="0">
                <a:solidFill>
                  <a:srgbClr val="94A3B8"/>
                </a:solidFill>
              </a:rPr>
              <a:t>Run scanner on sample contract address.</a:t>
            </a:r>
            <a:endParaRPr lang="en-US" sz="630" dirty="0"/>
          </a:p>
        </p:txBody>
      </p:sp>
      <p:sp>
        <p:nvSpPr>
          <p:cNvPr id="118" name="Shape 116"/>
          <p:cNvSpPr/>
          <p:nvPr/>
        </p:nvSpPr>
        <p:spPr>
          <a:xfrm>
            <a:off x="7909560" y="3941064"/>
            <a:ext cx="329184" cy="329184"/>
          </a:xfrm>
          <a:prstGeom prst="ellipse">
            <a:avLst/>
          </a:prstGeom>
          <a:solidFill>
            <a:srgbClr val="FBBF24">
              <a:alpha val="95000"/>
            </a:srgbClr>
          </a:solidFill>
          <a:ln w="12700">
            <a:solidFill>
              <a:srgbClr val="FBBF24"/>
            </a:solidFill>
            <a:prstDash val="solid"/>
          </a:ln>
        </p:spPr>
      </p:sp>
      <p:sp>
        <p:nvSpPr>
          <p:cNvPr id="119" name="Text 117"/>
          <p:cNvSpPr/>
          <p:nvPr/>
        </p:nvSpPr>
        <p:spPr>
          <a:xfrm>
            <a:off x="7991856" y="4050792"/>
            <a:ext cx="164592" cy="73152"/>
          </a:xfrm>
          <a:prstGeom prst="rect">
            <a:avLst/>
          </a:prstGeom>
          <a:noFill/>
          <a:ln/>
        </p:spPr>
        <p:txBody>
          <a:bodyPr wrap="square" lIns="0" tIns="0" rIns="0" bIns="0" rtlCol="0" anchor="ctr"/>
          <a:lstStyle/>
          <a:p>
            <a:pPr algn="ctr" indent="0" marL="0">
              <a:buNone/>
            </a:pPr>
            <a:r>
              <a:rPr lang="en-US" sz="460" b="1" dirty="0">
                <a:solidFill>
                  <a:srgbClr val="070A13"/>
                </a:solidFill>
              </a:rPr>
              <a:t>04</a:t>
            </a:r>
            <a:endParaRPr lang="en-US" sz="460" dirty="0"/>
          </a:p>
        </p:txBody>
      </p:sp>
      <p:sp>
        <p:nvSpPr>
          <p:cNvPr id="120" name="Text 118"/>
          <p:cNvSpPr/>
          <p:nvPr/>
        </p:nvSpPr>
        <p:spPr>
          <a:xfrm>
            <a:off x="8348472" y="3941064"/>
            <a:ext cx="2697480" cy="164592"/>
          </a:xfrm>
          <a:prstGeom prst="rect">
            <a:avLst/>
          </a:prstGeom>
          <a:noFill/>
          <a:ln/>
        </p:spPr>
        <p:txBody>
          <a:bodyPr wrap="square" lIns="0" tIns="0" rIns="0" bIns="0" rtlCol="0" anchor="ctr"/>
          <a:lstStyle/>
          <a:p>
            <a:pPr indent="0" marL="0">
              <a:buNone/>
            </a:pPr>
            <a:r>
              <a:rPr lang="en-US" sz="830" b="1" dirty="0">
                <a:solidFill>
                  <a:srgbClr val="E5E7EB"/>
                </a:solidFill>
              </a:rPr>
              <a:t>Show backend docs</a:t>
            </a:r>
            <a:endParaRPr lang="en-US" sz="830" dirty="0"/>
          </a:p>
        </p:txBody>
      </p:sp>
      <p:sp>
        <p:nvSpPr>
          <p:cNvPr id="121" name="Text 119"/>
          <p:cNvSpPr/>
          <p:nvPr/>
        </p:nvSpPr>
        <p:spPr>
          <a:xfrm>
            <a:off x="8348472" y="4187952"/>
            <a:ext cx="2697480" cy="137160"/>
          </a:xfrm>
          <a:prstGeom prst="rect">
            <a:avLst/>
          </a:prstGeom>
          <a:noFill/>
          <a:ln/>
        </p:spPr>
        <p:txBody>
          <a:bodyPr wrap="square" lIns="0" tIns="0" rIns="0" bIns="0" rtlCol="0" anchor="ctr"/>
          <a:lstStyle/>
          <a:p>
            <a:pPr indent="0" marL="0">
              <a:buNone/>
            </a:pPr>
            <a:r>
              <a:rPr lang="en-US" sz="630" dirty="0">
                <a:solidFill>
                  <a:srgbClr val="94A3B8"/>
                </a:solidFill>
              </a:rPr>
              <a:t>Swagger: /docs confirms endpoints.</a:t>
            </a:r>
            <a:endParaRPr lang="en-US" sz="630" dirty="0"/>
          </a:p>
        </p:txBody>
      </p:sp>
      <p:sp>
        <p:nvSpPr>
          <p:cNvPr id="122" name="Shape 120"/>
          <p:cNvSpPr/>
          <p:nvPr/>
        </p:nvSpPr>
        <p:spPr>
          <a:xfrm>
            <a:off x="7909560" y="4919472"/>
            <a:ext cx="3246120" cy="731520"/>
          </a:xfrm>
          <a:prstGeom prst="roundRect">
            <a:avLst>
              <a:gd name="adj" fmla="val 15000"/>
            </a:avLst>
          </a:prstGeom>
          <a:solidFill>
            <a:srgbClr val="0A1226">
              <a:alpha val="96000"/>
            </a:srgbClr>
          </a:solidFill>
          <a:ln w="12700">
            <a:solidFill>
              <a:srgbClr val="22D3EE">
                <a:alpha val="50000"/>
              </a:srgbClr>
            </a:solidFill>
            <a:prstDash val="solid"/>
          </a:ln>
          <a:effectLst>
            <a:outerShdw sx="100000" sy="100000" kx="0" ky="0" algn="bl" rotWithShape="0" blurRad="25400" dist="50800" dir="2700000">
              <a:srgbClr val="000000">
                <a:alpha val="25000"/>
              </a:srgbClr>
            </a:outerShdw>
          </a:effectLst>
        </p:spPr>
      </p:sp>
      <p:sp>
        <p:nvSpPr>
          <p:cNvPr id="123" name="Text 121"/>
          <p:cNvSpPr/>
          <p:nvPr/>
        </p:nvSpPr>
        <p:spPr>
          <a:xfrm>
            <a:off x="8101584" y="5084064"/>
            <a:ext cx="822960" cy="109728"/>
          </a:xfrm>
          <a:prstGeom prst="rect">
            <a:avLst/>
          </a:prstGeom>
          <a:noFill/>
          <a:ln/>
        </p:spPr>
        <p:txBody>
          <a:bodyPr wrap="square" lIns="0" tIns="0" rIns="0" bIns="0" rtlCol="0" anchor="ctr"/>
          <a:lstStyle/>
          <a:p>
            <a:pPr indent="0" marL="0">
              <a:buNone/>
            </a:pPr>
            <a:r>
              <a:rPr lang="en-US" sz="600" b="1" dirty="0">
                <a:solidFill>
                  <a:srgbClr val="64748B"/>
                </a:solidFill>
              </a:rPr>
              <a:t>Backup plan</a:t>
            </a:r>
            <a:endParaRPr lang="en-US" sz="600" dirty="0"/>
          </a:p>
        </p:txBody>
      </p:sp>
      <p:sp>
        <p:nvSpPr>
          <p:cNvPr id="124" name="Text 122"/>
          <p:cNvSpPr/>
          <p:nvPr/>
        </p:nvSpPr>
        <p:spPr>
          <a:xfrm>
            <a:off x="8887968" y="5065776"/>
            <a:ext cx="2011680" cy="137160"/>
          </a:xfrm>
          <a:prstGeom prst="rect">
            <a:avLst/>
          </a:prstGeom>
          <a:noFill/>
          <a:ln/>
        </p:spPr>
        <p:txBody>
          <a:bodyPr wrap="square" lIns="0" tIns="0" rIns="0" bIns="0" rtlCol="0" anchor="ctr">
            <a:normAutofit/>
          </a:bodyPr>
          <a:lstStyle/>
          <a:p>
            <a:pPr indent="0" marL="0">
              <a:buNone/>
            </a:pPr>
            <a:r>
              <a:rPr lang="en-US" sz="620" dirty="0">
                <a:solidFill>
                  <a:srgbClr val="22D3EE"/>
                </a:solidFill>
              </a:rPr>
              <a:t>Use mock mode if real RPC / Slither setup fails live.</a:t>
            </a:r>
            <a:endParaRPr lang="en-US" sz="620" dirty="0"/>
          </a:p>
        </p:txBody>
      </p:sp>
      <p:sp>
        <p:nvSpPr>
          <p:cNvPr id="125" name="Shape 123"/>
          <p:cNvSpPr/>
          <p:nvPr/>
        </p:nvSpPr>
        <p:spPr>
          <a:xfrm>
            <a:off x="502920" y="6263640"/>
            <a:ext cx="1828800" cy="292608"/>
          </a:xfrm>
          <a:prstGeom prst="roundRect">
            <a:avLst>
              <a:gd name="adj" fmla="val 25000"/>
            </a:avLst>
          </a:prstGeom>
          <a:solidFill>
            <a:srgbClr val="60A5FA">
              <a:alpha val="16000"/>
            </a:srgbClr>
          </a:solidFill>
          <a:ln w="12700">
            <a:solidFill>
              <a:srgbClr val="60A5FA">
                <a:alpha val="65000"/>
              </a:srgbClr>
            </a:solidFill>
            <a:prstDash val="solid"/>
          </a:ln>
        </p:spPr>
      </p:sp>
      <p:sp>
        <p:nvSpPr>
          <p:cNvPr id="126" name="Text 124"/>
          <p:cNvSpPr/>
          <p:nvPr/>
        </p:nvSpPr>
        <p:spPr>
          <a:xfrm>
            <a:off x="612648" y="6336792"/>
            <a:ext cx="1609344" cy="146304"/>
          </a:xfrm>
          <a:prstGeom prst="rect">
            <a:avLst/>
          </a:prstGeom>
          <a:noFill/>
          <a:ln/>
        </p:spPr>
        <p:txBody>
          <a:bodyPr wrap="square" lIns="0" tIns="0" rIns="0" bIns="0" rtlCol="0" anchor="ctr">
            <a:normAutofit/>
          </a:bodyPr>
          <a:lstStyle/>
          <a:p>
            <a:pPr indent="0" marL="0">
              <a:buNone/>
            </a:pPr>
            <a:r>
              <a:rPr lang="en-US" sz="650" b="1" dirty="0">
                <a:solidFill>
                  <a:srgbClr val="60A5FA"/>
                </a:solidFill>
              </a:rPr>
              <a:t>DEMO</a:t>
            </a:r>
            <a:endParaRPr lang="en-US" sz="650" dirty="0"/>
          </a:p>
        </p:txBody>
      </p:sp>
      <p:sp>
        <p:nvSpPr>
          <p:cNvPr id="127" name="Text 125"/>
          <p:cNvSpPr/>
          <p:nvPr/>
        </p:nvSpPr>
        <p:spPr>
          <a:xfrm>
            <a:off x="2743200" y="6345936"/>
            <a:ext cx="5029200" cy="109728"/>
          </a:xfrm>
          <a:prstGeom prst="rect">
            <a:avLst/>
          </a:prstGeom>
          <a:noFill/>
          <a:ln/>
        </p:spPr>
        <p:txBody>
          <a:bodyPr wrap="square" lIns="0" tIns="0" rIns="0" bIns="0" rtlCol="0" anchor="ctr"/>
          <a:lstStyle/>
          <a:p>
            <a:pPr indent="0" marL="0">
              <a:buNone/>
            </a:pPr>
            <a:r>
              <a:rPr lang="en-US" sz="550" dirty="0">
                <a:solidFill>
                  <a:srgbClr val="64748B"/>
                </a:solidFill>
              </a:rPr>
              <a:t>SC6107 • Blockchain Development Fundamentals</a:t>
            </a:r>
            <a:endParaRPr lang="en-US" sz="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22D3EE">
              <a:alpha val="14000"/>
            </a:srgbClr>
          </a:solidFill>
          <a:ln w="12700">
            <a:solidFill>
              <a:srgbClr val="22D3EE">
                <a:alpha val="0"/>
              </a:srgbClr>
            </a:solidFill>
            <a:prstDash val="solid"/>
          </a:ln>
        </p:spPr>
      </p:sp>
      <p:sp>
        <p:nvSpPr>
          <p:cNvPr id="4" name="Shape 2"/>
          <p:cNvSpPr/>
          <p:nvPr/>
        </p:nvSpPr>
        <p:spPr>
          <a:xfrm>
            <a:off x="8686800" y="4206240"/>
            <a:ext cx="4663440" cy="4663440"/>
          </a:xfrm>
          <a:prstGeom prst="ellipse">
            <a:avLst/>
          </a:prstGeom>
          <a:solidFill>
            <a:srgbClr val="A78BFA">
              <a:alpha val="12000"/>
            </a:srgbClr>
          </a:solidFill>
          <a:ln w="12700">
            <a:solidFill>
              <a:srgbClr val="A78BFA">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Text 56"/>
          <p:cNvSpPr/>
          <p:nvPr/>
        </p:nvSpPr>
        <p:spPr>
          <a:xfrm>
            <a:off x="502920" y="320040"/>
            <a:ext cx="7589520" cy="320040"/>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4. Technical Deep Dive</a:t>
            </a:r>
            <a:endParaRPr lang="en-US" sz="1900" dirty="0"/>
          </a:p>
        </p:txBody>
      </p:sp>
      <p:sp>
        <p:nvSpPr>
          <p:cNvPr id="59" name="Text 57"/>
          <p:cNvSpPr/>
          <p:nvPr/>
        </p:nvSpPr>
        <p:spPr>
          <a:xfrm>
            <a:off x="521208" y="685800"/>
            <a:ext cx="7772400" cy="219456"/>
          </a:xfrm>
          <a:prstGeom prst="rect">
            <a:avLst/>
          </a:prstGeom>
          <a:noFill/>
          <a:ln/>
        </p:spPr>
        <p:txBody>
          <a:bodyPr wrap="square" lIns="0" tIns="0" rIns="0" bIns="0" rtlCol="0" anchor="ctr"/>
          <a:lstStyle/>
          <a:p>
            <a:pPr indent="0" marL="0">
              <a:buNone/>
            </a:pPr>
            <a:r>
              <a:rPr lang="en-US" sz="780" dirty="0">
                <a:solidFill>
                  <a:srgbClr val="94A3B8"/>
                </a:solidFill>
              </a:rPr>
              <a:t>Challenge solved • implementation snippet • gas/security consideration</a:t>
            </a:r>
            <a:endParaRPr lang="en-US" sz="780" dirty="0"/>
          </a:p>
        </p:txBody>
      </p:sp>
      <p:sp>
        <p:nvSpPr>
          <p:cNvPr id="60" name="Text 58"/>
          <p:cNvSpPr/>
          <p:nvPr/>
        </p:nvSpPr>
        <p:spPr>
          <a:xfrm>
            <a:off x="9994392" y="320040"/>
            <a:ext cx="1691640" cy="237744"/>
          </a:xfrm>
          <a:prstGeom prst="rect">
            <a:avLst/>
          </a:prstGeom>
          <a:noFill/>
          <a:ln/>
        </p:spPr>
        <p:txBody>
          <a:bodyPr wrap="square" lIns="0" tIns="0" rIns="0" bIns="0" rtlCol="0" anchor="ctr"/>
          <a:lstStyle/>
          <a:p>
            <a:pPr algn="r" indent="0" marL="0">
              <a:buNone/>
            </a:pPr>
            <a:r>
              <a:rPr lang="en-US" sz="850" b="1" dirty="0">
                <a:solidFill>
                  <a:srgbClr val="22D3EE"/>
                </a:solidFill>
              </a:rPr>
              <a:t>~1 min</a:t>
            </a:r>
            <a:endParaRPr lang="en-US" sz="850" dirty="0"/>
          </a:p>
        </p:txBody>
      </p:sp>
      <p:sp>
        <p:nvSpPr>
          <p:cNvPr id="61" name="Text 59"/>
          <p:cNvSpPr/>
          <p:nvPr/>
        </p:nvSpPr>
        <p:spPr>
          <a:xfrm>
            <a:off x="685800" y="1078992"/>
            <a:ext cx="7863840" cy="228600"/>
          </a:xfrm>
          <a:prstGeom prst="rect">
            <a:avLst/>
          </a:prstGeom>
          <a:noFill/>
          <a:ln/>
        </p:spPr>
        <p:txBody>
          <a:bodyPr wrap="square" lIns="0" tIns="0" rIns="0" bIns="0" rtlCol="0" anchor="ctr">
            <a:normAutofit/>
          </a:bodyPr>
          <a:lstStyle/>
          <a:p>
            <a:pPr indent="0" marL="0">
              <a:buNone/>
            </a:pPr>
            <a:r>
              <a:rPr lang="en-US" sz="1500" b="1" dirty="0">
                <a:solidFill>
                  <a:srgbClr val="FFFFFF"/>
                </a:solidFill>
              </a:rPr>
              <a:t>Challenge: normalize noisy low-level tooling into a stable UI contract</a:t>
            </a:r>
            <a:endParaRPr lang="en-US" sz="1500" dirty="0"/>
          </a:p>
        </p:txBody>
      </p:sp>
      <p:sp>
        <p:nvSpPr>
          <p:cNvPr id="62" name="Text 60"/>
          <p:cNvSpPr/>
          <p:nvPr/>
        </p:nvSpPr>
        <p:spPr>
          <a:xfrm>
            <a:off x="685800" y="1435608"/>
            <a:ext cx="8503920" cy="310896"/>
          </a:xfrm>
          <a:prstGeom prst="rect">
            <a:avLst/>
          </a:prstGeom>
          <a:noFill/>
          <a:ln/>
        </p:spPr>
        <p:txBody>
          <a:bodyPr wrap="square" lIns="0" tIns="0" rIns="0" bIns="0" rtlCol="0" anchor="ctr">
            <a:normAutofit/>
          </a:bodyPr>
          <a:lstStyle/>
          <a:p>
            <a:pPr indent="0" marL="0">
              <a:buNone/>
            </a:pPr>
            <a:r>
              <a:rPr lang="en-US" sz="900" dirty="0">
                <a:solidFill>
                  <a:srgbClr val="94A3B8"/>
                </a:solidFill>
              </a:rPr>
              <a:t>Raw RPC traces and Slither reports are detailed but inconsistent for users. We convert them into deterministic JSON schemas that the frontend can render safely.</a:t>
            </a:r>
            <a:endParaRPr lang="en-US" sz="900" dirty="0"/>
          </a:p>
        </p:txBody>
      </p:sp>
      <p:sp>
        <p:nvSpPr>
          <p:cNvPr id="63" name="Shape 61"/>
          <p:cNvSpPr/>
          <p:nvPr/>
        </p:nvSpPr>
        <p:spPr>
          <a:xfrm>
            <a:off x="685800" y="2011680"/>
            <a:ext cx="4800600" cy="3547872"/>
          </a:xfrm>
          <a:prstGeom prst="roundRect">
            <a:avLst>
              <a:gd name="adj" fmla="val 3093"/>
            </a:avLst>
          </a:prstGeom>
          <a:solidFill>
            <a:srgbClr val="050816">
              <a:alpha val="96000"/>
            </a:srgbClr>
          </a:solidFill>
          <a:ln w="12700">
            <a:solidFill>
              <a:srgbClr val="334155">
                <a:alpha val="80000"/>
              </a:srgbClr>
            </a:solidFill>
            <a:prstDash val="solid"/>
          </a:ln>
          <a:effectLst>
            <a:outerShdw sx="100000" sy="100000" kx="0" ky="0" algn="bl" rotWithShape="0" blurRad="25400" dist="50800" dir="2700000">
              <a:srgbClr val="000000">
                <a:alpha val="25000"/>
              </a:srgbClr>
            </a:outerShdw>
          </a:effectLst>
        </p:spPr>
      </p:sp>
      <p:sp>
        <p:nvSpPr>
          <p:cNvPr id="64" name="Shape 62"/>
          <p:cNvSpPr/>
          <p:nvPr/>
        </p:nvSpPr>
        <p:spPr>
          <a:xfrm>
            <a:off x="795528" y="2112264"/>
            <a:ext cx="137160" cy="137160"/>
          </a:xfrm>
          <a:prstGeom prst="roundRect">
            <a:avLst/>
          </a:prstGeom>
          <a:solidFill>
            <a:srgbClr val="FB7185"/>
          </a:solidFill>
          <a:ln w="12700">
            <a:solidFill>
              <a:srgbClr val="FB7185"/>
            </a:solidFill>
            <a:prstDash val="solid"/>
          </a:ln>
        </p:spPr>
      </p:sp>
      <p:sp>
        <p:nvSpPr>
          <p:cNvPr id="65" name="Shape 63"/>
          <p:cNvSpPr/>
          <p:nvPr/>
        </p:nvSpPr>
        <p:spPr>
          <a:xfrm>
            <a:off x="987552" y="2112264"/>
            <a:ext cx="137160" cy="137160"/>
          </a:xfrm>
          <a:prstGeom prst="roundRect">
            <a:avLst/>
          </a:prstGeom>
          <a:solidFill>
            <a:srgbClr val="FBBF24"/>
          </a:solidFill>
          <a:ln w="12700">
            <a:solidFill>
              <a:srgbClr val="FBBF24"/>
            </a:solidFill>
            <a:prstDash val="solid"/>
          </a:ln>
        </p:spPr>
      </p:sp>
      <p:sp>
        <p:nvSpPr>
          <p:cNvPr id="66" name="Shape 64"/>
          <p:cNvSpPr/>
          <p:nvPr/>
        </p:nvSpPr>
        <p:spPr>
          <a:xfrm>
            <a:off x="1179576" y="2112264"/>
            <a:ext cx="137160" cy="137160"/>
          </a:xfrm>
          <a:prstGeom prst="roundRect">
            <a:avLst/>
          </a:prstGeom>
          <a:solidFill>
            <a:srgbClr val="34D399"/>
          </a:solidFill>
          <a:ln w="12700">
            <a:solidFill>
              <a:srgbClr val="34D399"/>
            </a:solidFill>
            <a:prstDash val="solid"/>
          </a:ln>
        </p:spPr>
      </p:sp>
      <p:sp>
        <p:nvSpPr>
          <p:cNvPr id="67" name="Text 65"/>
          <p:cNvSpPr/>
          <p:nvPr/>
        </p:nvSpPr>
        <p:spPr>
          <a:xfrm>
            <a:off x="841248" y="2359152"/>
            <a:ext cx="4489704" cy="3108960"/>
          </a:xfrm>
          <a:prstGeom prst="rect">
            <a:avLst/>
          </a:prstGeom>
          <a:noFill/>
          <a:ln/>
        </p:spPr>
        <p:txBody>
          <a:bodyPr wrap="square" lIns="254" tIns="254" rIns="254" bIns="254" rtlCol="0" anchor="ctr">
            <a:normAutofit/>
          </a:bodyPr>
          <a:lstStyle/>
          <a:p>
            <a:pPr indent="0" marL="0">
              <a:buNone/>
            </a:pPr>
            <a:r>
              <a:rPr lang="en-US" sz="620" dirty="0">
                <a:solidFill>
                  <a:srgbClr val="CBD5E1"/>
                </a:solidFill>
                <a:latin typeface="Cascadia Code" pitchFamily="34" charset="0"/>
                <a:ea typeface="Cascadia Code" pitchFamily="34" charset="-122"/>
                <a:cs typeface="Cascadia Code" pitchFamily="34" charset="-120"/>
              </a:rPr>
              <a:t>DETECTOR_TYPE_MAP = {</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"reentrancy-*": "Reentrancy",</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"unchecked-lowlevel": "Unchecked External Call",</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"tx-origin": "Access Control Issue",</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a:t>
            </a:r>
            <a:endParaRPr lang="en-US" sz="620" dirty="0"/>
          </a:p>
          <a:p>
            <a:pPr indent="0" marL="0">
              <a:buNone/>
            </a:pP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vulns.sort(key=lambda v: (</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_SEVERITY_ORDER.get(v.severity, 99),</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v.line if v.line is not None else 10**6,</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v.type,</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for index, vuln in enumerate(vulns, start=1):</a:t>
            </a:r>
            <a:endParaRPr lang="en-US" sz="620" dirty="0"/>
          </a:p>
          <a:p>
            <a:pPr indent="0" marL="0">
              <a:buNone/>
            </a:pPr>
            <a:r>
              <a:rPr lang="en-US" sz="620" dirty="0">
                <a:solidFill>
                  <a:srgbClr val="CBD5E1"/>
                </a:solidFill>
                <a:latin typeface="Cascadia Code" pitchFamily="34" charset="0"/>
                <a:ea typeface="Cascadia Code" pitchFamily="34" charset="-122"/>
                <a:cs typeface="Cascadia Code" pitchFamily="34" charset="-120"/>
              </a:rPr>
              <a:t>  vuln.id = f"ERR-{index:03d}"</a:t>
            </a:r>
            <a:endParaRPr lang="en-US" sz="620" dirty="0"/>
          </a:p>
        </p:txBody>
      </p:sp>
      <p:sp>
        <p:nvSpPr>
          <p:cNvPr id="68" name="Shape 66"/>
          <p:cNvSpPr/>
          <p:nvPr/>
        </p:nvSpPr>
        <p:spPr>
          <a:xfrm>
            <a:off x="5925312" y="2048256"/>
            <a:ext cx="1554480" cy="585216"/>
          </a:xfrm>
          <a:prstGeom prst="roundRect">
            <a:avLst>
              <a:gd name="adj" fmla="val 18750"/>
            </a:avLst>
          </a:prstGeom>
          <a:solidFill>
            <a:srgbClr val="0B1224">
              <a:alpha val="96000"/>
            </a:srgbClr>
          </a:solidFill>
          <a:ln w="12700">
            <a:solidFill>
              <a:srgbClr val="FB7185">
                <a:alpha val="90000"/>
              </a:srgbClr>
            </a:solidFill>
            <a:prstDash val="solid"/>
          </a:ln>
          <a:effectLst>
            <a:outerShdw sx="100000" sy="100000" kx="0" ky="0" algn="bl" rotWithShape="0" blurRad="25400" dist="50800" dir="2700000">
              <a:srgbClr val="000000">
                <a:alpha val="25000"/>
              </a:srgbClr>
            </a:outerShdw>
          </a:effectLst>
        </p:spPr>
      </p:sp>
      <p:sp>
        <p:nvSpPr>
          <p:cNvPr id="69" name="Text 67"/>
          <p:cNvSpPr/>
          <p:nvPr/>
        </p:nvSpPr>
        <p:spPr>
          <a:xfrm>
            <a:off x="6053328" y="2157984"/>
            <a:ext cx="129844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Slither JSON</a:t>
            </a:r>
            <a:endParaRPr lang="en-US" sz="920" dirty="0"/>
          </a:p>
        </p:txBody>
      </p:sp>
      <p:sp>
        <p:nvSpPr>
          <p:cNvPr id="70" name="Text 68"/>
          <p:cNvSpPr/>
          <p:nvPr/>
        </p:nvSpPr>
        <p:spPr>
          <a:xfrm>
            <a:off x="6053328" y="2459736"/>
            <a:ext cx="1298448" cy="82296"/>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detectors[]</a:t>
            </a:r>
            <a:endParaRPr lang="en-US" sz="650" dirty="0"/>
          </a:p>
        </p:txBody>
      </p:sp>
      <p:sp>
        <p:nvSpPr>
          <p:cNvPr id="71" name="Shape 69"/>
          <p:cNvSpPr/>
          <p:nvPr/>
        </p:nvSpPr>
        <p:spPr>
          <a:xfrm>
            <a:off x="7918704" y="2048256"/>
            <a:ext cx="1554480" cy="585216"/>
          </a:xfrm>
          <a:prstGeom prst="roundRect">
            <a:avLst>
              <a:gd name="adj" fmla="val 18750"/>
            </a:avLst>
          </a:prstGeom>
          <a:solidFill>
            <a:srgbClr val="0B1224">
              <a:alpha val="96000"/>
            </a:srgbClr>
          </a:solidFill>
          <a:ln w="12700">
            <a:solidFill>
              <a:srgbClr val="22D3EE">
                <a:alpha val="90000"/>
              </a:srgbClr>
            </a:solidFill>
            <a:prstDash val="solid"/>
          </a:ln>
          <a:effectLst>
            <a:outerShdw sx="100000" sy="100000" kx="0" ky="0" algn="bl" rotWithShape="0" blurRad="25400" dist="50800" dir="2700000">
              <a:srgbClr val="000000">
                <a:alpha val="25000"/>
              </a:srgbClr>
            </a:outerShdw>
          </a:effectLst>
        </p:spPr>
      </p:sp>
      <p:sp>
        <p:nvSpPr>
          <p:cNvPr id="72" name="Text 70"/>
          <p:cNvSpPr/>
          <p:nvPr/>
        </p:nvSpPr>
        <p:spPr>
          <a:xfrm>
            <a:off x="8046720" y="2157984"/>
            <a:ext cx="129844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Normalizer</a:t>
            </a:r>
            <a:endParaRPr lang="en-US" sz="920" dirty="0"/>
          </a:p>
        </p:txBody>
      </p:sp>
      <p:sp>
        <p:nvSpPr>
          <p:cNvPr id="73" name="Text 71"/>
          <p:cNvSpPr/>
          <p:nvPr/>
        </p:nvSpPr>
        <p:spPr>
          <a:xfrm>
            <a:off x="8046720" y="2459736"/>
            <a:ext cx="1298448" cy="82296"/>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type / severity / line</a:t>
            </a:r>
            <a:endParaRPr lang="en-US" sz="650" dirty="0"/>
          </a:p>
        </p:txBody>
      </p:sp>
      <p:sp>
        <p:nvSpPr>
          <p:cNvPr id="74" name="Shape 72"/>
          <p:cNvSpPr/>
          <p:nvPr/>
        </p:nvSpPr>
        <p:spPr>
          <a:xfrm>
            <a:off x="9912096" y="2048256"/>
            <a:ext cx="1554480" cy="585216"/>
          </a:xfrm>
          <a:prstGeom prst="roundRect">
            <a:avLst>
              <a:gd name="adj" fmla="val 18750"/>
            </a:avLst>
          </a:prstGeom>
          <a:solidFill>
            <a:srgbClr val="0B1224">
              <a:alpha val="96000"/>
            </a:srgbClr>
          </a:solidFill>
          <a:ln w="12700">
            <a:solidFill>
              <a:srgbClr val="34D399">
                <a:alpha val="90000"/>
              </a:srgbClr>
            </a:solidFill>
            <a:prstDash val="solid"/>
          </a:ln>
          <a:effectLst>
            <a:outerShdw sx="100000" sy="100000" kx="0" ky="0" algn="bl" rotWithShape="0" blurRad="25400" dist="50800" dir="2700000">
              <a:srgbClr val="000000">
                <a:alpha val="25000"/>
              </a:srgbClr>
            </a:outerShdw>
          </a:effectLst>
        </p:spPr>
      </p:sp>
      <p:sp>
        <p:nvSpPr>
          <p:cNvPr id="75" name="Text 73"/>
          <p:cNvSpPr/>
          <p:nvPr/>
        </p:nvSpPr>
        <p:spPr>
          <a:xfrm>
            <a:off x="10040112" y="2157984"/>
            <a:ext cx="1298448" cy="201168"/>
          </a:xfrm>
          <a:prstGeom prst="rect">
            <a:avLst/>
          </a:prstGeom>
          <a:noFill/>
          <a:ln/>
        </p:spPr>
        <p:txBody>
          <a:bodyPr wrap="square" lIns="0" tIns="0" rIns="0" bIns="0" rtlCol="0" anchor="ctr">
            <a:normAutofit/>
          </a:bodyPr>
          <a:lstStyle/>
          <a:p>
            <a:pPr algn="ctr" indent="0" marL="0">
              <a:buNone/>
            </a:pPr>
            <a:r>
              <a:rPr lang="en-US" sz="920" b="1" dirty="0">
                <a:solidFill>
                  <a:srgbClr val="FFFFFF"/>
                </a:solidFill>
              </a:rPr>
              <a:t>Frontend</a:t>
            </a:r>
            <a:endParaRPr lang="en-US" sz="920" dirty="0"/>
          </a:p>
        </p:txBody>
      </p:sp>
      <p:sp>
        <p:nvSpPr>
          <p:cNvPr id="76" name="Text 74"/>
          <p:cNvSpPr/>
          <p:nvPr/>
        </p:nvSpPr>
        <p:spPr>
          <a:xfrm>
            <a:off x="10040112" y="2459736"/>
            <a:ext cx="1298448" cy="82296"/>
          </a:xfrm>
          <a:prstGeom prst="rect">
            <a:avLst/>
          </a:prstGeom>
          <a:noFill/>
          <a:ln/>
        </p:spPr>
        <p:txBody>
          <a:bodyPr wrap="square" lIns="127" tIns="127" rIns="127" bIns="127" rtlCol="0" anchor="ctr">
            <a:normAutofit/>
          </a:bodyPr>
          <a:lstStyle/>
          <a:p>
            <a:pPr algn="ctr" indent="0" marL="0">
              <a:buNone/>
            </a:pPr>
            <a:r>
              <a:rPr lang="en-US" sz="650" dirty="0">
                <a:solidFill>
                  <a:srgbClr val="94A3B8"/>
                </a:solidFill>
              </a:rPr>
              <a:t>stable findings table</a:t>
            </a:r>
            <a:endParaRPr lang="en-US" sz="650" dirty="0"/>
          </a:p>
        </p:txBody>
      </p:sp>
      <p:sp>
        <p:nvSpPr>
          <p:cNvPr id="77" name="Shape 75"/>
          <p:cNvSpPr/>
          <p:nvPr/>
        </p:nvSpPr>
        <p:spPr>
          <a:xfrm>
            <a:off x="7479792" y="2340864"/>
            <a:ext cx="438912" cy="0"/>
          </a:xfrm>
          <a:prstGeom prst="line">
            <a:avLst/>
          </a:prstGeom>
          <a:noFill/>
          <a:ln w="17780">
            <a:solidFill>
              <a:srgbClr val="FB7185"/>
            </a:solidFill>
            <a:prstDash val="solid"/>
            <a:headEnd type="none"/>
            <a:tailEnd type="triangle"/>
          </a:ln>
        </p:spPr>
      </p:sp>
      <p:sp>
        <p:nvSpPr>
          <p:cNvPr id="78" name="Shape 76"/>
          <p:cNvSpPr/>
          <p:nvPr/>
        </p:nvSpPr>
        <p:spPr>
          <a:xfrm>
            <a:off x="9473184" y="2340864"/>
            <a:ext cx="438912" cy="0"/>
          </a:xfrm>
          <a:prstGeom prst="line">
            <a:avLst/>
          </a:prstGeom>
          <a:noFill/>
          <a:ln w="17780">
            <a:solidFill>
              <a:srgbClr val="22D3EE"/>
            </a:solidFill>
            <a:prstDash val="solid"/>
            <a:headEnd type="none"/>
            <a:tailEnd type="triangle"/>
          </a:ln>
        </p:spPr>
      </p:sp>
      <p:sp>
        <p:nvSpPr>
          <p:cNvPr id="79" name="Shape 77"/>
          <p:cNvSpPr/>
          <p:nvPr/>
        </p:nvSpPr>
        <p:spPr>
          <a:xfrm>
            <a:off x="5943600" y="2999232"/>
            <a:ext cx="2377440" cy="1078992"/>
          </a:xfrm>
          <a:prstGeom prst="roundRect">
            <a:avLst>
              <a:gd name="adj" fmla="val 10169"/>
            </a:avLst>
          </a:prstGeom>
          <a:solidFill>
            <a:srgbClr val="0F172A">
              <a:alpha val="96000"/>
            </a:srgbClr>
          </a:solidFill>
          <a:ln w="12700">
            <a:solidFill>
              <a:srgbClr val="FB7185">
                <a:alpha val="80000"/>
              </a:srgbClr>
            </a:solidFill>
            <a:prstDash val="solid"/>
          </a:ln>
          <a:effectLst>
            <a:outerShdw sx="100000" sy="100000" kx="0" ky="0" algn="bl" rotWithShape="0" blurRad="25400" dist="50800" dir="2700000">
              <a:srgbClr val="000000">
                <a:alpha val="25000"/>
              </a:srgbClr>
            </a:outerShdw>
          </a:effectLst>
        </p:spPr>
      </p:sp>
      <p:sp>
        <p:nvSpPr>
          <p:cNvPr id="80" name="Shape 78"/>
          <p:cNvSpPr/>
          <p:nvPr/>
        </p:nvSpPr>
        <p:spPr>
          <a:xfrm>
            <a:off x="5943600" y="2999232"/>
            <a:ext cx="54864" cy="1078992"/>
          </a:xfrm>
          <a:prstGeom prst="rect">
            <a:avLst/>
          </a:prstGeom>
          <a:solidFill>
            <a:srgbClr val="FB7185"/>
          </a:solidFill>
          <a:ln w="12700">
            <a:solidFill>
              <a:srgbClr val="FB7185"/>
            </a:solidFill>
            <a:prstDash val="solid"/>
          </a:ln>
        </p:spPr>
      </p:sp>
      <p:sp>
        <p:nvSpPr>
          <p:cNvPr id="81" name="Text 79"/>
          <p:cNvSpPr/>
          <p:nvPr/>
        </p:nvSpPr>
        <p:spPr>
          <a:xfrm>
            <a:off x="6108192" y="3127248"/>
            <a:ext cx="212140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Security decision</a:t>
            </a:r>
            <a:endParaRPr lang="en-US" sz="1000" dirty="0"/>
          </a:p>
        </p:txBody>
      </p:sp>
      <p:sp>
        <p:nvSpPr>
          <p:cNvPr id="82" name="Text 80"/>
          <p:cNvSpPr/>
          <p:nvPr/>
        </p:nvSpPr>
        <p:spPr>
          <a:xfrm>
            <a:off x="6108192" y="3447288"/>
            <a:ext cx="2048256" cy="512064"/>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Failures are returned as structured data, not broken responses. Missing solc versions produce actionable install hints.</a:t>
            </a:r>
            <a:endParaRPr lang="en-US" sz="850" dirty="0"/>
          </a:p>
        </p:txBody>
      </p:sp>
      <p:sp>
        <p:nvSpPr>
          <p:cNvPr id="83" name="Shape 81"/>
          <p:cNvSpPr/>
          <p:nvPr/>
        </p:nvSpPr>
        <p:spPr>
          <a:xfrm>
            <a:off x="8558784" y="2999232"/>
            <a:ext cx="2377440" cy="1078992"/>
          </a:xfrm>
          <a:prstGeom prst="roundRect">
            <a:avLst>
              <a:gd name="adj" fmla="val 10169"/>
            </a:avLst>
          </a:prstGeom>
          <a:solidFill>
            <a:srgbClr val="0F172A">
              <a:alpha val="96000"/>
            </a:srgbClr>
          </a:solidFill>
          <a:ln w="12700">
            <a:solidFill>
              <a:srgbClr val="FBBF24">
                <a:alpha val="80000"/>
              </a:srgbClr>
            </a:solidFill>
            <a:prstDash val="solid"/>
          </a:ln>
          <a:effectLst>
            <a:outerShdw sx="100000" sy="100000" kx="0" ky="0" algn="bl" rotWithShape="0" blurRad="25400" dist="50800" dir="2700000">
              <a:srgbClr val="000000">
                <a:alpha val="25000"/>
              </a:srgbClr>
            </a:outerShdw>
          </a:effectLst>
        </p:spPr>
      </p:sp>
      <p:sp>
        <p:nvSpPr>
          <p:cNvPr id="84" name="Shape 82"/>
          <p:cNvSpPr/>
          <p:nvPr/>
        </p:nvSpPr>
        <p:spPr>
          <a:xfrm>
            <a:off x="8558784" y="2999232"/>
            <a:ext cx="54864" cy="1078992"/>
          </a:xfrm>
          <a:prstGeom prst="rect">
            <a:avLst/>
          </a:prstGeom>
          <a:solidFill>
            <a:srgbClr val="FBBF24"/>
          </a:solidFill>
          <a:ln w="12700">
            <a:solidFill>
              <a:srgbClr val="FBBF24"/>
            </a:solidFill>
            <a:prstDash val="solid"/>
          </a:ln>
        </p:spPr>
      </p:sp>
      <p:sp>
        <p:nvSpPr>
          <p:cNvPr id="85" name="Text 83"/>
          <p:cNvSpPr/>
          <p:nvPr/>
        </p:nvSpPr>
        <p:spPr>
          <a:xfrm>
            <a:off x="8723376" y="3127248"/>
            <a:ext cx="212140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Gas decision</a:t>
            </a:r>
            <a:endParaRPr lang="en-US" sz="1000" dirty="0"/>
          </a:p>
        </p:txBody>
      </p:sp>
      <p:sp>
        <p:nvSpPr>
          <p:cNvPr id="86" name="Text 84"/>
          <p:cNvSpPr/>
          <p:nvPr/>
        </p:nvSpPr>
        <p:spPr>
          <a:xfrm>
            <a:off x="8723376" y="3447288"/>
            <a:ext cx="2048256" cy="512064"/>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Opcode hotspots are translated into clear advice, e.g., storage ops → cache / batch writes.</a:t>
            </a:r>
            <a:endParaRPr lang="en-US" sz="850" dirty="0"/>
          </a:p>
        </p:txBody>
      </p:sp>
      <p:sp>
        <p:nvSpPr>
          <p:cNvPr id="87" name="Shape 85"/>
          <p:cNvSpPr/>
          <p:nvPr/>
        </p:nvSpPr>
        <p:spPr>
          <a:xfrm>
            <a:off x="5943600" y="4370832"/>
            <a:ext cx="2377440" cy="1078992"/>
          </a:xfrm>
          <a:prstGeom prst="roundRect">
            <a:avLst>
              <a:gd name="adj" fmla="val 10169"/>
            </a:avLst>
          </a:prstGeom>
          <a:solidFill>
            <a:srgbClr val="0F172A">
              <a:alpha val="96000"/>
            </a:srgbClr>
          </a:solidFill>
          <a:ln w="12700">
            <a:solidFill>
              <a:srgbClr val="22D3EE">
                <a:alpha val="80000"/>
              </a:srgbClr>
            </a:solidFill>
            <a:prstDash val="solid"/>
          </a:ln>
          <a:effectLst>
            <a:outerShdw sx="100000" sy="100000" kx="0" ky="0" algn="bl" rotWithShape="0" blurRad="25400" dist="50800" dir="2700000">
              <a:srgbClr val="000000">
                <a:alpha val="25000"/>
              </a:srgbClr>
            </a:outerShdw>
          </a:effectLst>
        </p:spPr>
      </p:sp>
      <p:sp>
        <p:nvSpPr>
          <p:cNvPr id="88" name="Shape 86"/>
          <p:cNvSpPr/>
          <p:nvPr/>
        </p:nvSpPr>
        <p:spPr>
          <a:xfrm>
            <a:off x="5943600" y="4370832"/>
            <a:ext cx="54864" cy="1078992"/>
          </a:xfrm>
          <a:prstGeom prst="rect">
            <a:avLst/>
          </a:prstGeom>
          <a:solidFill>
            <a:srgbClr val="22D3EE"/>
          </a:solidFill>
          <a:ln w="12700">
            <a:solidFill>
              <a:srgbClr val="22D3EE"/>
            </a:solidFill>
            <a:prstDash val="solid"/>
          </a:ln>
        </p:spPr>
      </p:sp>
      <p:sp>
        <p:nvSpPr>
          <p:cNvPr id="89" name="Text 87"/>
          <p:cNvSpPr/>
          <p:nvPr/>
        </p:nvSpPr>
        <p:spPr>
          <a:xfrm>
            <a:off x="6108192" y="4498848"/>
            <a:ext cx="212140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Reliability decision</a:t>
            </a:r>
            <a:endParaRPr lang="en-US" sz="1000" dirty="0"/>
          </a:p>
        </p:txBody>
      </p:sp>
      <p:sp>
        <p:nvSpPr>
          <p:cNvPr id="90" name="Text 88"/>
          <p:cNvSpPr/>
          <p:nvPr/>
        </p:nvSpPr>
        <p:spPr>
          <a:xfrm>
            <a:off x="6108192" y="4818888"/>
            <a:ext cx="2048256" cy="512064"/>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Mock-first API switch avoids integration drift while preserving the same typed interface.</a:t>
            </a:r>
            <a:endParaRPr lang="en-US" sz="850" dirty="0"/>
          </a:p>
        </p:txBody>
      </p:sp>
      <p:sp>
        <p:nvSpPr>
          <p:cNvPr id="91" name="Shape 89"/>
          <p:cNvSpPr/>
          <p:nvPr/>
        </p:nvSpPr>
        <p:spPr>
          <a:xfrm>
            <a:off x="8558784" y="4370832"/>
            <a:ext cx="2377440" cy="1078992"/>
          </a:xfrm>
          <a:prstGeom prst="roundRect">
            <a:avLst>
              <a:gd name="adj" fmla="val 10169"/>
            </a:avLst>
          </a:prstGeom>
          <a:solidFill>
            <a:srgbClr val="0F172A">
              <a:alpha val="96000"/>
            </a:srgbClr>
          </a:solidFill>
          <a:ln w="12700">
            <a:solidFill>
              <a:srgbClr val="34D399">
                <a:alpha val="80000"/>
              </a:srgbClr>
            </a:solidFill>
            <a:prstDash val="solid"/>
          </a:ln>
          <a:effectLst>
            <a:outerShdw sx="100000" sy="100000" kx="0" ky="0" algn="bl" rotWithShape="0" blurRad="25400" dist="50800" dir="2700000">
              <a:srgbClr val="000000">
                <a:alpha val="25000"/>
              </a:srgbClr>
            </a:outerShdw>
          </a:effectLst>
        </p:spPr>
      </p:sp>
      <p:sp>
        <p:nvSpPr>
          <p:cNvPr id="92" name="Shape 90"/>
          <p:cNvSpPr/>
          <p:nvPr/>
        </p:nvSpPr>
        <p:spPr>
          <a:xfrm>
            <a:off x="8558784" y="4370832"/>
            <a:ext cx="54864" cy="1078992"/>
          </a:xfrm>
          <a:prstGeom prst="rect">
            <a:avLst/>
          </a:prstGeom>
          <a:solidFill>
            <a:srgbClr val="34D399"/>
          </a:solidFill>
          <a:ln w="12700">
            <a:solidFill>
              <a:srgbClr val="34D399"/>
            </a:solidFill>
            <a:prstDash val="solid"/>
          </a:ln>
        </p:spPr>
      </p:sp>
      <p:sp>
        <p:nvSpPr>
          <p:cNvPr id="93" name="Text 91"/>
          <p:cNvSpPr/>
          <p:nvPr/>
        </p:nvSpPr>
        <p:spPr>
          <a:xfrm>
            <a:off x="8723376" y="4498848"/>
            <a:ext cx="212140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rPr>
              <a:t>Performance decision</a:t>
            </a:r>
            <a:endParaRPr lang="en-US" sz="1000" dirty="0"/>
          </a:p>
        </p:txBody>
      </p:sp>
      <p:sp>
        <p:nvSpPr>
          <p:cNvPr id="94" name="Text 92"/>
          <p:cNvSpPr/>
          <p:nvPr/>
        </p:nvSpPr>
        <p:spPr>
          <a:xfrm>
            <a:off x="8723376" y="4818888"/>
            <a:ext cx="2048256" cy="512064"/>
          </a:xfrm>
          <a:prstGeom prst="rect">
            <a:avLst/>
          </a:prstGeom>
          <a:noFill/>
          <a:ln/>
        </p:spPr>
        <p:txBody>
          <a:bodyPr wrap="square" lIns="254" tIns="254" rIns="254" bIns="254" rtlCol="0" anchor="ctr">
            <a:normAutofit/>
          </a:bodyPr>
          <a:lstStyle/>
          <a:p>
            <a:pPr indent="0" marL="0">
              <a:buNone/>
            </a:pPr>
            <a:r>
              <a:rPr lang="en-US" sz="850" dirty="0">
                <a:solidFill>
                  <a:srgbClr val="94A3B8"/>
                </a:solidFill>
              </a:rPr>
              <a:t>LRU cache shares trace data across trace and gas-state endpoints for repeated tx hashes.</a:t>
            </a:r>
            <a:endParaRPr lang="en-US" sz="850" dirty="0"/>
          </a:p>
        </p:txBody>
      </p:sp>
      <p:sp>
        <p:nvSpPr>
          <p:cNvPr id="95" name="Shape 93"/>
          <p:cNvSpPr/>
          <p:nvPr/>
        </p:nvSpPr>
        <p:spPr>
          <a:xfrm>
            <a:off x="502920" y="6263640"/>
            <a:ext cx="1828800" cy="292608"/>
          </a:xfrm>
          <a:prstGeom prst="roundRect">
            <a:avLst>
              <a:gd name="adj" fmla="val 25000"/>
            </a:avLst>
          </a:prstGeom>
          <a:solidFill>
            <a:srgbClr val="60A5FA">
              <a:alpha val="16000"/>
            </a:srgbClr>
          </a:solidFill>
          <a:ln w="12700">
            <a:solidFill>
              <a:srgbClr val="60A5FA">
                <a:alpha val="65000"/>
              </a:srgbClr>
            </a:solidFill>
            <a:prstDash val="solid"/>
          </a:ln>
        </p:spPr>
      </p:sp>
      <p:sp>
        <p:nvSpPr>
          <p:cNvPr id="96" name="Text 94"/>
          <p:cNvSpPr/>
          <p:nvPr/>
        </p:nvSpPr>
        <p:spPr>
          <a:xfrm>
            <a:off x="612648" y="6336792"/>
            <a:ext cx="1609344" cy="146304"/>
          </a:xfrm>
          <a:prstGeom prst="rect">
            <a:avLst/>
          </a:prstGeom>
          <a:noFill/>
          <a:ln/>
        </p:spPr>
        <p:txBody>
          <a:bodyPr wrap="square" lIns="0" tIns="0" rIns="0" bIns="0" rtlCol="0" anchor="ctr">
            <a:normAutofit/>
          </a:bodyPr>
          <a:lstStyle/>
          <a:p>
            <a:pPr indent="0" marL="0">
              <a:buNone/>
            </a:pPr>
            <a:r>
              <a:rPr lang="en-US" sz="650" b="1" dirty="0">
                <a:solidFill>
                  <a:srgbClr val="60A5FA"/>
                </a:solidFill>
              </a:rPr>
              <a:t>DEEP DIVE</a:t>
            </a:r>
            <a:endParaRPr lang="en-US" sz="650" dirty="0"/>
          </a:p>
        </p:txBody>
      </p:sp>
      <p:sp>
        <p:nvSpPr>
          <p:cNvPr id="97" name="Text 95"/>
          <p:cNvSpPr/>
          <p:nvPr/>
        </p:nvSpPr>
        <p:spPr>
          <a:xfrm>
            <a:off x="2743200" y="6345936"/>
            <a:ext cx="5029200" cy="109728"/>
          </a:xfrm>
          <a:prstGeom prst="rect">
            <a:avLst/>
          </a:prstGeom>
          <a:noFill/>
          <a:ln/>
        </p:spPr>
        <p:txBody>
          <a:bodyPr wrap="square" lIns="0" tIns="0" rIns="0" bIns="0" rtlCol="0" anchor="ctr"/>
          <a:lstStyle/>
          <a:p>
            <a:pPr indent="0" marL="0">
              <a:buNone/>
            </a:pPr>
            <a:r>
              <a:rPr lang="en-US" sz="550" dirty="0">
                <a:solidFill>
                  <a:srgbClr val="64748B"/>
                </a:solidFill>
              </a:rPr>
              <a:t>SC6107 • Blockchain Development Fundamentals</a:t>
            </a:r>
            <a:endParaRPr lang="en-US" sz="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22D3EE">
              <a:alpha val="14000"/>
            </a:srgbClr>
          </a:solidFill>
          <a:ln w="12700">
            <a:solidFill>
              <a:srgbClr val="22D3EE">
                <a:alpha val="0"/>
              </a:srgbClr>
            </a:solidFill>
            <a:prstDash val="solid"/>
          </a:ln>
        </p:spPr>
      </p:sp>
      <p:sp>
        <p:nvSpPr>
          <p:cNvPr id="4" name="Shape 2"/>
          <p:cNvSpPr/>
          <p:nvPr/>
        </p:nvSpPr>
        <p:spPr>
          <a:xfrm>
            <a:off x="8686800" y="4206240"/>
            <a:ext cx="4663440" cy="4663440"/>
          </a:xfrm>
          <a:prstGeom prst="ellipse">
            <a:avLst/>
          </a:prstGeom>
          <a:solidFill>
            <a:srgbClr val="34D399">
              <a:alpha val="12000"/>
            </a:srgbClr>
          </a:solidFill>
          <a:ln w="12700">
            <a:solidFill>
              <a:srgbClr val="34D399">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Text 56"/>
          <p:cNvSpPr/>
          <p:nvPr/>
        </p:nvSpPr>
        <p:spPr>
          <a:xfrm>
            <a:off x="502920" y="320040"/>
            <a:ext cx="7589520" cy="320040"/>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5. Results &amp; Reflection</a:t>
            </a:r>
            <a:endParaRPr lang="en-US" sz="1900" dirty="0"/>
          </a:p>
        </p:txBody>
      </p:sp>
      <p:sp>
        <p:nvSpPr>
          <p:cNvPr id="59" name="Text 57"/>
          <p:cNvSpPr/>
          <p:nvPr/>
        </p:nvSpPr>
        <p:spPr>
          <a:xfrm>
            <a:off x="521208" y="685800"/>
            <a:ext cx="7772400" cy="219456"/>
          </a:xfrm>
          <a:prstGeom prst="rect">
            <a:avLst/>
          </a:prstGeom>
          <a:noFill/>
          <a:ln/>
        </p:spPr>
        <p:txBody>
          <a:bodyPr wrap="square" lIns="0" tIns="0" rIns="0" bIns="0" rtlCol="0" anchor="ctr"/>
          <a:lstStyle/>
          <a:p>
            <a:pPr indent="0" marL="0">
              <a:buNone/>
            </a:pPr>
            <a:r>
              <a:rPr lang="en-US" sz="780" dirty="0">
                <a:solidFill>
                  <a:srgbClr val="94A3B8"/>
                </a:solidFill>
              </a:rPr>
              <a:t>What worked well • what we would do differently • key learnings</a:t>
            </a:r>
            <a:endParaRPr lang="en-US" sz="780" dirty="0"/>
          </a:p>
        </p:txBody>
      </p:sp>
      <p:sp>
        <p:nvSpPr>
          <p:cNvPr id="60" name="Text 58"/>
          <p:cNvSpPr/>
          <p:nvPr/>
        </p:nvSpPr>
        <p:spPr>
          <a:xfrm>
            <a:off x="9994392" y="320040"/>
            <a:ext cx="1691640" cy="237744"/>
          </a:xfrm>
          <a:prstGeom prst="rect">
            <a:avLst/>
          </a:prstGeom>
          <a:noFill/>
          <a:ln/>
        </p:spPr>
        <p:txBody>
          <a:bodyPr wrap="square" lIns="0" tIns="0" rIns="0" bIns="0" rtlCol="0" anchor="ctr"/>
          <a:lstStyle/>
          <a:p>
            <a:pPr algn="r" indent="0" marL="0">
              <a:buNone/>
            </a:pPr>
            <a:r>
              <a:rPr lang="en-US" sz="850" b="1" dirty="0">
                <a:solidFill>
                  <a:srgbClr val="22D3EE"/>
                </a:solidFill>
              </a:rPr>
              <a:t>~1 min</a:t>
            </a:r>
            <a:endParaRPr lang="en-US" sz="850" dirty="0"/>
          </a:p>
        </p:txBody>
      </p:sp>
      <p:sp>
        <p:nvSpPr>
          <p:cNvPr id="61" name="Shape 59"/>
          <p:cNvSpPr/>
          <p:nvPr/>
        </p:nvSpPr>
        <p:spPr>
          <a:xfrm>
            <a:off x="685800" y="1234440"/>
            <a:ext cx="3337560" cy="3977640"/>
          </a:xfrm>
          <a:prstGeom prst="roundRect">
            <a:avLst>
              <a:gd name="adj" fmla="val 3288"/>
            </a:avLst>
          </a:prstGeom>
          <a:solidFill>
            <a:srgbClr val="0A1226">
              <a:alpha val="96000"/>
            </a:srgbClr>
          </a:solidFill>
          <a:ln w="12700">
            <a:solidFill>
              <a:srgbClr val="34D399">
                <a:alpha val="80000"/>
              </a:srgbClr>
            </a:solidFill>
            <a:prstDash val="solid"/>
          </a:ln>
          <a:effectLst>
            <a:outerShdw sx="100000" sy="100000" kx="0" ky="0" algn="bl" rotWithShape="0" blurRad="25400" dist="50800" dir="2700000">
              <a:srgbClr val="000000">
                <a:alpha val="25000"/>
              </a:srgbClr>
            </a:outerShdw>
          </a:effectLst>
        </p:spPr>
      </p:sp>
      <p:sp>
        <p:nvSpPr>
          <p:cNvPr id="62" name="Shape 60"/>
          <p:cNvSpPr/>
          <p:nvPr/>
        </p:nvSpPr>
        <p:spPr>
          <a:xfrm>
            <a:off x="685800" y="1234440"/>
            <a:ext cx="3337560" cy="54864"/>
          </a:xfrm>
          <a:prstGeom prst="rect">
            <a:avLst/>
          </a:prstGeom>
          <a:solidFill>
            <a:srgbClr val="34D399"/>
          </a:solidFill>
          <a:ln w="12700">
            <a:solidFill>
              <a:srgbClr val="34D399"/>
            </a:solidFill>
            <a:prstDash val="solid"/>
          </a:ln>
        </p:spPr>
      </p:sp>
      <p:sp>
        <p:nvSpPr>
          <p:cNvPr id="63" name="Text 61"/>
          <p:cNvSpPr/>
          <p:nvPr/>
        </p:nvSpPr>
        <p:spPr>
          <a:xfrm>
            <a:off x="923544" y="1508760"/>
            <a:ext cx="2468880" cy="228600"/>
          </a:xfrm>
          <a:prstGeom prst="rect">
            <a:avLst/>
          </a:prstGeom>
          <a:noFill/>
          <a:ln/>
        </p:spPr>
        <p:txBody>
          <a:bodyPr wrap="square" lIns="0" tIns="0" rIns="0" bIns="0" rtlCol="0" anchor="ctr">
            <a:normAutofit/>
          </a:bodyPr>
          <a:lstStyle/>
          <a:p>
            <a:pPr indent="0" marL="0">
              <a:buNone/>
            </a:pPr>
            <a:r>
              <a:rPr lang="en-US" sz="1300" b="1" dirty="0">
                <a:solidFill>
                  <a:srgbClr val="FFFFFF"/>
                </a:solidFill>
              </a:rPr>
              <a:t>What worked well</a:t>
            </a:r>
            <a:endParaRPr lang="en-US" sz="1300" dirty="0"/>
          </a:p>
        </p:txBody>
      </p:sp>
      <p:sp>
        <p:nvSpPr>
          <p:cNvPr id="64" name="Shape 62"/>
          <p:cNvSpPr/>
          <p:nvPr/>
        </p:nvSpPr>
        <p:spPr>
          <a:xfrm>
            <a:off x="960120" y="1993392"/>
            <a:ext cx="109728" cy="109728"/>
          </a:xfrm>
          <a:prstGeom prst="ellipse">
            <a:avLst/>
          </a:prstGeom>
          <a:solidFill>
            <a:srgbClr val="34D399"/>
          </a:solidFill>
          <a:ln w="12700">
            <a:solidFill>
              <a:srgbClr val="34D399"/>
            </a:solidFill>
            <a:prstDash val="solid"/>
          </a:ln>
        </p:spPr>
      </p:sp>
      <p:sp>
        <p:nvSpPr>
          <p:cNvPr id="65" name="Text 63"/>
          <p:cNvSpPr/>
          <p:nvPr/>
        </p:nvSpPr>
        <p:spPr>
          <a:xfrm>
            <a:off x="1188720" y="1938528"/>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Clear module boundaries reduced merge conflicts</a:t>
            </a:r>
            <a:endParaRPr lang="en-US" sz="800" dirty="0"/>
          </a:p>
        </p:txBody>
      </p:sp>
      <p:sp>
        <p:nvSpPr>
          <p:cNvPr id="66" name="Shape 64"/>
          <p:cNvSpPr/>
          <p:nvPr/>
        </p:nvSpPr>
        <p:spPr>
          <a:xfrm>
            <a:off x="960120" y="2779776"/>
            <a:ext cx="109728" cy="109728"/>
          </a:xfrm>
          <a:prstGeom prst="ellipse">
            <a:avLst/>
          </a:prstGeom>
          <a:solidFill>
            <a:srgbClr val="34D399"/>
          </a:solidFill>
          <a:ln w="12700">
            <a:solidFill>
              <a:srgbClr val="34D399"/>
            </a:solidFill>
            <a:prstDash val="solid"/>
          </a:ln>
        </p:spPr>
      </p:sp>
      <p:sp>
        <p:nvSpPr>
          <p:cNvPr id="67" name="Text 65"/>
          <p:cNvSpPr/>
          <p:nvPr/>
        </p:nvSpPr>
        <p:spPr>
          <a:xfrm>
            <a:off x="1188720" y="2724912"/>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Mock-first schema made frontend/backend integration predictable</a:t>
            </a:r>
            <a:endParaRPr lang="en-US" sz="800" dirty="0"/>
          </a:p>
        </p:txBody>
      </p:sp>
      <p:sp>
        <p:nvSpPr>
          <p:cNvPr id="68" name="Shape 66"/>
          <p:cNvSpPr/>
          <p:nvPr/>
        </p:nvSpPr>
        <p:spPr>
          <a:xfrm>
            <a:off x="960120" y="3566160"/>
            <a:ext cx="109728" cy="109728"/>
          </a:xfrm>
          <a:prstGeom prst="ellipse">
            <a:avLst/>
          </a:prstGeom>
          <a:solidFill>
            <a:srgbClr val="34D399"/>
          </a:solidFill>
          <a:ln w="12700">
            <a:solidFill>
              <a:srgbClr val="34D399"/>
            </a:solidFill>
            <a:prstDash val="solid"/>
          </a:ln>
        </p:spPr>
      </p:sp>
      <p:sp>
        <p:nvSpPr>
          <p:cNvPr id="69" name="Text 67"/>
          <p:cNvSpPr/>
          <p:nvPr/>
        </p:nvSpPr>
        <p:spPr>
          <a:xfrm>
            <a:off x="1188720" y="3511296"/>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Unified dashboard communicates complex EVM data quickly</a:t>
            </a:r>
            <a:endParaRPr lang="en-US" sz="800" dirty="0"/>
          </a:p>
        </p:txBody>
      </p:sp>
      <p:sp>
        <p:nvSpPr>
          <p:cNvPr id="70" name="Shape 68"/>
          <p:cNvSpPr/>
          <p:nvPr/>
        </p:nvSpPr>
        <p:spPr>
          <a:xfrm>
            <a:off x="4480560" y="1234440"/>
            <a:ext cx="3337560" cy="3977640"/>
          </a:xfrm>
          <a:prstGeom prst="roundRect">
            <a:avLst>
              <a:gd name="adj" fmla="val 3288"/>
            </a:avLst>
          </a:prstGeom>
          <a:solidFill>
            <a:srgbClr val="0A1226">
              <a:alpha val="96000"/>
            </a:srgbClr>
          </a:solidFill>
          <a:ln w="12700">
            <a:solidFill>
              <a:srgbClr val="FBBF24">
                <a:alpha val="80000"/>
              </a:srgbClr>
            </a:solidFill>
            <a:prstDash val="solid"/>
          </a:ln>
          <a:effectLst>
            <a:outerShdw sx="100000" sy="100000" kx="0" ky="0" algn="bl" rotWithShape="0" blurRad="25400" dist="50800" dir="2700000">
              <a:srgbClr val="000000">
                <a:alpha val="25000"/>
              </a:srgbClr>
            </a:outerShdw>
          </a:effectLst>
        </p:spPr>
      </p:sp>
      <p:sp>
        <p:nvSpPr>
          <p:cNvPr id="71" name="Shape 69"/>
          <p:cNvSpPr/>
          <p:nvPr/>
        </p:nvSpPr>
        <p:spPr>
          <a:xfrm>
            <a:off x="4480560" y="1234440"/>
            <a:ext cx="3337560" cy="54864"/>
          </a:xfrm>
          <a:prstGeom prst="rect">
            <a:avLst/>
          </a:prstGeom>
          <a:solidFill>
            <a:srgbClr val="FBBF24"/>
          </a:solidFill>
          <a:ln w="12700">
            <a:solidFill>
              <a:srgbClr val="FBBF24"/>
            </a:solidFill>
            <a:prstDash val="solid"/>
          </a:ln>
        </p:spPr>
      </p:sp>
      <p:sp>
        <p:nvSpPr>
          <p:cNvPr id="72" name="Text 70"/>
          <p:cNvSpPr/>
          <p:nvPr/>
        </p:nvSpPr>
        <p:spPr>
          <a:xfrm>
            <a:off x="4718304" y="1508760"/>
            <a:ext cx="2468880" cy="228600"/>
          </a:xfrm>
          <a:prstGeom prst="rect">
            <a:avLst/>
          </a:prstGeom>
          <a:noFill/>
          <a:ln/>
        </p:spPr>
        <p:txBody>
          <a:bodyPr wrap="square" lIns="0" tIns="0" rIns="0" bIns="0" rtlCol="0" anchor="ctr">
            <a:normAutofit/>
          </a:bodyPr>
          <a:lstStyle/>
          <a:p>
            <a:pPr indent="0" marL="0">
              <a:buNone/>
            </a:pPr>
            <a:r>
              <a:rPr lang="en-US" sz="1300" b="1" dirty="0">
                <a:solidFill>
                  <a:srgbClr val="FFFFFF"/>
                </a:solidFill>
              </a:rPr>
              <a:t>What we would improve</a:t>
            </a:r>
            <a:endParaRPr lang="en-US" sz="1300" dirty="0"/>
          </a:p>
        </p:txBody>
      </p:sp>
      <p:sp>
        <p:nvSpPr>
          <p:cNvPr id="73" name="Shape 71"/>
          <p:cNvSpPr/>
          <p:nvPr/>
        </p:nvSpPr>
        <p:spPr>
          <a:xfrm>
            <a:off x="4754880" y="1993392"/>
            <a:ext cx="109728" cy="109728"/>
          </a:xfrm>
          <a:prstGeom prst="ellipse">
            <a:avLst/>
          </a:prstGeom>
          <a:solidFill>
            <a:srgbClr val="FBBF24"/>
          </a:solidFill>
          <a:ln w="12700">
            <a:solidFill>
              <a:srgbClr val="FBBF24"/>
            </a:solidFill>
            <a:prstDash val="solid"/>
          </a:ln>
        </p:spPr>
      </p:sp>
      <p:sp>
        <p:nvSpPr>
          <p:cNvPr id="74" name="Text 72"/>
          <p:cNvSpPr/>
          <p:nvPr/>
        </p:nvSpPr>
        <p:spPr>
          <a:xfrm>
            <a:off x="4983480" y="1938528"/>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Support verified-source fetching from explorers</a:t>
            </a:r>
            <a:endParaRPr lang="en-US" sz="800" dirty="0"/>
          </a:p>
        </p:txBody>
      </p:sp>
      <p:sp>
        <p:nvSpPr>
          <p:cNvPr id="75" name="Shape 73"/>
          <p:cNvSpPr/>
          <p:nvPr/>
        </p:nvSpPr>
        <p:spPr>
          <a:xfrm>
            <a:off x="4754880" y="2779776"/>
            <a:ext cx="109728" cy="109728"/>
          </a:xfrm>
          <a:prstGeom prst="ellipse">
            <a:avLst/>
          </a:prstGeom>
          <a:solidFill>
            <a:srgbClr val="FBBF24"/>
          </a:solidFill>
          <a:ln w="12700">
            <a:solidFill>
              <a:srgbClr val="FBBF24"/>
            </a:solidFill>
            <a:prstDash val="solid"/>
          </a:ln>
        </p:spPr>
      </p:sp>
      <p:sp>
        <p:nvSpPr>
          <p:cNvPr id="76" name="Text 74"/>
          <p:cNvSpPr/>
          <p:nvPr/>
        </p:nvSpPr>
        <p:spPr>
          <a:xfrm>
            <a:off x="4983480" y="2724912"/>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Add richer contract interaction graph visualization</a:t>
            </a:r>
            <a:endParaRPr lang="en-US" sz="800" dirty="0"/>
          </a:p>
        </p:txBody>
      </p:sp>
      <p:sp>
        <p:nvSpPr>
          <p:cNvPr id="77" name="Shape 75"/>
          <p:cNvSpPr/>
          <p:nvPr/>
        </p:nvSpPr>
        <p:spPr>
          <a:xfrm>
            <a:off x="4754880" y="3566160"/>
            <a:ext cx="109728" cy="109728"/>
          </a:xfrm>
          <a:prstGeom prst="ellipse">
            <a:avLst/>
          </a:prstGeom>
          <a:solidFill>
            <a:srgbClr val="FBBF24"/>
          </a:solidFill>
          <a:ln w="12700">
            <a:solidFill>
              <a:srgbClr val="FBBF24"/>
            </a:solidFill>
            <a:prstDash val="solid"/>
          </a:ln>
        </p:spPr>
      </p:sp>
      <p:sp>
        <p:nvSpPr>
          <p:cNvPr id="78" name="Text 76"/>
          <p:cNvSpPr/>
          <p:nvPr/>
        </p:nvSpPr>
        <p:spPr>
          <a:xfrm>
            <a:off x="4983480" y="3511296"/>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Expand scanners beyond Slither, e.g., Mythril + custom rules</a:t>
            </a:r>
            <a:endParaRPr lang="en-US" sz="800" dirty="0"/>
          </a:p>
        </p:txBody>
      </p:sp>
      <p:sp>
        <p:nvSpPr>
          <p:cNvPr id="79" name="Shape 77"/>
          <p:cNvSpPr/>
          <p:nvPr/>
        </p:nvSpPr>
        <p:spPr>
          <a:xfrm>
            <a:off x="8275320" y="1234440"/>
            <a:ext cx="3337560" cy="3977640"/>
          </a:xfrm>
          <a:prstGeom prst="roundRect">
            <a:avLst>
              <a:gd name="adj" fmla="val 3288"/>
            </a:avLst>
          </a:prstGeom>
          <a:solidFill>
            <a:srgbClr val="0A1226">
              <a:alpha val="96000"/>
            </a:srgbClr>
          </a:solidFill>
          <a:ln w="12700">
            <a:solidFill>
              <a:srgbClr val="22D3EE">
                <a:alpha val="80000"/>
              </a:srgbClr>
            </a:solidFill>
            <a:prstDash val="solid"/>
          </a:ln>
          <a:effectLst>
            <a:outerShdw sx="100000" sy="100000" kx="0" ky="0" algn="bl" rotWithShape="0" blurRad="25400" dist="50800" dir="2700000">
              <a:srgbClr val="000000">
                <a:alpha val="25000"/>
              </a:srgbClr>
            </a:outerShdw>
          </a:effectLst>
        </p:spPr>
      </p:sp>
      <p:sp>
        <p:nvSpPr>
          <p:cNvPr id="80" name="Shape 78"/>
          <p:cNvSpPr/>
          <p:nvPr/>
        </p:nvSpPr>
        <p:spPr>
          <a:xfrm>
            <a:off x="8275320" y="1234440"/>
            <a:ext cx="3337560" cy="54864"/>
          </a:xfrm>
          <a:prstGeom prst="rect">
            <a:avLst/>
          </a:prstGeom>
          <a:solidFill>
            <a:srgbClr val="22D3EE"/>
          </a:solidFill>
          <a:ln w="12700">
            <a:solidFill>
              <a:srgbClr val="22D3EE"/>
            </a:solidFill>
            <a:prstDash val="solid"/>
          </a:ln>
        </p:spPr>
      </p:sp>
      <p:sp>
        <p:nvSpPr>
          <p:cNvPr id="81" name="Text 79"/>
          <p:cNvSpPr/>
          <p:nvPr/>
        </p:nvSpPr>
        <p:spPr>
          <a:xfrm>
            <a:off x="8513064" y="1508760"/>
            <a:ext cx="2468880" cy="228600"/>
          </a:xfrm>
          <a:prstGeom prst="rect">
            <a:avLst/>
          </a:prstGeom>
          <a:noFill/>
          <a:ln/>
        </p:spPr>
        <p:txBody>
          <a:bodyPr wrap="square" lIns="0" tIns="0" rIns="0" bIns="0" rtlCol="0" anchor="ctr">
            <a:normAutofit/>
          </a:bodyPr>
          <a:lstStyle/>
          <a:p>
            <a:pPr indent="0" marL="0">
              <a:buNone/>
            </a:pPr>
            <a:r>
              <a:rPr lang="en-US" sz="1300" b="1" dirty="0">
                <a:solidFill>
                  <a:srgbClr val="FFFFFF"/>
                </a:solidFill>
              </a:rPr>
              <a:t>Key learnings</a:t>
            </a:r>
            <a:endParaRPr lang="en-US" sz="1300" dirty="0"/>
          </a:p>
        </p:txBody>
      </p:sp>
      <p:sp>
        <p:nvSpPr>
          <p:cNvPr id="82" name="Shape 80"/>
          <p:cNvSpPr/>
          <p:nvPr/>
        </p:nvSpPr>
        <p:spPr>
          <a:xfrm>
            <a:off x="8549640" y="1993392"/>
            <a:ext cx="109728" cy="109728"/>
          </a:xfrm>
          <a:prstGeom prst="ellipse">
            <a:avLst/>
          </a:prstGeom>
          <a:solidFill>
            <a:srgbClr val="22D3EE"/>
          </a:solidFill>
          <a:ln w="12700">
            <a:solidFill>
              <a:srgbClr val="22D3EE"/>
            </a:solidFill>
            <a:prstDash val="solid"/>
          </a:ln>
        </p:spPr>
      </p:sp>
      <p:sp>
        <p:nvSpPr>
          <p:cNvPr id="83" name="Text 81"/>
          <p:cNvSpPr/>
          <p:nvPr/>
        </p:nvSpPr>
        <p:spPr>
          <a:xfrm>
            <a:off x="8778240" y="1938528"/>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EVM observability is a data-modeling problem, not only a UI problem</a:t>
            </a:r>
            <a:endParaRPr lang="en-US" sz="800" dirty="0"/>
          </a:p>
        </p:txBody>
      </p:sp>
      <p:sp>
        <p:nvSpPr>
          <p:cNvPr id="84" name="Shape 82"/>
          <p:cNvSpPr/>
          <p:nvPr/>
        </p:nvSpPr>
        <p:spPr>
          <a:xfrm>
            <a:off x="8549640" y="2779776"/>
            <a:ext cx="109728" cy="109728"/>
          </a:xfrm>
          <a:prstGeom prst="ellipse">
            <a:avLst/>
          </a:prstGeom>
          <a:solidFill>
            <a:srgbClr val="22D3EE"/>
          </a:solidFill>
          <a:ln w="12700">
            <a:solidFill>
              <a:srgbClr val="22D3EE"/>
            </a:solidFill>
            <a:prstDash val="solid"/>
          </a:ln>
        </p:spPr>
      </p:sp>
      <p:sp>
        <p:nvSpPr>
          <p:cNvPr id="85" name="Text 83"/>
          <p:cNvSpPr/>
          <p:nvPr/>
        </p:nvSpPr>
        <p:spPr>
          <a:xfrm>
            <a:off x="8778240" y="2724912"/>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A reliable demo mode is critical for blockchain tooling projects</a:t>
            </a:r>
            <a:endParaRPr lang="en-US" sz="800" dirty="0"/>
          </a:p>
        </p:txBody>
      </p:sp>
      <p:sp>
        <p:nvSpPr>
          <p:cNvPr id="86" name="Shape 84"/>
          <p:cNvSpPr/>
          <p:nvPr/>
        </p:nvSpPr>
        <p:spPr>
          <a:xfrm>
            <a:off x="8549640" y="3566160"/>
            <a:ext cx="109728" cy="109728"/>
          </a:xfrm>
          <a:prstGeom prst="ellipse">
            <a:avLst/>
          </a:prstGeom>
          <a:solidFill>
            <a:srgbClr val="22D3EE"/>
          </a:solidFill>
          <a:ln w="12700">
            <a:solidFill>
              <a:srgbClr val="22D3EE"/>
            </a:solidFill>
            <a:prstDash val="solid"/>
          </a:ln>
        </p:spPr>
      </p:sp>
      <p:sp>
        <p:nvSpPr>
          <p:cNvPr id="87" name="Text 85"/>
          <p:cNvSpPr/>
          <p:nvPr/>
        </p:nvSpPr>
        <p:spPr>
          <a:xfrm>
            <a:off x="8778240" y="3511296"/>
            <a:ext cx="2514600" cy="292608"/>
          </a:xfrm>
          <a:prstGeom prst="rect">
            <a:avLst/>
          </a:prstGeom>
          <a:noFill/>
          <a:ln/>
        </p:spPr>
        <p:txBody>
          <a:bodyPr wrap="square" lIns="0" tIns="0" rIns="0" bIns="0" rtlCol="0" anchor="ctr">
            <a:normAutofit/>
          </a:bodyPr>
          <a:lstStyle/>
          <a:p>
            <a:pPr indent="0" marL="0">
              <a:buNone/>
            </a:pPr>
            <a:r>
              <a:rPr lang="en-US" sz="800" dirty="0">
                <a:solidFill>
                  <a:srgbClr val="94A3B8"/>
                </a:solidFill>
              </a:rPr>
              <a:t>Security tooling output needs normalization before users can trust it</a:t>
            </a:r>
            <a:endParaRPr lang="en-US" sz="800" dirty="0"/>
          </a:p>
        </p:txBody>
      </p:sp>
      <p:sp>
        <p:nvSpPr>
          <p:cNvPr id="88" name="Shape 86"/>
          <p:cNvSpPr/>
          <p:nvPr/>
        </p:nvSpPr>
        <p:spPr>
          <a:xfrm>
            <a:off x="685800" y="5532120"/>
            <a:ext cx="10744200" cy="0"/>
          </a:xfrm>
          <a:prstGeom prst="line">
            <a:avLst/>
          </a:prstGeom>
          <a:noFill/>
          <a:ln w="12700">
            <a:solidFill>
              <a:srgbClr val="27324D">
                <a:alpha val="85000"/>
              </a:srgbClr>
            </a:solidFill>
            <a:prstDash val="solid"/>
          </a:ln>
        </p:spPr>
      </p:sp>
      <p:sp>
        <p:nvSpPr>
          <p:cNvPr id="89" name="Text 87"/>
          <p:cNvSpPr/>
          <p:nvPr/>
        </p:nvSpPr>
        <p:spPr>
          <a:xfrm>
            <a:off x="685800" y="5715000"/>
            <a:ext cx="9601200" cy="256032"/>
          </a:xfrm>
          <a:prstGeom prst="rect">
            <a:avLst/>
          </a:prstGeom>
          <a:noFill/>
          <a:ln/>
        </p:spPr>
        <p:txBody>
          <a:bodyPr wrap="square" lIns="0" tIns="0" rIns="0" bIns="0" rtlCol="0" anchor="ctr">
            <a:normAutofit/>
          </a:bodyPr>
          <a:lstStyle/>
          <a:p>
            <a:pPr indent="0" marL="0">
              <a:buNone/>
            </a:pPr>
            <a:r>
              <a:rPr lang="en-US" sz="940" b="1" dirty="0">
                <a:solidFill>
                  <a:srgbClr val="22D3EE"/>
                </a:solidFill>
              </a:rPr>
              <a:t>Bottom line: the project proves an end-to-end workflow from EVM execution data → normalized backend → usable developer dashboard.</a:t>
            </a:r>
            <a:endParaRPr lang="en-US" sz="940" dirty="0"/>
          </a:p>
        </p:txBody>
      </p:sp>
      <p:sp>
        <p:nvSpPr>
          <p:cNvPr id="90" name="Shape 88"/>
          <p:cNvSpPr/>
          <p:nvPr/>
        </p:nvSpPr>
        <p:spPr>
          <a:xfrm>
            <a:off x="502920" y="6263640"/>
            <a:ext cx="1828800" cy="292608"/>
          </a:xfrm>
          <a:prstGeom prst="roundRect">
            <a:avLst>
              <a:gd name="adj" fmla="val 25000"/>
            </a:avLst>
          </a:prstGeom>
          <a:solidFill>
            <a:srgbClr val="60A5FA">
              <a:alpha val="16000"/>
            </a:srgbClr>
          </a:solidFill>
          <a:ln w="12700">
            <a:solidFill>
              <a:srgbClr val="60A5FA">
                <a:alpha val="65000"/>
              </a:srgbClr>
            </a:solidFill>
            <a:prstDash val="solid"/>
          </a:ln>
        </p:spPr>
      </p:sp>
      <p:sp>
        <p:nvSpPr>
          <p:cNvPr id="91" name="Text 89"/>
          <p:cNvSpPr/>
          <p:nvPr/>
        </p:nvSpPr>
        <p:spPr>
          <a:xfrm>
            <a:off x="612648" y="6336792"/>
            <a:ext cx="1609344" cy="146304"/>
          </a:xfrm>
          <a:prstGeom prst="rect">
            <a:avLst/>
          </a:prstGeom>
          <a:noFill/>
          <a:ln/>
        </p:spPr>
        <p:txBody>
          <a:bodyPr wrap="square" lIns="0" tIns="0" rIns="0" bIns="0" rtlCol="0" anchor="ctr">
            <a:normAutofit/>
          </a:bodyPr>
          <a:lstStyle/>
          <a:p>
            <a:pPr indent="0" marL="0">
              <a:buNone/>
            </a:pPr>
            <a:r>
              <a:rPr lang="en-US" sz="650" b="1" dirty="0">
                <a:solidFill>
                  <a:srgbClr val="60A5FA"/>
                </a:solidFill>
              </a:rPr>
              <a:t>REFLECTION</a:t>
            </a:r>
            <a:endParaRPr lang="en-US" sz="650" dirty="0"/>
          </a:p>
        </p:txBody>
      </p:sp>
      <p:sp>
        <p:nvSpPr>
          <p:cNvPr id="92" name="Text 90"/>
          <p:cNvSpPr/>
          <p:nvPr/>
        </p:nvSpPr>
        <p:spPr>
          <a:xfrm>
            <a:off x="2743200" y="6345936"/>
            <a:ext cx="5029200" cy="109728"/>
          </a:xfrm>
          <a:prstGeom prst="rect">
            <a:avLst/>
          </a:prstGeom>
          <a:noFill/>
          <a:ln/>
        </p:spPr>
        <p:txBody>
          <a:bodyPr wrap="square" lIns="0" tIns="0" rIns="0" bIns="0" rtlCol="0" anchor="ctr"/>
          <a:lstStyle/>
          <a:p>
            <a:pPr indent="0" marL="0">
              <a:buNone/>
            </a:pPr>
            <a:r>
              <a:rPr lang="en-US" sz="550" dirty="0">
                <a:solidFill>
                  <a:srgbClr val="64748B"/>
                </a:solidFill>
              </a:rPr>
              <a:t>SC6107 • Blockchain Development Fundamentals</a:t>
            </a:r>
            <a:endParaRPr lang="en-US" sz="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A1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3"/>
          </a:solidFill>
          <a:ln w="12700">
            <a:solidFill>
              <a:srgbClr val="070A13"/>
            </a:solidFill>
            <a:prstDash val="solid"/>
          </a:ln>
        </p:spPr>
      </p:sp>
      <p:sp>
        <p:nvSpPr>
          <p:cNvPr id="3" name="Shape 1"/>
          <p:cNvSpPr/>
          <p:nvPr/>
        </p:nvSpPr>
        <p:spPr>
          <a:xfrm>
            <a:off x="-1097280" y="-1005840"/>
            <a:ext cx="4114800" cy="4114800"/>
          </a:xfrm>
          <a:prstGeom prst="ellipse">
            <a:avLst/>
          </a:prstGeom>
          <a:solidFill>
            <a:srgbClr val="A78BFA">
              <a:alpha val="14000"/>
            </a:srgbClr>
          </a:solidFill>
          <a:ln w="12700">
            <a:solidFill>
              <a:srgbClr val="A78BFA">
                <a:alpha val="0"/>
              </a:srgbClr>
            </a:solidFill>
            <a:prstDash val="solid"/>
          </a:ln>
        </p:spPr>
      </p:sp>
      <p:sp>
        <p:nvSpPr>
          <p:cNvPr id="4" name="Shape 2"/>
          <p:cNvSpPr/>
          <p:nvPr/>
        </p:nvSpPr>
        <p:spPr>
          <a:xfrm>
            <a:off x="8686800" y="4206240"/>
            <a:ext cx="4663440" cy="4663440"/>
          </a:xfrm>
          <a:prstGeom prst="ellipse">
            <a:avLst/>
          </a:prstGeom>
          <a:solidFill>
            <a:srgbClr val="A78BFA">
              <a:alpha val="12000"/>
            </a:srgbClr>
          </a:solidFill>
          <a:ln w="12700">
            <a:solidFill>
              <a:srgbClr val="A78BFA">
                <a:alpha val="0"/>
              </a:srgbClr>
            </a:solidFill>
            <a:prstDash val="solid"/>
          </a:ln>
        </p:spPr>
      </p:sp>
      <p:sp>
        <p:nvSpPr>
          <p:cNvPr id="5" name="Shape 3"/>
          <p:cNvSpPr/>
          <p:nvPr/>
        </p:nvSpPr>
        <p:spPr>
          <a:xfrm>
            <a:off x="7040880" y="-1371600"/>
            <a:ext cx="3108960" cy="3108960"/>
          </a:xfrm>
          <a:prstGeom prst="ellipse">
            <a:avLst/>
          </a:prstGeom>
          <a:solidFill>
            <a:srgbClr val="60A5FA">
              <a:alpha val="8000"/>
            </a:srgbClr>
          </a:solidFill>
          <a:ln w="12700">
            <a:solidFill>
              <a:srgbClr val="60A5FA">
                <a:alpha val="0"/>
              </a:srgbClr>
            </a:solidFill>
            <a:prstDash val="solid"/>
          </a:ln>
        </p:spPr>
      </p:sp>
      <p:sp>
        <p:nvSpPr>
          <p:cNvPr id="6" name="Shape 4"/>
          <p:cNvSpPr/>
          <p:nvPr/>
        </p:nvSpPr>
        <p:spPr>
          <a:xfrm>
            <a:off x="182880" y="594360"/>
            <a:ext cx="0" cy="5577840"/>
          </a:xfrm>
          <a:prstGeom prst="line">
            <a:avLst/>
          </a:prstGeom>
          <a:noFill/>
          <a:ln w="5080">
            <a:solidFill>
              <a:srgbClr val="10192F">
                <a:alpha val="50000"/>
              </a:srgbClr>
            </a:solidFill>
            <a:prstDash val="solid"/>
          </a:ln>
        </p:spPr>
      </p:sp>
      <p:sp>
        <p:nvSpPr>
          <p:cNvPr id="7" name="Shape 5"/>
          <p:cNvSpPr/>
          <p:nvPr/>
        </p:nvSpPr>
        <p:spPr>
          <a:xfrm>
            <a:off x="969264" y="594360"/>
            <a:ext cx="0" cy="5577840"/>
          </a:xfrm>
          <a:prstGeom prst="line">
            <a:avLst/>
          </a:prstGeom>
          <a:noFill/>
          <a:ln w="5080">
            <a:solidFill>
              <a:srgbClr val="10192F">
                <a:alpha val="50000"/>
              </a:srgbClr>
            </a:solidFill>
            <a:prstDash val="solid"/>
          </a:ln>
        </p:spPr>
      </p:sp>
      <p:sp>
        <p:nvSpPr>
          <p:cNvPr id="8" name="Shape 6"/>
          <p:cNvSpPr/>
          <p:nvPr/>
        </p:nvSpPr>
        <p:spPr>
          <a:xfrm>
            <a:off x="1755648" y="594360"/>
            <a:ext cx="0" cy="5577840"/>
          </a:xfrm>
          <a:prstGeom prst="line">
            <a:avLst/>
          </a:prstGeom>
          <a:noFill/>
          <a:ln w="5080">
            <a:solidFill>
              <a:srgbClr val="10192F">
                <a:alpha val="50000"/>
              </a:srgbClr>
            </a:solidFill>
            <a:prstDash val="solid"/>
          </a:ln>
        </p:spPr>
      </p:sp>
      <p:sp>
        <p:nvSpPr>
          <p:cNvPr id="9" name="Shape 7"/>
          <p:cNvSpPr/>
          <p:nvPr/>
        </p:nvSpPr>
        <p:spPr>
          <a:xfrm>
            <a:off x="2542032" y="594360"/>
            <a:ext cx="0" cy="5577840"/>
          </a:xfrm>
          <a:prstGeom prst="line">
            <a:avLst/>
          </a:prstGeom>
          <a:noFill/>
          <a:ln w="5080">
            <a:solidFill>
              <a:srgbClr val="10192F">
                <a:alpha val="50000"/>
              </a:srgbClr>
            </a:solidFill>
            <a:prstDash val="solid"/>
          </a:ln>
        </p:spPr>
      </p:sp>
      <p:sp>
        <p:nvSpPr>
          <p:cNvPr id="10" name="Shape 8"/>
          <p:cNvSpPr/>
          <p:nvPr/>
        </p:nvSpPr>
        <p:spPr>
          <a:xfrm>
            <a:off x="3328416" y="594360"/>
            <a:ext cx="0" cy="5577840"/>
          </a:xfrm>
          <a:prstGeom prst="line">
            <a:avLst/>
          </a:prstGeom>
          <a:noFill/>
          <a:ln w="5080">
            <a:solidFill>
              <a:srgbClr val="10192F">
                <a:alpha val="50000"/>
              </a:srgbClr>
            </a:solidFill>
            <a:prstDash val="solid"/>
          </a:ln>
        </p:spPr>
      </p:sp>
      <p:sp>
        <p:nvSpPr>
          <p:cNvPr id="11" name="Shape 9"/>
          <p:cNvSpPr/>
          <p:nvPr/>
        </p:nvSpPr>
        <p:spPr>
          <a:xfrm>
            <a:off x="4114800" y="594360"/>
            <a:ext cx="0" cy="5577840"/>
          </a:xfrm>
          <a:prstGeom prst="line">
            <a:avLst/>
          </a:prstGeom>
          <a:noFill/>
          <a:ln w="5080">
            <a:solidFill>
              <a:srgbClr val="10192F">
                <a:alpha val="50000"/>
              </a:srgbClr>
            </a:solidFill>
            <a:prstDash val="solid"/>
          </a:ln>
        </p:spPr>
      </p:sp>
      <p:sp>
        <p:nvSpPr>
          <p:cNvPr id="12" name="Shape 10"/>
          <p:cNvSpPr/>
          <p:nvPr/>
        </p:nvSpPr>
        <p:spPr>
          <a:xfrm>
            <a:off x="4901184" y="594360"/>
            <a:ext cx="0" cy="5577840"/>
          </a:xfrm>
          <a:prstGeom prst="line">
            <a:avLst/>
          </a:prstGeom>
          <a:noFill/>
          <a:ln w="5080">
            <a:solidFill>
              <a:srgbClr val="10192F">
                <a:alpha val="50000"/>
              </a:srgbClr>
            </a:solidFill>
            <a:prstDash val="solid"/>
          </a:ln>
        </p:spPr>
      </p:sp>
      <p:sp>
        <p:nvSpPr>
          <p:cNvPr id="13" name="Shape 11"/>
          <p:cNvSpPr/>
          <p:nvPr/>
        </p:nvSpPr>
        <p:spPr>
          <a:xfrm>
            <a:off x="5687568" y="594360"/>
            <a:ext cx="0" cy="5577840"/>
          </a:xfrm>
          <a:prstGeom prst="line">
            <a:avLst/>
          </a:prstGeom>
          <a:noFill/>
          <a:ln w="5080">
            <a:solidFill>
              <a:srgbClr val="10192F">
                <a:alpha val="50000"/>
              </a:srgbClr>
            </a:solidFill>
            <a:prstDash val="solid"/>
          </a:ln>
        </p:spPr>
      </p:sp>
      <p:sp>
        <p:nvSpPr>
          <p:cNvPr id="14" name="Shape 12"/>
          <p:cNvSpPr/>
          <p:nvPr/>
        </p:nvSpPr>
        <p:spPr>
          <a:xfrm>
            <a:off x="6473952" y="594360"/>
            <a:ext cx="0" cy="5577840"/>
          </a:xfrm>
          <a:prstGeom prst="line">
            <a:avLst/>
          </a:prstGeom>
          <a:noFill/>
          <a:ln w="5080">
            <a:solidFill>
              <a:srgbClr val="10192F">
                <a:alpha val="50000"/>
              </a:srgbClr>
            </a:solidFill>
            <a:prstDash val="solid"/>
          </a:ln>
        </p:spPr>
      </p:sp>
      <p:sp>
        <p:nvSpPr>
          <p:cNvPr id="15" name="Shape 13"/>
          <p:cNvSpPr/>
          <p:nvPr/>
        </p:nvSpPr>
        <p:spPr>
          <a:xfrm>
            <a:off x="7260336" y="594360"/>
            <a:ext cx="0" cy="5577840"/>
          </a:xfrm>
          <a:prstGeom prst="line">
            <a:avLst/>
          </a:prstGeom>
          <a:noFill/>
          <a:ln w="5080">
            <a:solidFill>
              <a:srgbClr val="10192F">
                <a:alpha val="50000"/>
              </a:srgbClr>
            </a:solidFill>
            <a:prstDash val="solid"/>
          </a:ln>
        </p:spPr>
      </p:sp>
      <p:sp>
        <p:nvSpPr>
          <p:cNvPr id="16" name="Shape 14"/>
          <p:cNvSpPr/>
          <p:nvPr/>
        </p:nvSpPr>
        <p:spPr>
          <a:xfrm>
            <a:off x="8046720" y="594360"/>
            <a:ext cx="0" cy="5577840"/>
          </a:xfrm>
          <a:prstGeom prst="line">
            <a:avLst/>
          </a:prstGeom>
          <a:noFill/>
          <a:ln w="5080">
            <a:solidFill>
              <a:srgbClr val="10192F">
                <a:alpha val="50000"/>
              </a:srgbClr>
            </a:solidFill>
            <a:prstDash val="solid"/>
          </a:ln>
        </p:spPr>
      </p:sp>
      <p:sp>
        <p:nvSpPr>
          <p:cNvPr id="17" name="Shape 15"/>
          <p:cNvSpPr/>
          <p:nvPr/>
        </p:nvSpPr>
        <p:spPr>
          <a:xfrm>
            <a:off x="8833104" y="594360"/>
            <a:ext cx="0" cy="5577840"/>
          </a:xfrm>
          <a:prstGeom prst="line">
            <a:avLst/>
          </a:prstGeom>
          <a:noFill/>
          <a:ln w="5080">
            <a:solidFill>
              <a:srgbClr val="10192F">
                <a:alpha val="50000"/>
              </a:srgbClr>
            </a:solidFill>
            <a:prstDash val="solid"/>
          </a:ln>
        </p:spPr>
      </p:sp>
      <p:sp>
        <p:nvSpPr>
          <p:cNvPr id="18" name="Shape 16"/>
          <p:cNvSpPr/>
          <p:nvPr/>
        </p:nvSpPr>
        <p:spPr>
          <a:xfrm>
            <a:off x="9619488" y="594360"/>
            <a:ext cx="0" cy="5577840"/>
          </a:xfrm>
          <a:prstGeom prst="line">
            <a:avLst/>
          </a:prstGeom>
          <a:noFill/>
          <a:ln w="5080">
            <a:solidFill>
              <a:srgbClr val="10192F">
                <a:alpha val="50000"/>
              </a:srgbClr>
            </a:solidFill>
            <a:prstDash val="solid"/>
          </a:ln>
        </p:spPr>
      </p:sp>
      <p:sp>
        <p:nvSpPr>
          <p:cNvPr id="19" name="Shape 17"/>
          <p:cNvSpPr/>
          <p:nvPr/>
        </p:nvSpPr>
        <p:spPr>
          <a:xfrm>
            <a:off x="10405872" y="594360"/>
            <a:ext cx="0" cy="5577840"/>
          </a:xfrm>
          <a:prstGeom prst="line">
            <a:avLst/>
          </a:prstGeom>
          <a:noFill/>
          <a:ln w="5080">
            <a:solidFill>
              <a:srgbClr val="10192F">
                <a:alpha val="50000"/>
              </a:srgbClr>
            </a:solidFill>
            <a:prstDash val="solid"/>
          </a:ln>
        </p:spPr>
      </p:sp>
      <p:sp>
        <p:nvSpPr>
          <p:cNvPr id="20" name="Shape 18"/>
          <p:cNvSpPr/>
          <p:nvPr/>
        </p:nvSpPr>
        <p:spPr>
          <a:xfrm>
            <a:off x="11192256" y="594360"/>
            <a:ext cx="0" cy="5577840"/>
          </a:xfrm>
          <a:prstGeom prst="line">
            <a:avLst/>
          </a:prstGeom>
          <a:noFill/>
          <a:ln w="5080">
            <a:solidFill>
              <a:srgbClr val="10192F">
                <a:alpha val="50000"/>
              </a:srgbClr>
            </a:solidFill>
            <a:prstDash val="solid"/>
          </a:ln>
        </p:spPr>
      </p:sp>
      <p:sp>
        <p:nvSpPr>
          <p:cNvPr id="21" name="Shape 19"/>
          <p:cNvSpPr/>
          <p:nvPr/>
        </p:nvSpPr>
        <p:spPr>
          <a:xfrm>
            <a:off x="11978640" y="594360"/>
            <a:ext cx="0" cy="5577840"/>
          </a:xfrm>
          <a:prstGeom prst="line">
            <a:avLst/>
          </a:prstGeom>
          <a:noFill/>
          <a:ln w="5080">
            <a:solidFill>
              <a:srgbClr val="10192F">
                <a:alpha val="50000"/>
              </a:srgbClr>
            </a:solidFill>
            <a:prstDash val="solid"/>
          </a:ln>
        </p:spPr>
      </p:sp>
      <p:sp>
        <p:nvSpPr>
          <p:cNvPr id="22" name="Shape 20"/>
          <p:cNvSpPr/>
          <p:nvPr/>
        </p:nvSpPr>
        <p:spPr>
          <a:xfrm>
            <a:off x="182880" y="640080"/>
            <a:ext cx="11795760" cy="0"/>
          </a:xfrm>
          <a:prstGeom prst="line">
            <a:avLst/>
          </a:prstGeom>
          <a:noFill/>
          <a:ln w="5080">
            <a:solidFill>
              <a:srgbClr val="10192F">
                <a:alpha val="40000"/>
              </a:srgbClr>
            </a:solidFill>
            <a:prstDash val="solid"/>
          </a:ln>
        </p:spPr>
      </p:sp>
      <p:sp>
        <p:nvSpPr>
          <p:cNvPr id="23" name="Shape 21"/>
          <p:cNvSpPr/>
          <p:nvPr/>
        </p:nvSpPr>
        <p:spPr>
          <a:xfrm>
            <a:off x="182880" y="1344168"/>
            <a:ext cx="11795760" cy="0"/>
          </a:xfrm>
          <a:prstGeom prst="line">
            <a:avLst/>
          </a:prstGeom>
          <a:noFill/>
          <a:ln w="5080">
            <a:solidFill>
              <a:srgbClr val="10192F">
                <a:alpha val="40000"/>
              </a:srgbClr>
            </a:solidFill>
            <a:prstDash val="solid"/>
          </a:ln>
        </p:spPr>
      </p:sp>
      <p:sp>
        <p:nvSpPr>
          <p:cNvPr id="24" name="Shape 22"/>
          <p:cNvSpPr/>
          <p:nvPr/>
        </p:nvSpPr>
        <p:spPr>
          <a:xfrm>
            <a:off x="182880" y="2048256"/>
            <a:ext cx="11795760" cy="0"/>
          </a:xfrm>
          <a:prstGeom prst="line">
            <a:avLst/>
          </a:prstGeom>
          <a:noFill/>
          <a:ln w="5080">
            <a:solidFill>
              <a:srgbClr val="10192F">
                <a:alpha val="40000"/>
              </a:srgbClr>
            </a:solidFill>
            <a:prstDash val="solid"/>
          </a:ln>
        </p:spPr>
      </p:sp>
      <p:sp>
        <p:nvSpPr>
          <p:cNvPr id="25" name="Shape 23"/>
          <p:cNvSpPr/>
          <p:nvPr/>
        </p:nvSpPr>
        <p:spPr>
          <a:xfrm>
            <a:off x="182880" y="2752344"/>
            <a:ext cx="11795760" cy="0"/>
          </a:xfrm>
          <a:prstGeom prst="line">
            <a:avLst/>
          </a:prstGeom>
          <a:noFill/>
          <a:ln w="5080">
            <a:solidFill>
              <a:srgbClr val="10192F">
                <a:alpha val="40000"/>
              </a:srgbClr>
            </a:solidFill>
            <a:prstDash val="solid"/>
          </a:ln>
        </p:spPr>
      </p:sp>
      <p:sp>
        <p:nvSpPr>
          <p:cNvPr id="26" name="Shape 24"/>
          <p:cNvSpPr/>
          <p:nvPr/>
        </p:nvSpPr>
        <p:spPr>
          <a:xfrm>
            <a:off x="182880" y="3456432"/>
            <a:ext cx="11795760" cy="0"/>
          </a:xfrm>
          <a:prstGeom prst="line">
            <a:avLst/>
          </a:prstGeom>
          <a:noFill/>
          <a:ln w="5080">
            <a:solidFill>
              <a:srgbClr val="10192F">
                <a:alpha val="40000"/>
              </a:srgbClr>
            </a:solidFill>
            <a:prstDash val="solid"/>
          </a:ln>
        </p:spPr>
      </p:sp>
      <p:sp>
        <p:nvSpPr>
          <p:cNvPr id="27" name="Shape 25"/>
          <p:cNvSpPr/>
          <p:nvPr/>
        </p:nvSpPr>
        <p:spPr>
          <a:xfrm>
            <a:off x="182880" y="4160520"/>
            <a:ext cx="11795760" cy="0"/>
          </a:xfrm>
          <a:prstGeom prst="line">
            <a:avLst/>
          </a:prstGeom>
          <a:noFill/>
          <a:ln w="5080">
            <a:solidFill>
              <a:srgbClr val="10192F">
                <a:alpha val="40000"/>
              </a:srgbClr>
            </a:solidFill>
            <a:prstDash val="solid"/>
          </a:ln>
        </p:spPr>
      </p:sp>
      <p:sp>
        <p:nvSpPr>
          <p:cNvPr id="28" name="Shape 26"/>
          <p:cNvSpPr/>
          <p:nvPr/>
        </p:nvSpPr>
        <p:spPr>
          <a:xfrm>
            <a:off x="182880" y="4864608"/>
            <a:ext cx="11795760" cy="0"/>
          </a:xfrm>
          <a:prstGeom prst="line">
            <a:avLst/>
          </a:prstGeom>
          <a:noFill/>
          <a:ln w="5080">
            <a:solidFill>
              <a:srgbClr val="10192F">
                <a:alpha val="40000"/>
              </a:srgbClr>
            </a:solidFill>
            <a:prstDash val="solid"/>
          </a:ln>
        </p:spPr>
      </p:sp>
      <p:sp>
        <p:nvSpPr>
          <p:cNvPr id="29" name="Shape 27"/>
          <p:cNvSpPr/>
          <p:nvPr/>
        </p:nvSpPr>
        <p:spPr>
          <a:xfrm>
            <a:off x="182880" y="5568696"/>
            <a:ext cx="11795760" cy="0"/>
          </a:xfrm>
          <a:prstGeom prst="line">
            <a:avLst/>
          </a:prstGeom>
          <a:noFill/>
          <a:ln w="5080">
            <a:solidFill>
              <a:srgbClr val="10192F">
                <a:alpha val="40000"/>
              </a:srgbClr>
            </a:solidFill>
            <a:prstDash val="solid"/>
          </a:ln>
        </p:spPr>
      </p:sp>
      <p:sp>
        <p:nvSpPr>
          <p:cNvPr id="30" name="Shape 28"/>
          <p:cNvSpPr/>
          <p:nvPr/>
        </p:nvSpPr>
        <p:spPr>
          <a:xfrm>
            <a:off x="182880" y="411480"/>
            <a:ext cx="22860" cy="22860"/>
          </a:xfrm>
          <a:prstGeom prst="ellipse">
            <a:avLst/>
          </a:prstGeom>
          <a:solidFill>
            <a:srgbClr val="22D3EE">
              <a:alpha val="55000"/>
            </a:srgbClr>
          </a:solidFill>
          <a:ln w="12700">
            <a:solidFill>
              <a:srgbClr val="22D3EE">
                <a:alpha val="0"/>
              </a:srgbClr>
            </a:solidFill>
            <a:prstDash val="solid"/>
          </a:ln>
        </p:spPr>
      </p:sp>
      <p:sp>
        <p:nvSpPr>
          <p:cNvPr id="31" name="Shape 29"/>
          <p:cNvSpPr/>
          <p:nvPr/>
        </p:nvSpPr>
        <p:spPr>
          <a:xfrm>
            <a:off x="1764792" y="2596896"/>
            <a:ext cx="33833" cy="33833"/>
          </a:xfrm>
          <a:prstGeom prst="ellipse">
            <a:avLst/>
          </a:prstGeom>
          <a:solidFill>
            <a:srgbClr val="A78BFA">
              <a:alpha val="55000"/>
            </a:srgbClr>
          </a:solidFill>
          <a:ln w="12700">
            <a:solidFill>
              <a:srgbClr val="A78BFA">
                <a:alpha val="0"/>
              </a:srgbClr>
            </a:solidFill>
            <a:prstDash val="solid"/>
          </a:ln>
        </p:spPr>
      </p:sp>
      <p:sp>
        <p:nvSpPr>
          <p:cNvPr id="32" name="Shape 30"/>
          <p:cNvSpPr/>
          <p:nvPr/>
        </p:nvSpPr>
        <p:spPr>
          <a:xfrm>
            <a:off x="3346704" y="4782312"/>
            <a:ext cx="44806" cy="44806"/>
          </a:xfrm>
          <a:prstGeom prst="ellipse">
            <a:avLst/>
          </a:prstGeom>
          <a:solidFill>
            <a:srgbClr val="60A5FA">
              <a:alpha val="55000"/>
            </a:srgbClr>
          </a:solidFill>
          <a:ln w="12700">
            <a:solidFill>
              <a:srgbClr val="60A5FA">
                <a:alpha val="0"/>
              </a:srgbClr>
            </a:solidFill>
            <a:prstDash val="solid"/>
          </a:ln>
        </p:spPr>
      </p:sp>
      <p:sp>
        <p:nvSpPr>
          <p:cNvPr id="33" name="Shape 31"/>
          <p:cNvSpPr/>
          <p:nvPr/>
        </p:nvSpPr>
        <p:spPr>
          <a:xfrm>
            <a:off x="4928616" y="1115568"/>
            <a:ext cx="22860" cy="22860"/>
          </a:xfrm>
          <a:prstGeom prst="ellipse">
            <a:avLst/>
          </a:prstGeom>
          <a:solidFill>
            <a:srgbClr val="34D399">
              <a:alpha val="55000"/>
            </a:srgbClr>
          </a:solidFill>
          <a:ln w="12700">
            <a:solidFill>
              <a:srgbClr val="34D399">
                <a:alpha val="0"/>
              </a:srgbClr>
            </a:solidFill>
            <a:prstDash val="solid"/>
          </a:ln>
        </p:spPr>
      </p:sp>
      <p:sp>
        <p:nvSpPr>
          <p:cNvPr id="34" name="Shape 32"/>
          <p:cNvSpPr/>
          <p:nvPr/>
        </p:nvSpPr>
        <p:spPr>
          <a:xfrm>
            <a:off x="6510528" y="3300984"/>
            <a:ext cx="33833" cy="33833"/>
          </a:xfrm>
          <a:prstGeom prst="ellipse">
            <a:avLst/>
          </a:prstGeom>
          <a:solidFill>
            <a:srgbClr val="22D3EE">
              <a:alpha val="55000"/>
            </a:srgbClr>
          </a:solidFill>
          <a:ln w="12700">
            <a:solidFill>
              <a:srgbClr val="22D3EE">
                <a:alpha val="0"/>
              </a:srgbClr>
            </a:solidFill>
            <a:prstDash val="solid"/>
          </a:ln>
        </p:spPr>
      </p:sp>
      <p:sp>
        <p:nvSpPr>
          <p:cNvPr id="35" name="Shape 33"/>
          <p:cNvSpPr/>
          <p:nvPr/>
        </p:nvSpPr>
        <p:spPr>
          <a:xfrm>
            <a:off x="8092440" y="5486400"/>
            <a:ext cx="44806" cy="44806"/>
          </a:xfrm>
          <a:prstGeom prst="ellipse">
            <a:avLst/>
          </a:prstGeom>
          <a:solidFill>
            <a:srgbClr val="A78BFA">
              <a:alpha val="55000"/>
            </a:srgbClr>
          </a:solidFill>
          <a:ln w="12700">
            <a:solidFill>
              <a:srgbClr val="A78BFA">
                <a:alpha val="0"/>
              </a:srgbClr>
            </a:solidFill>
            <a:prstDash val="solid"/>
          </a:ln>
        </p:spPr>
      </p:sp>
      <p:sp>
        <p:nvSpPr>
          <p:cNvPr id="36" name="Shape 34"/>
          <p:cNvSpPr/>
          <p:nvPr/>
        </p:nvSpPr>
        <p:spPr>
          <a:xfrm>
            <a:off x="9674352" y="1819656"/>
            <a:ext cx="22860" cy="22860"/>
          </a:xfrm>
          <a:prstGeom prst="ellipse">
            <a:avLst/>
          </a:prstGeom>
          <a:solidFill>
            <a:srgbClr val="60A5FA">
              <a:alpha val="55000"/>
            </a:srgbClr>
          </a:solidFill>
          <a:ln w="12700">
            <a:solidFill>
              <a:srgbClr val="60A5FA">
                <a:alpha val="0"/>
              </a:srgbClr>
            </a:solidFill>
            <a:prstDash val="solid"/>
          </a:ln>
        </p:spPr>
      </p:sp>
      <p:sp>
        <p:nvSpPr>
          <p:cNvPr id="37" name="Shape 35"/>
          <p:cNvSpPr/>
          <p:nvPr/>
        </p:nvSpPr>
        <p:spPr>
          <a:xfrm>
            <a:off x="11256264" y="4005072"/>
            <a:ext cx="33833" cy="33833"/>
          </a:xfrm>
          <a:prstGeom prst="ellipse">
            <a:avLst/>
          </a:prstGeom>
          <a:solidFill>
            <a:srgbClr val="34D399">
              <a:alpha val="55000"/>
            </a:srgbClr>
          </a:solidFill>
          <a:ln w="12700">
            <a:solidFill>
              <a:srgbClr val="34D399">
                <a:alpha val="0"/>
              </a:srgbClr>
            </a:solidFill>
            <a:prstDash val="solid"/>
          </a:ln>
        </p:spPr>
      </p:sp>
      <p:sp>
        <p:nvSpPr>
          <p:cNvPr id="38" name="Shape 36"/>
          <p:cNvSpPr/>
          <p:nvPr/>
        </p:nvSpPr>
        <p:spPr>
          <a:xfrm>
            <a:off x="1133856" y="6190488"/>
            <a:ext cx="44806" cy="44806"/>
          </a:xfrm>
          <a:prstGeom prst="ellipse">
            <a:avLst/>
          </a:prstGeom>
          <a:solidFill>
            <a:srgbClr val="22D3EE">
              <a:alpha val="55000"/>
            </a:srgbClr>
          </a:solidFill>
          <a:ln w="12700">
            <a:solidFill>
              <a:srgbClr val="22D3EE">
                <a:alpha val="0"/>
              </a:srgbClr>
            </a:solidFill>
            <a:prstDash val="solid"/>
          </a:ln>
        </p:spPr>
      </p:sp>
      <p:sp>
        <p:nvSpPr>
          <p:cNvPr id="39" name="Shape 37"/>
          <p:cNvSpPr/>
          <p:nvPr/>
        </p:nvSpPr>
        <p:spPr>
          <a:xfrm>
            <a:off x="2715768" y="2523744"/>
            <a:ext cx="22860" cy="22860"/>
          </a:xfrm>
          <a:prstGeom prst="ellipse">
            <a:avLst/>
          </a:prstGeom>
          <a:solidFill>
            <a:srgbClr val="A78BFA">
              <a:alpha val="55000"/>
            </a:srgbClr>
          </a:solidFill>
          <a:ln w="12700">
            <a:solidFill>
              <a:srgbClr val="A78BFA">
                <a:alpha val="0"/>
              </a:srgbClr>
            </a:solidFill>
            <a:prstDash val="solid"/>
          </a:ln>
        </p:spPr>
      </p:sp>
      <p:sp>
        <p:nvSpPr>
          <p:cNvPr id="40" name="Shape 38"/>
          <p:cNvSpPr/>
          <p:nvPr/>
        </p:nvSpPr>
        <p:spPr>
          <a:xfrm>
            <a:off x="4297680" y="4709160"/>
            <a:ext cx="33833" cy="33833"/>
          </a:xfrm>
          <a:prstGeom prst="ellipse">
            <a:avLst/>
          </a:prstGeom>
          <a:solidFill>
            <a:srgbClr val="60A5FA">
              <a:alpha val="55000"/>
            </a:srgbClr>
          </a:solidFill>
          <a:ln w="12700">
            <a:solidFill>
              <a:srgbClr val="60A5FA">
                <a:alpha val="0"/>
              </a:srgbClr>
            </a:solidFill>
            <a:prstDash val="solid"/>
          </a:ln>
        </p:spPr>
      </p:sp>
      <p:sp>
        <p:nvSpPr>
          <p:cNvPr id="41" name="Shape 39"/>
          <p:cNvSpPr/>
          <p:nvPr/>
        </p:nvSpPr>
        <p:spPr>
          <a:xfrm>
            <a:off x="5879592" y="1042416"/>
            <a:ext cx="44806" cy="44806"/>
          </a:xfrm>
          <a:prstGeom prst="ellipse">
            <a:avLst/>
          </a:prstGeom>
          <a:solidFill>
            <a:srgbClr val="34D399">
              <a:alpha val="55000"/>
            </a:srgbClr>
          </a:solidFill>
          <a:ln w="12700">
            <a:solidFill>
              <a:srgbClr val="34D399">
                <a:alpha val="0"/>
              </a:srgbClr>
            </a:solidFill>
            <a:prstDash val="solid"/>
          </a:ln>
        </p:spPr>
      </p:sp>
      <p:sp>
        <p:nvSpPr>
          <p:cNvPr id="42" name="Shape 40"/>
          <p:cNvSpPr/>
          <p:nvPr/>
        </p:nvSpPr>
        <p:spPr>
          <a:xfrm>
            <a:off x="7461504" y="3227832"/>
            <a:ext cx="22860" cy="22860"/>
          </a:xfrm>
          <a:prstGeom prst="ellipse">
            <a:avLst/>
          </a:prstGeom>
          <a:solidFill>
            <a:srgbClr val="22D3EE">
              <a:alpha val="55000"/>
            </a:srgbClr>
          </a:solidFill>
          <a:ln w="12700">
            <a:solidFill>
              <a:srgbClr val="22D3EE">
                <a:alpha val="0"/>
              </a:srgbClr>
            </a:solidFill>
            <a:prstDash val="solid"/>
          </a:ln>
        </p:spPr>
      </p:sp>
      <p:sp>
        <p:nvSpPr>
          <p:cNvPr id="43" name="Shape 41"/>
          <p:cNvSpPr/>
          <p:nvPr/>
        </p:nvSpPr>
        <p:spPr>
          <a:xfrm>
            <a:off x="9043416" y="5413248"/>
            <a:ext cx="33833" cy="33833"/>
          </a:xfrm>
          <a:prstGeom prst="ellipse">
            <a:avLst/>
          </a:prstGeom>
          <a:solidFill>
            <a:srgbClr val="A78BFA">
              <a:alpha val="55000"/>
            </a:srgbClr>
          </a:solidFill>
          <a:ln w="12700">
            <a:solidFill>
              <a:srgbClr val="A78BFA">
                <a:alpha val="0"/>
              </a:srgbClr>
            </a:solidFill>
            <a:prstDash val="solid"/>
          </a:ln>
        </p:spPr>
      </p:sp>
      <p:sp>
        <p:nvSpPr>
          <p:cNvPr id="44" name="Shape 42"/>
          <p:cNvSpPr/>
          <p:nvPr/>
        </p:nvSpPr>
        <p:spPr>
          <a:xfrm>
            <a:off x="10625328" y="1746504"/>
            <a:ext cx="44806" cy="44806"/>
          </a:xfrm>
          <a:prstGeom prst="ellipse">
            <a:avLst/>
          </a:prstGeom>
          <a:solidFill>
            <a:srgbClr val="60A5FA">
              <a:alpha val="55000"/>
            </a:srgbClr>
          </a:solidFill>
          <a:ln w="12700">
            <a:solidFill>
              <a:srgbClr val="60A5FA">
                <a:alpha val="0"/>
              </a:srgbClr>
            </a:solidFill>
            <a:prstDash val="solid"/>
          </a:ln>
        </p:spPr>
      </p:sp>
      <p:sp>
        <p:nvSpPr>
          <p:cNvPr id="45" name="Shape 43"/>
          <p:cNvSpPr/>
          <p:nvPr/>
        </p:nvSpPr>
        <p:spPr>
          <a:xfrm>
            <a:off x="502920" y="3931920"/>
            <a:ext cx="22860" cy="22860"/>
          </a:xfrm>
          <a:prstGeom prst="ellipse">
            <a:avLst/>
          </a:prstGeom>
          <a:solidFill>
            <a:srgbClr val="34D399">
              <a:alpha val="55000"/>
            </a:srgbClr>
          </a:solidFill>
          <a:ln w="12700">
            <a:solidFill>
              <a:srgbClr val="34D399">
                <a:alpha val="0"/>
              </a:srgbClr>
            </a:solidFill>
            <a:prstDash val="solid"/>
          </a:ln>
        </p:spPr>
      </p:sp>
      <p:sp>
        <p:nvSpPr>
          <p:cNvPr id="46" name="Shape 44"/>
          <p:cNvSpPr/>
          <p:nvPr/>
        </p:nvSpPr>
        <p:spPr>
          <a:xfrm>
            <a:off x="2084832" y="6117336"/>
            <a:ext cx="33833" cy="33833"/>
          </a:xfrm>
          <a:prstGeom prst="ellipse">
            <a:avLst/>
          </a:prstGeom>
          <a:solidFill>
            <a:srgbClr val="22D3EE">
              <a:alpha val="55000"/>
            </a:srgbClr>
          </a:solidFill>
          <a:ln w="12700">
            <a:solidFill>
              <a:srgbClr val="22D3EE">
                <a:alpha val="0"/>
              </a:srgbClr>
            </a:solidFill>
            <a:prstDash val="solid"/>
          </a:ln>
        </p:spPr>
      </p:sp>
      <p:sp>
        <p:nvSpPr>
          <p:cNvPr id="47" name="Shape 45"/>
          <p:cNvSpPr/>
          <p:nvPr/>
        </p:nvSpPr>
        <p:spPr>
          <a:xfrm>
            <a:off x="3666744" y="2450592"/>
            <a:ext cx="44806" cy="44806"/>
          </a:xfrm>
          <a:prstGeom prst="ellipse">
            <a:avLst/>
          </a:prstGeom>
          <a:solidFill>
            <a:srgbClr val="A78BFA">
              <a:alpha val="55000"/>
            </a:srgbClr>
          </a:solidFill>
          <a:ln w="12700">
            <a:solidFill>
              <a:srgbClr val="A78BFA">
                <a:alpha val="0"/>
              </a:srgbClr>
            </a:solidFill>
            <a:prstDash val="solid"/>
          </a:ln>
        </p:spPr>
      </p:sp>
      <p:sp>
        <p:nvSpPr>
          <p:cNvPr id="48" name="Shape 46"/>
          <p:cNvSpPr/>
          <p:nvPr/>
        </p:nvSpPr>
        <p:spPr>
          <a:xfrm>
            <a:off x="5248656" y="4636008"/>
            <a:ext cx="22860" cy="22860"/>
          </a:xfrm>
          <a:prstGeom prst="ellipse">
            <a:avLst/>
          </a:prstGeom>
          <a:solidFill>
            <a:srgbClr val="60A5FA">
              <a:alpha val="55000"/>
            </a:srgbClr>
          </a:solidFill>
          <a:ln w="12700">
            <a:solidFill>
              <a:srgbClr val="60A5FA">
                <a:alpha val="0"/>
              </a:srgbClr>
            </a:solidFill>
            <a:prstDash val="solid"/>
          </a:ln>
        </p:spPr>
      </p:sp>
      <p:sp>
        <p:nvSpPr>
          <p:cNvPr id="49" name="Shape 47"/>
          <p:cNvSpPr/>
          <p:nvPr/>
        </p:nvSpPr>
        <p:spPr>
          <a:xfrm>
            <a:off x="6830568" y="969264"/>
            <a:ext cx="33833" cy="33833"/>
          </a:xfrm>
          <a:prstGeom prst="ellipse">
            <a:avLst/>
          </a:prstGeom>
          <a:solidFill>
            <a:srgbClr val="34D399">
              <a:alpha val="55000"/>
            </a:srgbClr>
          </a:solidFill>
          <a:ln w="12700">
            <a:solidFill>
              <a:srgbClr val="34D399">
                <a:alpha val="0"/>
              </a:srgbClr>
            </a:solidFill>
            <a:prstDash val="solid"/>
          </a:ln>
        </p:spPr>
      </p:sp>
      <p:sp>
        <p:nvSpPr>
          <p:cNvPr id="50" name="Shape 48"/>
          <p:cNvSpPr/>
          <p:nvPr/>
        </p:nvSpPr>
        <p:spPr>
          <a:xfrm>
            <a:off x="8412480" y="3154680"/>
            <a:ext cx="44806" cy="44806"/>
          </a:xfrm>
          <a:prstGeom prst="ellipse">
            <a:avLst/>
          </a:prstGeom>
          <a:solidFill>
            <a:srgbClr val="22D3EE">
              <a:alpha val="55000"/>
            </a:srgbClr>
          </a:solidFill>
          <a:ln w="12700">
            <a:solidFill>
              <a:srgbClr val="22D3EE">
                <a:alpha val="0"/>
              </a:srgbClr>
            </a:solidFill>
            <a:prstDash val="solid"/>
          </a:ln>
        </p:spPr>
      </p:sp>
      <p:sp>
        <p:nvSpPr>
          <p:cNvPr id="51" name="Shape 49"/>
          <p:cNvSpPr/>
          <p:nvPr/>
        </p:nvSpPr>
        <p:spPr>
          <a:xfrm>
            <a:off x="9994392" y="5340096"/>
            <a:ext cx="22860" cy="22860"/>
          </a:xfrm>
          <a:prstGeom prst="ellipse">
            <a:avLst/>
          </a:prstGeom>
          <a:solidFill>
            <a:srgbClr val="A78BFA">
              <a:alpha val="55000"/>
            </a:srgbClr>
          </a:solidFill>
          <a:ln w="12700">
            <a:solidFill>
              <a:srgbClr val="A78BFA">
                <a:alpha val="0"/>
              </a:srgbClr>
            </a:solidFill>
            <a:prstDash val="solid"/>
          </a:ln>
        </p:spPr>
      </p:sp>
      <p:sp>
        <p:nvSpPr>
          <p:cNvPr id="52" name="Shape 50"/>
          <p:cNvSpPr/>
          <p:nvPr/>
        </p:nvSpPr>
        <p:spPr>
          <a:xfrm>
            <a:off x="11576304" y="1673352"/>
            <a:ext cx="33833" cy="33833"/>
          </a:xfrm>
          <a:prstGeom prst="ellipse">
            <a:avLst/>
          </a:prstGeom>
          <a:solidFill>
            <a:srgbClr val="60A5FA">
              <a:alpha val="55000"/>
            </a:srgbClr>
          </a:solidFill>
          <a:ln w="12700">
            <a:solidFill>
              <a:srgbClr val="60A5FA">
                <a:alpha val="0"/>
              </a:srgbClr>
            </a:solidFill>
            <a:prstDash val="solid"/>
          </a:ln>
        </p:spPr>
      </p:sp>
      <p:sp>
        <p:nvSpPr>
          <p:cNvPr id="53" name="Shape 51"/>
          <p:cNvSpPr/>
          <p:nvPr/>
        </p:nvSpPr>
        <p:spPr>
          <a:xfrm>
            <a:off x="1453896" y="3858768"/>
            <a:ext cx="44806" cy="44806"/>
          </a:xfrm>
          <a:prstGeom prst="ellipse">
            <a:avLst/>
          </a:prstGeom>
          <a:solidFill>
            <a:srgbClr val="34D399">
              <a:alpha val="55000"/>
            </a:srgbClr>
          </a:solidFill>
          <a:ln w="12700">
            <a:solidFill>
              <a:srgbClr val="34D399">
                <a:alpha val="0"/>
              </a:srgbClr>
            </a:solidFill>
            <a:prstDash val="solid"/>
          </a:ln>
        </p:spPr>
      </p:sp>
      <p:sp>
        <p:nvSpPr>
          <p:cNvPr id="54" name="Shape 52"/>
          <p:cNvSpPr/>
          <p:nvPr/>
        </p:nvSpPr>
        <p:spPr>
          <a:xfrm>
            <a:off x="3035808" y="6044184"/>
            <a:ext cx="22860" cy="22860"/>
          </a:xfrm>
          <a:prstGeom prst="ellipse">
            <a:avLst/>
          </a:prstGeom>
          <a:solidFill>
            <a:srgbClr val="22D3EE">
              <a:alpha val="55000"/>
            </a:srgbClr>
          </a:solidFill>
          <a:ln w="12700">
            <a:solidFill>
              <a:srgbClr val="22D3EE">
                <a:alpha val="0"/>
              </a:srgbClr>
            </a:solidFill>
            <a:prstDash val="solid"/>
          </a:ln>
        </p:spPr>
      </p:sp>
      <p:sp>
        <p:nvSpPr>
          <p:cNvPr id="55" name="Shape 53"/>
          <p:cNvSpPr/>
          <p:nvPr/>
        </p:nvSpPr>
        <p:spPr>
          <a:xfrm>
            <a:off x="4617720" y="2377440"/>
            <a:ext cx="33833" cy="33833"/>
          </a:xfrm>
          <a:prstGeom prst="ellipse">
            <a:avLst/>
          </a:prstGeom>
          <a:solidFill>
            <a:srgbClr val="A78BFA">
              <a:alpha val="55000"/>
            </a:srgbClr>
          </a:solidFill>
          <a:ln w="12700">
            <a:solidFill>
              <a:srgbClr val="A78BFA">
                <a:alpha val="0"/>
              </a:srgbClr>
            </a:solidFill>
            <a:prstDash val="solid"/>
          </a:ln>
        </p:spPr>
      </p:sp>
      <p:sp>
        <p:nvSpPr>
          <p:cNvPr id="56" name="Shape 54"/>
          <p:cNvSpPr/>
          <p:nvPr/>
        </p:nvSpPr>
        <p:spPr>
          <a:xfrm>
            <a:off x="6199632" y="4562856"/>
            <a:ext cx="44806" cy="44806"/>
          </a:xfrm>
          <a:prstGeom prst="ellipse">
            <a:avLst/>
          </a:prstGeom>
          <a:solidFill>
            <a:srgbClr val="60A5FA">
              <a:alpha val="55000"/>
            </a:srgbClr>
          </a:solidFill>
          <a:ln w="12700">
            <a:solidFill>
              <a:srgbClr val="60A5FA">
                <a:alpha val="0"/>
              </a:srgbClr>
            </a:solidFill>
            <a:prstDash val="solid"/>
          </a:ln>
        </p:spPr>
      </p:sp>
      <p:sp>
        <p:nvSpPr>
          <p:cNvPr id="57" name="Shape 55"/>
          <p:cNvSpPr/>
          <p:nvPr/>
        </p:nvSpPr>
        <p:spPr>
          <a:xfrm>
            <a:off x="7781544" y="896112"/>
            <a:ext cx="22860" cy="22860"/>
          </a:xfrm>
          <a:prstGeom prst="ellipse">
            <a:avLst/>
          </a:prstGeom>
          <a:solidFill>
            <a:srgbClr val="34D399">
              <a:alpha val="55000"/>
            </a:srgbClr>
          </a:solidFill>
          <a:ln w="12700">
            <a:solidFill>
              <a:srgbClr val="34D399">
                <a:alpha val="0"/>
              </a:srgbClr>
            </a:solidFill>
            <a:prstDash val="solid"/>
          </a:ln>
        </p:spPr>
      </p:sp>
      <p:sp>
        <p:nvSpPr>
          <p:cNvPr id="58" name="Text 56"/>
          <p:cNvSpPr/>
          <p:nvPr/>
        </p:nvSpPr>
        <p:spPr>
          <a:xfrm>
            <a:off x="502920" y="320040"/>
            <a:ext cx="7589520" cy="320040"/>
          </a:xfrm>
          <a:prstGeom prst="rect">
            <a:avLst/>
          </a:prstGeom>
          <a:noFill/>
          <a:ln/>
        </p:spPr>
        <p:txBody>
          <a:bodyPr wrap="square" lIns="0" tIns="0" rIns="0" bIns="0" rtlCol="0" anchor="ctr"/>
          <a:lstStyle/>
          <a:p>
            <a:pPr indent="0" marL="0">
              <a:buNone/>
            </a:pPr>
            <a:r>
              <a:rPr lang="en-US" sz="1900" b="1" dirty="0">
                <a:solidFill>
                  <a:srgbClr val="FFFFFF"/>
                </a:solidFill>
                <a:latin typeface="Aptos Display" pitchFamily="34" charset="0"/>
                <a:ea typeface="Aptos Display" pitchFamily="34" charset="-122"/>
                <a:cs typeface="Aptos Display" pitchFamily="34" charset="-120"/>
              </a:rPr>
              <a:t>Deliverables &amp; Q&amp;A</a:t>
            </a:r>
            <a:endParaRPr lang="en-US" sz="1900" dirty="0"/>
          </a:p>
        </p:txBody>
      </p:sp>
      <p:sp>
        <p:nvSpPr>
          <p:cNvPr id="59" name="Text 57"/>
          <p:cNvSpPr/>
          <p:nvPr/>
        </p:nvSpPr>
        <p:spPr>
          <a:xfrm>
            <a:off x="521208" y="685800"/>
            <a:ext cx="7772400" cy="219456"/>
          </a:xfrm>
          <a:prstGeom prst="rect">
            <a:avLst/>
          </a:prstGeom>
          <a:noFill/>
          <a:ln/>
        </p:spPr>
        <p:txBody>
          <a:bodyPr wrap="square" lIns="0" tIns="0" rIns="0" bIns="0" rtlCol="0" anchor="ctr"/>
          <a:lstStyle/>
          <a:p>
            <a:pPr indent="0" marL="0">
              <a:buNone/>
            </a:pPr>
            <a:r>
              <a:rPr lang="en-US" sz="780" dirty="0">
                <a:solidFill>
                  <a:srgbClr val="94A3B8"/>
                </a:solidFill>
              </a:rPr>
              <a:t>Links • demo commands • contract address status</a:t>
            </a:r>
            <a:endParaRPr lang="en-US" sz="780" dirty="0"/>
          </a:p>
        </p:txBody>
      </p:sp>
      <p:sp>
        <p:nvSpPr>
          <p:cNvPr id="60" name="Text 58"/>
          <p:cNvSpPr/>
          <p:nvPr/>
        </p:nvSpPr>
        <p:spPr>
          <a:xfrm>
            <a:off x="9994392" y="320040"/>
            <a:ext cx="1691640" cy="237744"/>
          </a:xfrm>
          <a:prstGeom prst="rect">
            <a:avLst/>
          </a:prstGeom>
          <a:noFill/>
          <a:ln/>
        </p:spPr>
        <p:txBody>
          <a:bodyPr wrap="square" lIns="0" tIns="0" rIns="0" bIns="0" rtlCol="0" anchor="ctr"/>
          <a:lstStyle/>
          <a:p>
            <a:pPr algn="r" indent="0" marL="0">
              <a:buNone/>
            </a:pPr>
            <a:r>
              <a:rPr lang="en-US" sz="850" b="1" dirty="0">
                <a:solidFill>
                  <a:srgbClr val="22D3EE"/>
                </a:solidFill>
              </a:rPr>
              <a:t>closing</a:t>
            </a:r>
            <a:endParaRPr lang="en-US" sz="850" dirty="0"/>
          </a:p>
        </p:txBody>
      </p:sp>
      <p:sp>
        <p:nvSpPr>
          <p:cNvPr id="61" name="Shape 59"/>
          <p:cNvSpPr/>
          <p:nvPr/>
        </p:nvSpPr>
        <p:spPr>
          <a:xfrm>
            <a:off x="685800" y="1078992"/>
            <a:ext cx="5166360" cy="4553712"/>
          </a:xfrm>
          <a:prstGeom prst="roundRect">
            <a:avLst>
              <a:gd name="adj" fmla="val 2410"/>
            </a:avLst>
          </a:prstGeom>
          <a:solidFill>
            <a:srgbClr val="0A1226">
              <a:alpha val="96000"/>
            </a:srgbClr>
          </a:solidFill>
          <a:ln w="12700">
            <a:solidFill>
              <a:srgbClr val="22D3EE">
                <a:alpha val="75000"/>
              </a:srgbClr>
            </a:solidFill>
            <a:prstDash val="solid"/>
          </a:ln>
          <a:effectLst>
            <a:outerShdw sx="100000" sy="100000" kx="0" ky="0" algn="bl" rotWithShape="0" blurRad="25400" dist="50800" dir="2700000">
              <a:srgbClr val="000000">
                <a:alpha val="25000"/>
              </a:srgbClr>
            </a:outerShdw>
          </a:effectLst>
        </p:spPr>
      </p:sp>
      <p:sp>
        <p:nvSpPr>
          <p:cNvPr id="62" name="Text 60"/>
          <p:cNvSpPr/>
          <p:nvPr/>
        </p:nvSpPr>
        <p:spPr>
          <a:xfrm>
            <a:off x="960120" y="1389888"/>
            <a:ext cx="2103120" cy="219456"/>
          </a:xfrm>
          <a:prstGeom prst="rect">
            <a:avLst/>
          </a:prstGeom>
          <a:noFill/>
          <a:ln/>
        </p:spPr>
        <p:txBody>
          <a:bodyPr wrap="square" lIns="0" tIns="0" rIns="0" bIns="0" rtlCol="0" anchor="ctr"/>
          <a:lstStyle/>
          <a:p>
            <a:pPr indent="0" marL="0">
              <a:buNone/>
            </a:pPr>
            <a:r>
              <a:rPr lang="en-US" sz="1500" b="1" dirty="0">
                <a:solidFill>
                  <a:srgbClr val="FFFFFF"/>
                </a:solidFill>
              </a:rPr>
              <a:t>Submission checklist</a:t>
            </a:r>
            <a:endParaRPr lang="en-US" sz="1500" dirty="0"/>
          </a:p>
        </p:txBody>
      </p:sp>
      <p:sp>
        <p:nvSpPr>
          <p:cNvPr id="63" name="Shape 61"/>
          <p:cNvSpPr/>
          <p:nvPr/>
        </p:nvSpPr>
        <p:spPr>
          <a:xfrm>
            <a:off x="960120" y="1892808"/>
            <a:ext cx="256032" cy="256032"/>
          </a:xfrm>
          <a:prstGeom prst="roundRect">
            <a:avLst>
              <a:gd name="adj" fmla="val 14286"/>
            </a:avLst>
          </a:prstGeom>
          <a:solidFill>
            <a:srgbClr val="34D399">
              <a:alpha val="92000"/>
            </a:srgbClr>
          </a:solidFill>
          <a:ln w="12700">
            <a:solidFill>
              <a:srgbClr val="34D399"/>
            </a:solidFill>
            <a:prstDash val="solid"/>
          </a:ln>
        </p:spPr>
      </p:sp>
      <p:sp>
        <p:nvSpPr>
          <p:cNvPr id="64" name="Text 62"/>
          <p:cNvSpPr/>
          <p:nvPr/>
        </p:nvSpPr>
        <p:spPr>
          <a:xfrm>
            <a:off x="1024128" y="1956816"/>
            <a:ext cx="128016" cy="91440"/>
          </a:xfrm>
          <a:prstGeom prst="rect">
            <a:avLst/>
          </a:prstGeom>
          <a:noFill/>
          <a:ln/>
        </p:spPr>
        <p:txBody>
          <a:bodyPr wrap="square" lIns="0" tIns="0" rIns="0" bIns="0" rtlCol="0" anchor="ctr"/>
          <a:lstStyle/>
          <a:p>
            <a:pPr algn="ctr" indent="0" marL="0">
              <a:buNone/>
            </a:pPr>
            <a:r>
              <a:rPr lang="en-US" sz="540" b="1" dirty="0">
                <a:solidFill>
                  <a:srgbClr val="070A13"/>
                </a:solidFill>
              </a:rPr>
              <a:t>✓</a:t>
            </a:r>
            <a:endParaRPr lang="en-US" sz="540" dirty="0"/>
          </a:p>
        </p:txBody>
      </p:sp>
      <p:sp>
        <p:nvSpPr>
          <p:cNvPr id="65" name="Text 63"/>
          <p:cNvSpPr/>
          <p:nvPr/>
        </p:nvSpPr>
        <p:spPr>
          <a:xfrm>
            <a:off x="1353312" y="1874520"/>
            <a:ext cx="1463040" cy="146304"/>
          </a:xfrm>
          <a:prstGeom prst="rect">
            <a:avLst/>
          </a:prstGeom>
          <a:noFill/>
          <a:ln/>
        </p:spPr>
        <p:txBody>
          <a:bodyPr wrap="square" lIns="0" tIns="0" rIns="0" bIns="0" rtlCol="0" anchor="ctr">
            <a:normAutofit/>
          </a:bodyPr>
          <a:lstStyle/>
          <a:p>
            <a:pPr indent="0" marL="0">
              <a:buNone/>
            </a:pPr>
            <a:r>
              <a:rPr lang="en-US" sz="750" b="1" dirty="0">
                <a:solidFill>
                  <a:srgbClr val="E5E7EB"/>
                </a:solidFill>
              </a:rPr>
              <a:t>GitHub repository</a:t>
            </a:r>
            <a:endParaRPr lang="en-US" sz="750" dirty="0"/>
          </a:p>
        </p:txBody>
      </p:sp>
      <p:sp>
        <p:nvSpPr>
          <p:cNvPr id="66" name="Text 64"/>
          <p:cNvSpPr/>
          <p:nvPr/>
        </p:nvSpPr>
        <p:spPr>
          <a:xfrm>
            <a:off x="2834640" y="1874520"/>
            <a:ext cx="2606040" cy="155448"/>
          </a:xfrm>
          <a:prstGeom prst="rect">
            <a:avLst/>
          </a:prstGeom>
          <a:noFill/>
          <a:ln/>
        </p:spPr>
        <p:txBody>
          <a:bodyPr wrap="square" lIns="0" tIns="0" rIns="0" bIns="0" rtlCol="0" anchor="ctr">
            <a:normAutofit/>
          </a:bodyPr>
          <a:lstStyle/>
          <a:p>
            <a:pPr indent="0" marL="0">
              <a:buNone/>
            </a:pPr>
            <a:r>
              <a:rPr lang="en-US" sz="620" dirty="0">
                <a:solidFill>
                  <a:srgbClr val="94A3B8"/>
                </a:solidFill>
              </a:rPr>
              <a:t>github.com/caohansg2025-cloud/EVM-Analyzer-SC6107</a:t>
            </a:r>
            <a:endParaRPr lang="en-US" sz="620" dirty="0"/>
          </a:p>
        </p:txBody>
      </p:sp>
      <p:sp>
        <p:nvSpPr>
          <p:cNvPr id="67" name="Shape 65"/>
          <p:cNvSpPr/>
          <p:nvPr/>
        </p:nvSpPr>
        <p:spPr>
          <a:xfrm>
            <a:off x="960120" y="2459736"/>
            <a:ext cx="256032" cy="256032"/>
          </a:xfrm>
          <a:prstGeom prst="roundRect">
            <a:avLst>
              <a:gd name="adj" fmla="val 14286"/>
            </a:avLst>
          </a:prstGeom>
          <a:solidFill>
            <a:srgbClr val="34D399">
              <a:alpha val="92000"/>
            </a:srgbClr>
          </a:solidFill>
          <a:ln w="12700">
            <a:solidFill>
              <a:srgbClr val="34D399"/>
            </a:solidFill>
            <a:prstDash val="solid"/>
          </a:ln>
        </p:spPr>
      </p:sp>
      <p:sp>
        <p:nvSpPr>
          <p:cNvPr id="68" name="Text 66"/>
          <p:cNvSpPr/>
          <p:nvPr/>
        </p:nvSpPr>
        <p:spPr>
          <a:xfrm>
            <a:off x="1024128" y="2523744"/>
            <a:ext cx="128016" cy="91440"/>
          </a:xfrm>
          <a:prstGeom prst="rect">
            <a:avLst/>
          </a:prstGeom>
          <a:noFill/>
          <a:ln/>
        </p:spPr>
        <p:txBody>
          <a:bodyPr wrap="square" lIns="0" tIns="0" rIns="0" bIns="0" rtlCol="0" anchor="ctr"/>
          <a:lstStyle/>
          <a:p>
            <a:pPr algn="ctr" indent="0" marL="0">
              <a:buNone/>
            </a:pPr>
            <a:r>
              <a:rPr lang="en-US" sz="540" b="1" dirty="0">
                <a:solidFill>
                  <a:srgbClr val="070A13"/>
                </a:solidFill>
              </a:rPr>
              <a:t>✓</a:t>
            </a:r>
            <a:endParaRPr lang="en-US" sz="540" dirty="0"/>
          </a:p>
        </p:txBody>
      </p:sp>
      <p:sp>
        <p:nvSpPr>
          <p:cNvPr id="69" name="Text 67"/>
          <p:cNvSpPr/>
          <p:nvPr/>
        </p:nvSpPr>
        <p:spPr>
          <a:xfrm>
            <a:off x="1353312" y="2441448"/>
            <a:ext cx="1463040" cy="146304"/>
          </a:xfrm>
          <a:prstGeom prst="rect">
            <a:avLst/>
          </a:prstGeom>
          <a:noFill/>
          <a:ln/>
        </p:spPr>
        <p:txBody>
          <a:bodyPr wrap="square" lIns="0" tIns="0" rIns="0" bIns="0" rtlCol="0" anchor="ctr">
            <a:normAutofit/>
          </a:bodyPr>
          <a:lstStyle/>
          <a:p>
            <a:pPr indent="0" marL="0">
              <a:buNone/>
            </a:pPr>
            <a:r>
              <a:rPr lang="en-US" sz="750" b="1" dirty="0">
                <a:solidFill>
                  <a:srgbClr val="E5E7EB"/>
                </a:solidFill>
              </a:rPr>
              <a:t>Project demo link</a:t>
            </a:r>
            <a:endParaRPr lang="en-US" sz="750" dirty="0"/>
          </a:p>
        </p:txBody>
      </p:sp>
      <p:sp>
        <p:nvSpPr>
          <p:cNvPr id="70" name="Text 68"/>
          <p:cNvSpPr/>
          <p:nvPr/>
        </p:nvSpPr>
        <p:spPr>
          <a:xfrm>
            <a:off x="2834640" y="2441448"/>
            <a:ext cx="2606040" cy="155448"/>
          </a:xfrm>
          <a:prstGeom prst="rect">
            <a:avLst/>
          </a:prstGeom>
          <a:noFill/>
          <a:ln/>
        </p:spPr>
        <p:txBody>
          <a:bodyPr wrap="square" lIns="0" tIns="0" rIns="0" bIns="0" rtlCol="0" anchor="ctr">
            <a:normAutofit/>
          </a:bodyPr>
          <a:lstStyle/>
          <a:p>
            <a:pPr indent="0" marL="0">
              <a:buNone/>
            </a:pPr>
            <a:r>
              <a:rPr lang="en-US" sz="620" dirty="0">
                <a:solidFill>
                  <a:srgbClr val="94A3B8"/>
                </a:solidFill>
              </a:rPr>
              <a:t>local: http://127.0.0.1:3000</a:t>
            </a:r>
            <a:endParaRPr lang="en-US" sz="620" dirty="0"/>
          </a:p>
        </p:txBody>
      </p:sp>
      <p:sp>
        <p:nvSpPr>
          <p:cNvPr id="71" name="Shape 69"/>
          <p:cNvSpPr/>
          <p:nvPr/>
        </p:nvSpPr>
        <p:spPr>
          <a:xfrm>
            <a:off x="960120" y="3026664"/>
            <a:ext cx="256032" cy="256032"/>
          </a:xfrm>
          <a:prstGeom prst="roundRect">
            <a:avLst>
              <a:gd name="adj" fmla="val 14286"/>
            </a:avLst>
          </a:prstGeom>
          <a:solidFill>
            <a:srgbClr val="34D399">
              <a:alpha val="92000"/>
            </a:srgbClr>
          </a:solidFill>
          <a:ln w="12700">
            <a:solidFill>
              <a:srgbClr val="34D399"/>
            </a:solidFill>
            <a:prstDash val="solid"/>
          </a:ln>
        </p:spPr>
      </p:sp>
      <p:sp>
        <p:nvSpPr>
          <p:cNvPr id="72" name="Text 70"/>
          <p:cNvSpPr/>
          <p:nvPr/>
        </p:nvSpPr>
        <p:spPr>
          <a:xfrm>
            <a:off x="1024128" y="3090672"/>
            <a:ext cx="128016" cy="91440"/>
          </a:xfrm>
          <a:prstGeom prst="rect">
            <a:avLst/>
          </a:prstGeom>
          <a:noFill/>
          <a:ln/>
        </p:spPr>
        <p:txBody>
          <a:bodyPr wrap="square" lIns="0" tIns="0" rIns="0" bIns="0" rtlCol="0" anchor="ctr"/>
          <a:lstStyle/>
          <a:p>
            <a:pPr algn="ctr" indent="0" marL="0">
              <a:buNone/>
            </a:pPr>
            <a:r>
              <a:rPr lang="en-US" sz="540" b="1" dirty="0">
                <a:solidFill>
                  <a:srgbClr val="070A13"/>
                </a:solidFill>
              </a:rPr>
              <a:t>✓</a:t>
            </a:r>
            <a:endParaRPr lang="en-US" sz="540" dirty="0"/>
          </a:p>
        </p:txBody>
      </p:sp>
      <p:sp>
        <p:nvSpPr>
          <p:cNvPr id="73" name="Text 71"/>
          <p:cNvSpPr/>
          <p:nvPr/>
        </p:nvSpPr>
        <p:spPr>
          <a:xfrm>
            <a:off x="1353312" y="3008376"/>
            <a:ext cx="1463040" cy="146304"/>
          </a:xfrm>
          <a:prstGeom prst="rect">
            <a:avLst/>
          </a:prstGeom>
          <a:noFill/>
          <a:ln/>
        </p:spPr>
        <p:txBody>
          <a:bodyPr wrap="square" lIns="0" tIns="0" rIns="0" bIns="0" rtlCol="0" anchor="ctr">
            <a:normAutofit/>
          </a:bodyPr>
          <a:lstStyle/>
          <a:p>
            <a:pPr indent="0" marL="0">
              <a:buNone/>
            </a:pPr>
            <a:r>
              <a:rPr lang="en-US" sz="750" b="1" dirty="0">
                <a:solidFill>
                  <a:srgbClr val="E5E7EB"/>
                </a:solidFill>
              </a:rPr>
              <a:t>Backend Swagger</a:t>
            </a:r>
            <a:endParaRPr lang="en-US" sz="750" dirty="0"/>
          </a:p>
        </p:txBody>
      </p:sp>
      <p:sp>
        <p:nvSpPr>
          <p:cNvPr id="74" name="Text 72"/>
          <p:cNvSpPr/>
          <p:nvPr/>
        </p:nvSpPr>
        <p:spPr>
          <a:xfrm>
            <a:off x="2834640" y="3008376"/>
            <a:ext cx="2606040" cy="155448"/>
          </a:xfrm>
          <a:prstGeom prst="rect">
            <a:avLst/>
          </a:prstGeom>
          <a:noFill/>
          <a:ln/>
        </p:spPr>
        <p:txBody>
          <a:bodyPr wrap="square" lIns="0" tIns="0" rIns="0" bIns="0" rtlCol="0" anchor="ctr">
            <a:normAutofit/>
          </a:bodyPr>
          <a:lstStyle/>
          <a:p>
            <a:pPr indent="0" marL="0">
              <a:buNone/>
            </a:pPr>
            <a:r>
              <a:rPr lang="en-US" sz="620" dirty="0">
                <a:solidFill>
                  <a:srgbClr val="94A3B8"/>
                </a:solidFill>
              </a:rPr>
              <a:t>local: http://127.0.0.1:8000/docs</a:t>
            </a:r>
            <a:endParaRPr lang="en-US" sz="620" dirty="0"/>
          </a:p>
        </p:txBody>
      </p:sp>
      <p:sp>
        <p:nvSpPr>
          <p:cNvPr id="75" name="Shape 73"/>
          <p:cNvSpPr/>
          <p:nvPr/>
        </p:nvSpPr>
        <p:spPr>
          <a:xfrm>
            <a:off x="960120" y="3593592"/>
            <a:ext cx="256032" cy="256032"/>
          </a:xfrm>
          <a:prstGeom prst="roundRect">
            <a:avLst>
              <a:gd name="adj" fmla="val 14286"/>
            </a:avLst>
          </a:prstGeom>
          <a:solidFill>
            <a:srgbClr val="34D399">
              <a:alpha val="92000"/>
            </a:srgbClr>
          </a:solidFill>
          <a:ln w="12700">
            <a:solidFill>
              <a:srgbClr val="34D399"/>
            </a:solidFill>
            <a:prstDash val="solid"/>
          </a:ln>
        </p:spPr>
      </p:sp>
      <p:sp>
        <p:nvSpPr>
          <p:cNvPr id="76" name="Text 74"/>
          <p:cNvSpPr/>
          <p:nvPr/>
        </p:nvSpPr>
        <p:spPr>
          <a:xfrm>
            <a:off x="1024128" y="3657600"/>
            <a:ext cx="128016" cy="91440"/>
          </a:xfrm>
          <a:prstGeom prst="rect">
            <a:avLst/>
          </a:prstGeom>
          <a:noFill/>
          <a:ln/>
        </p:spPr>
        <p:txBody>
          <a:bodyPr wrap="square" lIns="0" tIns="0" rIns="0" bIns="0" rtlCol="0" anchor="ctr"/>
          <a:lstStyle/>
          <a:p>
            <a:pPr algn="ctr" indent="0" marL="0">
              <a:buNone/>
            </a:pPr>
            <a:r>
              <a:rPr lang="en-US" sz="540" b="1" dirty="0">
                <a:solidFill>
                  <a:srgbClr val="070A13"/>
                </a:solidFill>
              </a:rPr>
              <a:t>✓</a:t>
            </a:r>
            <a:endParaRPr lang="en-US" sz="540" dirty="0"/>
          </a:p>
        </p:txBody>
      </p:sp>
      <p:sp>
        <p:nvSpPr>
          <p:cNvPr id="77" name="Text 75"/>
          <p:cNvSpPr/>
          <p:nvPr/>
        </p:nvSpPr>
        <p:spPr>
          <a:xfrm>
            <a:off x="1353312" y="3575304"/>
            <a:ext cx="1463040" cy="146304"/>
          </a:xfrm>
          <a:prstGeom prst="rect">
            <a:avLst/>
          </a:prstGeom>
          <a:noFill/>
          <a:ln/>
        </p:spPr>
        <p:txBody>
          <a:bodyPr wrap="square" lIns="0" tIns="0" rIns="0" bIns="0" rtlCol="0" anchor="ctr">
            <a:normAutofit/>
          </a:bodyPr>
          <a:lstStyle/>
          <a:p>
            <a:pPr indent="0" marL="0">
              <a:buNone/>
            </a:pPr>
            <a:r>
              <a:rPr lang="en-US" sz="750" b="1" dirty="0">
                <a:solidFill>
                  <a:srgbClr val="E5E7EB"/>
                </a:solidFill>
              </a:rPr>
              <a:t>Slides</a:t>
            </a:r>
            <a:endParaRPr lang="en-US" sz="750" dirty="0"/>
          </a:p>
        </p:txBody>
      </p:sp>
      <p:sp>
        <p:nvSpPr>
          <p:cNvPr id="78" name="Text 76"/>
          <p:cNvSpPr/>
          <p:nvPr/>
        </p:nvSpPr>
        <p:spPr>
          <a:xfrm>
            <a:off x="2834640" y="3575304"/>
            <a:ext cx="2606040" cy="155448"/>
          </a:xfrm>
          <a:prstGeom prst="rect">
            <a:avLst/>
          </a:prstGeom>
          <a:noFill/>
          <a:ln/>
        </p:spPr>
        <p:txBody>
          <a:bodyPr wrap="square" lIns="0" tIns="0" rIns="0" bIns="0" rtlCol="0" anchor="ctr">
            <a:normAutofit/>
          </a:bodyPr>
          <a:lstStyle/>
          <a:p>
            <a:pPr indent="0" marL="0">
              <a:buNone/>
            </a:pPr>
            <a:r>
              <a:rPr lang="en-US" sz="620" dirty="0">
                <a:solidFill>
                  <a:srgbClr val="94A3B8"/>
                </a:solidFill>
              </a:rPr>
              <a:t>PPTX + exported PDF for NTULearn</a:t>
            </a:r>
            <a:endParaRPr lang="en-US" sz="620" dirty="0"/>
          </a:p>
        </p:txBody>
      </p:sp>
      <p:sp>
        <p:nvSpPr>
          <p:cNvPr id="79" name="Shape 77"/>
          <p:cNvSpPr/>
          <p:nvPr/>
        </p:nvSpPr>
        <p:spPr>
          <a:xfrm>
            <a:off x="960120" y="4160520"/>
            <a:ext cx="256032" cy="256032"/>
          </a:xfrm>
          <a:prstGeom prst="roundRect">
            <a:avLst>
              <a:gd name="adj" fmla="val 14286"/>
            </a:avLst>
          </a:prstGeom>
          <a:solidFill>
            <a:srgbClr val="34D399">
              <a:alpha val="92000"/>
            </a:srgbClr>
          </a:solidFill>
          <a:ln w="12700">
            <a:solidFill>
              <a:srgbClr val="34D399"/>
            </a:solidFill>
            <a:prstDash val="solid"/>
          </a:ln>
        </p:spPr>
      </p:sp>
      <p:sp>
        <p:nvSpPr>
          <p:cNvPr id="80" name="Text 78"/>
          <p:cNvSpPr/>
          <p:nvPr/>
        </p:nvSpPr>
        <p:spPr>
          <a:xfrm>
            <a:off x="1024128" y="4224528"/>
            <a:ext cx="128016" cy="91440"/>
          </a:xfrm>
          <a:prstGeom prst="rect">
            <a:avLst/>
          </a:prstGeom>
          <a:noFill/>
          <a:ln/>
        </p:spPr>
        <p:txBody>
          <a:bodyPr wrap="square" lIns="0" tIns="0" rIns="0" bIns="0" rtlCol="0" anchor="ctr"/>
          <a:lstStyle/>
          <a:p>
            <a:pPr algn="ctr" indent="0" marL="0">
              <a:buNone/>
            </a:pPr>
            <a:r>
              <a:rPr lang="en-US" sz="540" b="1" dirty="0">
                <a:solidFill>
                  <a:srgbClr val="070A13"/>
                </a:solidFill>
              </a:rPr>
              <a:t>✓</a:t>
            </a:r>
            <a:endParaRPr lang="en-US" sz="540" dirty="0"/>
          </a:p>
        </p:txBody>
      </p:sp>
      <p:sp>
        <p:nvSpPr>
          <p:cNvPr id="81" name="Text 79"/>
          <p:cNvSpPr/>
          <p:nvPr/>
        </p:nvSpPr>
        <p:spPr>
          <a:xfrm>
            <a:off x="1353312" y="4142232"/>
            <a:ext cx="1463040" cy="146304"/>
          </a:xfrm>
          <a:prstGeom prst="rect">
            <a:avLst/>
          </a:prstGeom>
          <a:noFill/>
          <a:ln/>
        </p:spPr>
        <p:txBody>
          <a:bodyPr wrap="square" lIns="0" tIns="0" rIns="0" bIns="0" rtlCol="0" anchor="ctr">
            <a:normAutofit/>
          </a:bodyPr>
          <a:lstStyle/>
          <a:p>
            <a:pPr indent="0" marL="0">
              <a:buNone/>
            </a:pPr>
            <a:r>
              <a:rPr lang="en-US" sz="750" b="1" dirty="0">
                <a:solidFill>
                  <a:srgbClr val="E5E7EB"/>
                </a:solidFill>
              </a:rPr>
              <a:t>Contract addresses</a:t>
            </a:r>
            <a:endParaRPr lang="en-US" sz="750" dirty="0"/>
          </a:p>
        </p:txBody>
      </p:sp>
      <p:sp>
        <p:nvSpPr>
          <p:cNvPr id="82" name="Text 80"/>
          <p:cNvSpPr/>
          <p:nvPr/>
        </p:nvSpPr>
        <p:spPr>
          <a:xfrm>
            <a:off x="2834640" y="4142232"/>
            <a:ext cx="2606040" cy="155448"/>
          </a:xfrm>
          <a:prstGeom prst="rect">
            <a:avLst/>
          </a:prstGeom>
          <a:noFill/>
          <a:ln/>
        </p:spPr>
        <p:txBody>
          <a:bodyPr wrap="square" lIns="0" tIns="0" rIns="0" bIns="0" rtlCol="0" anchor="ctr">
            <a:normAutofit/>
          </a:bodyPr>
          <a:lstStyle/>
          <a:p>
            <a:pPr indent="0" marL="0">
              <a:buNone/>
            </a:pPr>
            <a:r>
              <a:rPr lang="en-US" sz="620" dirty="0">
                <a:solidFill>
                  <a:srgbClr val="94A3B8"/>
                </a:solidFill>
              </a:rPr>
              <a:t>Analyzer project: no deployed protocol contract; local fixtures mapped to sample addresses</a:t>
            </a:r>
            <a:endParaRPr lang="en-US" sz="620" dirty="0"/>
          </a:p>
        </p:txBody>
      </p:sp>
      <p:sp>
        <p:nvSpPr>
          <p:cNvPr id="83" name="Shape 81"/>
          <p:cNvSpPr/>
          <p:nvPr/>
        </p:nvSpPr>
        <p:spPr>
          <a:xfrm>
            <a:off x="6263640" y="1078992"/>
            <a:ext cx="5166360" cy="2057400"/>
          </a:xfrm>
          <a:prstGeom prst="roundRect">
            <a:avLst>
              <a:gd name="adj" fmla="val 5333"/>
            </a:avLst>
          </a:prstGeom>
          <a:solidFill>
            <a:srgbClr val="050816">
              <a:alpha val="96000"/>
            </a:srgbClr>
          </a:solidFill>
          <a:ln w="12700">
            <a:solidFill>
              <a:srgbClr val="27324D"/>
            </a:solidFill>
            <a:prstDash val="solid"/>
          </a:ln>
          <a:effectLst>
            <a:outerShdw sx="100000" sy="100000" kx="0" ky="0" algn="bl" rotWithShape="0" blurRad="25400" dist="50800" dir="2700000">
              <a:srgbClr val="000000">
                <a:alpha val="25000"/>
              </a:srgbClr>
            </a:outerShdw>
          </a:effectLst>
        </p:spPr>
      </p:sp>
      <p:sp>
        <p:nvSpPr>
          <p:cNvPr id="84" name="Text 82"/>
          <p:cNvSpPr/>
          <p:nvPr/>
        </p:nvSpPr>
        <p:spPr>
          <a:xfrm>
            <a:off x="6510528" y="1371600"/>
            <a:ext cx="1371600" cy="201168"/>
          </a:xfrm>
          <a:prstGeom prst="rect">
            <a:avLst/>
          </a:prstGeom>
          <a:noFill/>
          <a:ln/>
        </p:spPr>
        <p:txBody>
          <a:bodyPr wrap="square" lIns="0" tIns="0" rIns="0" bIns="0" rtlCol="0" anchor="ctr"/>
          <a:lstStyle/>
          <a:p>
            <a:pPr indent="0" marL="0">
              <a:buNone/>
            </a:pPr>
            <a:r>
              <a:rPr lang="en-US" sz="1300" b="1" dirty="0">
                <a:solidFill>
                  <a:srgbClr val="FFFFFF"/>
                </a:solidFill>
              </a:rPr>
              <a:t>Run commands</a:t>
            </a:r>
            <a:endParaRPr lang="en-US" sz="1300" dirty="0"/>
          </a:p>
        </p:txBody>
      </p:sp>
      <p:sp>
        <p:nvSpPr>
          <p:cNvPr id="85" name="Text 83"/>
          <p:cNvSpPr/>
          <p:nvPr/>
        </p:nvSpPr>
        <p:spPr>
          <a:xfrm>
            <a:off x="6510528" y="1773936"/>
            <a:ext cx="4480560" cy="804672"/>
          </a:xfrm>
          <a:prstGeom prst="rect">
            <a:avLst/>
          </a:prstGeom>
          <a:noFill/>
          <a:ln/>
        </p:spPr>
        <p:txBody>
          <a:bodyPr wrap="square" lIns="254" tIns="254" rIns="254" bIns="254" rtlCol="0" anchor="ctr">
            <a:normAutofit/>
          </a:bodyPr>
          <a:lstStyle/>
          <a:p>
            <a:pPr indent="0" marL="0">
              <a:buNone/>
            </a:pPr>
            <a:r>
              <a:rPr lang="en-US" sz="580" dirty="0">
                <a:solidFill>
                  <a:srgbClr val="CBD5E1"/>
                </a:solidFill>
                <a:latin typeface="Cascadia Code" pitchFamily="34" charset="0"/>
                <a:ea typeface="Cascadia Code" pitchFamily="34" charset="-122"/>
                <a:cs typeface="Cascadia Code" pitchFamily="34" charset="-120"/>
              </a:rPr>
              <a:t>Terminal 1: uv run uvicorn backend.app.main:app --host 127.0.0.1 --port 8000 --reload</a:t>
            </a:r>
            <a:endParaRPr lang="en-US" sz="580" dirty="0"/>
          </a:p>
          <a:p>
            <a:pPr indent="0" marL="0">
              <a:buNone/>
            </a:pPr>
            <a:r>
              <a:rPr lang="en-US" sz="580" dirty="0">
                <a:solidFill>
                  <a:srgbClr val="CBD5E1"/>
                </a:solidFill>
                <a:latin typeface="Cascadia Code" pitchFamily="34" charset="0"/>
                <a:ea typeface="Cascadia Code" pitchFamily="34" charset="-122"/>
                <a:cs typeface="Cascadia Code" pitchFamily="34" charset="-120"/>
              </a:rPr>
              <a:t>Terminal 2: cd frontend &amp;&amp; npm run dev</a:t>
            </a:r>
            <a:endParaRPr lang="en-US" sz="580" dirty="0"/>
          </a:p>
          <a:p>
            <a:pPr indent="0" marL="0">
              <a:buNone/>
            </a:pPr>
            <a:r>
              <a:rPr lang="en-US" sz="580" dirty="0">
                <a:solidFill>
                  <a:srgbClr val="CBD5E1"/>
                </a:solidFill>
                <a:latin typeface="Cascadia Code" pitchFamily="34" charset="0"/>
                <a:ea typeface="Cascadia Code" pitchFamily="34" charset="-122"/>
                <a:cs typeface="Cascadia Code" pitchFamily="34" charset="-120"/>
              </a:rPr>
              <a:t>Security: uv run python backend/security_scan.py test_contracts/VulnerableVault.sol --pretty</a:t>
            </a:r>
            <a:endParaRPr lang="en-US" sz="580" dirty="0"/>
          </a:p>
        </p:txBody>
      </p:sp>
      <p:sp>
        <p:nvSpPr>
          <p:cNvPr id="86" name="Shape 84"/>
          <p:cNvSpPr/>
          <p:nvPr/>
        </p:nvSpPr>
        <p:spPr>
          <a:xfrm>
            <a:off x="6263640" y="3401568"/>
            <a:ext cx="5166360" cy="2231136"/>
          </a:xfrm>
          <a:prstGeom prst="roundRect">
            <a:avLst>
              <a:gd name="adj" fmla="val 4918"/>
            </a:avLst>
          </a:prstGeom>
          <a:solidFill>
            <a:srgbClr val="0A1226">
              <a:alpha val="96000"/>
            </a:srgbClr>
          </a:solidFill>
          <a:ln w="12700">
            <a:solidFill>
              <a:srgbClr val="FB7185">
                <a:alpha val="65000"/>
              </a:srgbClr>
            </a:solidFill>
            <a:prstDash val="solid"/>
          </a:ln>
          <a:effectLst>
            <a:outerShdw sx="100000" sy="100000" kx="0" ky="0" algn="bl" rotWithShape="0" blurRad="25400" dist="50800" dir="2700000">
              <a:srgbClr val="000000">
                <a:alpha val="25000"/>
              </a:srgbClr>
            </a:outerShdw>
          </a:effectLst>
        </p:spPr>
      </p:sp>
      <p:sp>
        <p:nvSpPr>
          <p:cNvPr id="87" name="Text 85"/>
          <p:cNvSpPr/>
          <p:nvPr/>
        </p:nvSpPr>
        <p:spPr>
          <a:xfrm>
            <a:off x="6510528" y="3685032"/>
            <a:ext cx="2834640" cy="201168"/>
          </a:xfrm>
          <a:prstGeom prst="rect">
            <a:avLst/>
          </a:prstGeom>
          <a:noFill/>
          <a:ln/>
        </p:spPr>
        <p:txBody>
          <a:bodyPr wrap="square" lIns="0" tIns="0" rIns="0" bIns="0" rtlCol="0" anchor="ctr"/>
          <a:lstStyle/>
          <a:p>
            <a:pPr indent="0" marL="0">
              <a:buNone/>
            </a:pPr>
            <a:r>
              <a:rPr lang="en-US" sz="1300" b="1" dirty="0">
                <a:solidFill>
                  <a:srgbClr val="FFFFFF"/>
                </a:solidFill>
              </a:rPr>
              <a:t>Demo fixtures / sample inputs</a:t>
            </a:r>
            <a:endParaRPr lang="en-US" sz="1300" dirty="0"/>
          </a:p>
        </p:txBody>
      </p:sp>
      <p:sp>
        <p:nvSpPr>
          <p:cNvPr id="88" name="Text 86"/>
          <p:cNvSpPr/>
          <p:nvPr/>
        </p:nvSpPr>
        <p:spPr>
          <a:xfrm>
            <a:off x="6510528" y="4069080"/>
            <a:ext cx="1115568" cy="100584"/>
          </a:xfrm>
          <a:prstGeom prst="rect">
            <a:avLst/>
          </a:prstGeom>
          <a:noFill/>
          <a:ln/>
        </p:spPr>
        <p:txBody>
          <a:bodyPr wrap="square" lIns="0" tIns="0" rIns="0" bIns="0" rtlCol="0" anchor="ctr">
            <a:normAutofit/>
          </a:bodyPr>
          <a:lstStyle/>
          <a:p>
            <a:pPr indent="0" marL="0">
              <a:buNone/>
            </a:pPr>
            <a:r>
              <a:rPr lang="en-US" sz="570" b="1" dirty="0">
                <a:solidFill>
                  <a:srgbClr val="22D3EE"/>
                </a:solidFill>
              </a:rPr>
              <a:t>txHash</a:t>
            </a:r>
            <a:endParaRPr lang="en-US" sz="570" dirty="0"/>
          </a:p>
        </p:txBody>
      </p:sp>
      <p:sp>
        <p:nvSpPr>
          <p:cNvPr id="89" name="Text 87"/>
          <p:cNvSpPr/>
          <p:nvPr/>
        </p:nvSpPr>
        <p:spPr>
          <a:xfrm>
            <a:off x="7818120" y="4069080"/>
            <a:ext cx="3063240" cy="100584"/>
          </a:xfrm>
          <a:prstGeom prst="rect">
            <a:avLst/>
          </a:prstGeom>
          <a:noFill/>
          <a:ln/>
        </p:spPr>
        <p:txBody>
          <a:bodyPr wrap="square" lIns="0" tIns="0" rIns="0" bIns="0" rtlCol="0" anchor="ctr">
            <a:normAutofit/>
          </a:bodyPr>
          <a:lstStyle/>
          <a:p>
            <a:pPr indent="0" marL="0">
              <a:buNone/>
            </a:pPr>
            <a:r>
              <a:rPr lang="en-US" sz="530" dirty="0">
                <a:solidFill>
                  <a:srgbClr val="64748B"/>
                </a:solidFill>
                <a:latin typeface="Cascadia Code" pitchFamily="34" charset="0"/>
                <a:ea typeface="Cascadia Code" pitchFamily="34" charset="-122"/>
                <a:cs typeface="Cascadia Code" pitchFamily="34" charset="-120"/>
              </a:rPr>
              <a:t>0x5c504ed4...1b22026</a:t>
            </a:r>
            <a:endParaRPr lang="en-US" sz="530" dirty="0"/>
          </a:p>
        </p:txBody>
      </p:sp>
      <p:sp>
        <p:nvSpPr>
          <p:cNvPr id="90" name="Text 88"/>
          <p:cNvSpPr/>
          <p:nvPr/>
        </p:nvSpPr>
        <p:spPr>
          <a:xfrm>
            <a:off x="6510528" y="4325112"/>
            <a:ext cx="1115568" cy="100584"/>
          </a:xfrm>
          <a:prstGeom prst="rect">
            <a:avLst/>
          </a:prstGeom>
          <a:noFill/>
          <a:ln/>
        </p:spPr>
        <p:txBody>
          <a:bodyPr wrap="square" lIns="0" tIns="0" rIns="0" bIns="0" rtlCol="0" anchor="ctr">
            <a:normAutofit/>
          </a:bodyPr>
          <a:lstStyle/>
          <a:p>
            <a:pPr indent="0" marL="0">
              <a:buNone/>
            </a:pPr>
            <a:r>
              <a:rPr lang="en-US" sz="570" b="1" dirty="0">
                <a:solidFill>
                  <a:srgbClr val="94A3B8"/>
                </a:solidFill>
              </a:rPr>
              <a:t>VulnerableVault</a:t>
            </a:r>
            <a:endParaRPr lang="en-US" sz="570" dirty="0"/>
          </a:p>
        </p:txBody>
      </p:sp>
      <p:sp>
        <p:nvSpPr>
          <p:cNvPr id="91" name="Text 89"/>
          <p:cNvSpPr/>
          <p:nvPr/>
        </p:nvSpPr>
        <p:spPr>
          <a:xfrm>
            <a:off x="7818120" y="4325112"/>
            <a:ext cx="3063240" cy="100584"/>
          </a:xfrm>
          <a:prstGeom prst="rect">
            <a:avLst/>
          </a:prstGeom>
          <a:noFill/>
          <a:ln/>
        </p:spPr>
        <p:txBody>
          <a:bodyPr wrap="square" lIns="0" tIns="0" rIns="0" bIns="0" rtlCol="0" anchor="ctr">
            <a:normAutofit/>
          </a:bodyPr>
          <a:lstStyle/>
          <a:p>
            <a:pPr indent="0" marL="0">
              <a:buNone/>
            </a:pPr>
            <a:r>
              <a:rPr lang="en-US" sz="530" dirty="0">
                <a:solidFill>
                  <a:srgbClr val="64748B"/>
                </a:solidFill>
                <a:latin typeface="Cascadia Code" pitchFamily="34" charset="0"/>
                <a:ea typeface="Cascadia Code" pitchFamily="34" charset="-122"/>
                <a:cs typeface="Cascadia Code" pitchFamily="34" charset="-120"/>
              </a:rPr>
              <a:t>0x7a250d5630b4cf539739df2c5dacb4c659f2488d</a:t>
            </a:r>
            <a:endParaRPr lang="en-US" sz="530" dirty="0"/>
          </a:p>
        </p:txBody>
      </p:sp>
      <p:sp>
        <p:nvSpPr>
          <p:cNvPr id="92" name="Text 90"/>
          <p:cNvSpPr/>
          <p:nvPr/>
        </p:nvSpPr>
        <p:spPr>
          <a:xfrm>
            <a:off x="6510528" y="4581144"/>
            <a:ext cx="1115568" cy="100584"/>
          </a:xfrm>
          <a:prstGeom prst="rect">
            <a:avLst/>
          </a:prstGeom>
          <a:noFill/>
          <a:ln/>
        </p:spPr>
        <p:txBody>
          <a:bodyPr wrap="square" lIns="0" tIns="0" rIns="0" bIns="0" rtlCol="0" anchor="ctr">
            <a:normAutofit/>
          </a:bodyPr>
          <a:lstStyle/>
          <a:p>
            <a:pPr indent="0" marL="0">
              <a:buNone/>
            </a:pPr>
            <a:r>
              <a:rPr lang="en-US" sz="570" b="1" dirty="0">
                <a:solidFill>
                  <a:srgbClr val="94A3B8"/>
                </a:solidFill>
              </a:rPr>
              <a:t>AccessControlBug</a:t>
            </a:r>
            <a:endParaRPr lang="en-US" sz="570" dirty="0"/>
          </a:p>
        </p:txBody>
      </p:sp>
      <p:sp>
        <p:nvSpPr>
          <p:cNvPr id="93" name="Text 91"/>
          <p:cNvSpPr/>
          <p:nvPr/>
        </p:nvSpPr>
        <p:spPr>
          <a:xfrm>
            <a:off x="7818120" y="4581144"/>
            <a:ext cx="3063240" cy="100584"/>
          </a:xfrm>
          <a:prstGeom prst="rect">
            <a:avLst/>
          </a:prstGeom>
          <a:noFill/>
          <a:ln/>
        </p:spPr>
        <p:txBody>
          <a:bodyPr wrap="square" lIns="0" tIns="0" rIns="0" bIns="0" rtlCol="0" anchor="ctr">
            <a:normAutofit/>
          </a:bodyPr>
          <a:lstStyle/>
          <a:p>
            <a:pPr indent="0" marL="0">
              <a:buNone/>
            </a:pPr>
            <a:r>
              <a:rPr lang="en-US" sz="530" dirty="0">
                <a:solidFill>
                  <a:srgbClr val="64748B"/>
                </a:solidFill>
                <a:latin typeface="Cascadia Code" pitchFamily="34" charset="0"/>
                <a:ea typeface="Cascadia Code" pitchFamily="34" charset="-122"/>
                <a:cs typeface="Cascadia Code" pitchFamily="34" charset="-120"/>
              </a:rPr>
              <a:t>0x1111111111111111111111111111111111111111</a:t>
            </a:r>
            <a:endParaRPr lang="en-US" sz="530" dirty="0"/>
          </a:p>
        </p:txBody>
      </p:sp>
      <p:sp>
        <p:nvSpPr>
          <p:cNvPr id="94" name="Text 92"/>
          <p:cNvSpPr/>
          <p:nvPr/>
        </p:nvSpPr>
        <p:spPr>
          <a:xfrm>
            <a:off x="6510528" y="4837176"/>
            <a:ext cx="1115568" cy="100584"/>
          </a:xfrm>
          <a:prstGeom prst="rect">
            <a:avLst/>
          </a:prstGeom>
          <a:noFill/>
          <a:ln/>
        </p:spPr>
        <p:txBody>
          <a:bodyPr wrap="square" lIns="0" tIns="0" rIns="0" bIns="0" rtlCol="0" anchor="ctr">
            <a:normAutofit/>
          </a:bodyPr>
          <a:lstStyle/>
          <a:p>
            <a:pPr indent="0" marL="0">
              <a:buNone/>
            </a:pPr>
            <a:r>
              <a:rPr lang="en-US" sz="570" b="1" dirty="0">
                <a:solidFill>
                  <a:srgbClr val="94A3B8"/>
                </a:solidFill>
              </a:rPr>
              <a:t>UncheckedCall</a:t>
            </a:r>
            <a:endParaRPr lang="en-US" sz="570" dirty="0"/>
          </a:p>
        </p:txBody>
      </p:sp>
      <p:sp>
        <p:nvSpPr>
          <p:cNvPr id="95" name="Text 93"/>
          <p:cNvSpPr/>
          <p:nvPr/>
        </p:nvSpPr>
        <p:spPr>
          <a:xfrm>
            <a:off x="7818120" y="4837176"/>
            <a:ext cx="3063240" cy="100584"/>
          </a:xfrm>
          <a:prstGeom prst="rect">
            <a:avLst/>
          </a:prstGeom>
          <a:noFill/>
          <a:ln/>
        </p:spPr>
        <p:txBody>
          <a:bodyPr wrap="square" lIns="0" tIns="0" rIns="0" bIns="0" rtlCol="0" anchor="ctr">
            <a:normAutofit/>
          </a:bodyPr>
          <a:lstStyle/>
          <a:p>
            <a:pPr indent="0" marL="0">
              <a:buNone/>
            </a:pPr>
            <a:r>
              <a:rPr lang="en-US" sz="530" dirty="0">
                <a:solidFill>
                  <a:srgbClr val="64748B"/>
                </a:solidFill>
                <a:latin typeface="Cascadia Code" pitchFamily="34" charset="0"/>
                <a:ea typeface="Cascadia Code" pitchFamily="34" charset="-122"/>
                <a:cs typeface="Cascadia Code" pitchFamily="34" charset="-120"/>
              </a:rPr>
              <a:t>0x2222222222222222222222222222222222222222</a:t>
            </a:r>
            <a:endParaRPr lang="en-US" sz="530" dirty="0"/>
          </a:p>
        </p:txBody>
      </p:sp>
      <p:sp>
        <p:nvSpPr>
          <p:cNvPr id="96" name="Text 94"/>
          <p:cNvSpPr/>
          <p:nvPr/>
        </p:nvSpPr>
        <p:spPr>
          <a:xfrm>
            <a:off x="6510528" y="5093208"/>
            <a:ext cx="1115568" cy="100584"/>
          </a:xfrm>
          <a:prstGeom prst="rect">
            <a:avLst/>
          </a:prstGeom>
          <a:noFill/>
          <a:ln/>
        </p:spPr>
        <p:txBody>
          <a:bodyPr wrap="square" lIns="0" tIns="0" rIns="0" bIns="0" rtlCol="0" anchor="ctr">
            <a:normAutofit/>
          </a:bodyPr>
          <a:lstStyle/>
          <a:p>
            <a:pPr indent="0" marL="0">
              <a:buNone/>
            </a:pPr>
            <a:r>
              <a:rPr lang="en-US" sz="570" b="1" dirty="0">
                <a:solidFill>
                  <a:srgbClr val="94A3B8"/>
                </a:solidFill>
              </a:rPr>
              <a:t>OverflowToken</a:t>
            </a:r>
            <a:endParaRPr lang="en-US" sz="570" dirty="0"/>
          </a:p>
        </p:txBody>
      </p:sp>
      <p:sp>
        <p:nvSpPr>
          <p:cNvPr id="97" name="Text 95"/>
          <p:cNvSpPr/>
          <p:nvPr/>
        </p:nvSpPr>
        <p:spPr>
          <a:xfrm>
            <a:off x="7818120" y="5093208"/>
            <a:ext cx="3063240" cy="100584"/>
          </a:xfrm>
          <a:prstGeom prst="rect">
            <a:avLst/>
          </a:prstGeom>
          <a:noFill/>
          <a:ln/>
        </p:spPr>
        <p:txBody>
          <a:bodyPr wrap="square" lIns="0" tIns="0" rIns="0" bIns="0" rtlCol="0" anchor="ctr">
            <a:normAutofit/>
          </a:bodyPr>
          <a:lstStyle/>
          <a:p>
            <a:pPr indent="0" marL="0">
              <a:buNone/>
            </a:pPr>
            <a:r>
              <a:rPr lang="en-US" sz="530" dirty="0">
                <a:solidFill>
                  <a:srgbClr val="64748B"/>
                </a:solidFill>
                <a:latin typeface="Cascadia Code" pitchFamily="34" charset="0"/>
                <a:ea typeface="Cascadia Code" pitchFamily="34" charset="-122"/>
                <a:cs typeface="Cascadia Code" pitchFamily="34" charset="-120"/>
              </a:rPr>
              <a:t>0x3333333333333333333333333333333333333333</a:t>
            </a:r>
            <a:endParaRPr lang="en-US" sz="530" dirty="0"/>
          </a:p>
        </p:txBody>
      </p:sp>
      <p:sp>
        <p:nvSpPr>
          <p:cNvPr id="98" name="Text 96"/>
          <p:cNvSpPr/>
          <p:nvPr/>
        </p:nvSpPr>
        <p:spPr>
          <a:xfrm>
            <a:off x="713232" y="6016752"/>
            <a:ext cx="1828800" cy="274320"/>
          </a:xfrm>
          <a:prstGeom prst="rect">
            <a:avLst/>
          </a:prstGeom>
          <a:noFill/>
          <a:ln/>
        </p:spPr>
        <p:txBody>
          <a:bodyPr wrap="square" lIns="0" tIns="0" rIns="0" bIns="0" rtlCol="0" anchor="ctr"/>
          <a:lstStyle/>
          <a:p>
            <a:pPr indent="0" marL="0">
              <a:buNone/>
            </a:pPr>
            <a:r>
              <a:rPr lang="en-US" sz="1800" b="1" dirty="0">
                <a:solidFill>
                  <a:srgbClr val="FFFFFF"/>
                </a:solidFill>
              </a:rPr>
              <a:t>Thank you.</a:t>
            </a:r>
            <a:endParaRPr lang="en-US" sz="1800" dirty="0"/>
          </a:p>
        </p:txBody>
      </p:sp>
      <p:sp>
        <p:nvSpPr>
          <p:cNvPr id="99" name="Text 97"/>
          <p:cNvSpPr/>
          <p:nvPr/>
        </p:nvSpPr>
        <p:spPr>
          <a:xfrm>
            <a:off x="2587752" y="6080760"/>
            <a:ext cx="1920240" cy="182880"/>
          </a:xfrm>
          <a:prstGeom prst="rect">
            <a:avLst/>
          </a:prstGeom>
          <a:noFill/>
          <a:ln/>
        </p:spPr>
        <p:txBody>
          <a:bodyPr wrap="square" lIns="0" tIns="0" rIns="0" bIns="0" rtlCol="0" anchor="ctr"/>
          <a:lstStyle/>
          <a:p>
            <a:pPr indent="0" marL="0">
              <a:buNone/>
            </a:pPr>
            <a:r>
              <a:rPr lang="en-US" sz="1050" b="1" dirty="0">
                <a:solidFill>
                  <a:srgbClr val="22D3EE"/>
                </a:solidFill>
              </a:rPr>
              <a:t>Questions?</a:t>
            </a:r>
            <a:endParaRPr lang="en-US" sz="1050" dirty="0"/>
          </a:p>
        </p:txBody>
      </p:sp>
      <p:sp>
        <p:nvSpPr>
          <p:cNvPr id="100" name="Shape 98"/>
          <p:cNvSpPr/>
          <p:nvPr/>
        </p:nvSpPr>
        <p:spPr>
          <a:xfrm>
            <a:off x="502920" y="6263640"/>
            <a:ext cx="1828800" cy="292608"/>
          </a:xfrm>
          <a:prstGeom prst="roundRect">
            <a:avLst>
              <a:gd name="adj" fmla="val 25000"/>
            </a:avLst>
          </a:prstGeom>
          <a:solidFill>
            <a:srgbClr val="60A5FA">
              <a:alpha val="16000"/>
            </a:srgbClr>
          </a:solidFill>
          <a:ln w="12700">
            <a:solidFill>
              <a:srgbClr val="60A5FA">
                <a:alpha val="65000"/>
              </a:srgbClr>
            </a:solidFill>
            <a:prstDash val="solid"/>
          </a:ln>
        </p:spPr>
      </p:sp>
      <p:sp>
        <p:nvSpPr>
          <p:cNvPr id="101" name="Text 99"/>
          <p:cNvSpPr/>
          <p:nvPr/>
        </p:nvSpPr>
        <p:spPr>
          <a:xfrm>
            <a:off x="612648" y="6336792"/>
            <a:ext cx="1609344" cy="146304"/>
          </a:xfrm>
          <a:prstGeom prst="rect">
            <a:avLst/>
          </a:prstGeom>
          <a:noFill/>
          <a:ln/>
        </p:spPr>
        <p:txBody>
          <a:bodyPr wrap="square" lIns="0" tIns="0" rIns="0" bIns="0" rtlCol="0" anchor="ctr">
            <a:normAutofit/>
          </a:bodyPr>
          <a:lstStyle/>
          <a:p>
            <a:pPr indent="0" marL="0">
              <a:buNone/>
            </a:pPr>
            <a:r>
              <a:rPr lang="en-US" sz="650" b="1" dirty="0">
                <a:solidFill>
                  <a:srgbClr val="60A5FA"/>
                </a:solidFill>
              </a:rPr>
              <a:t>Q&amp;A</a:t>
            </a:r>
            <a:endParaRPr lang="en-US" sz="650" dirty="0"/>
          </a:p>
        </p:txBody>
      </p:sp>
      <p:sp>
        <p:nvSpPr>
          <p:cNvPr id="102" name="Text 100"/>
          <p:cNvSpPr/>
          <p:nvPr/>
        </p:nvSpPr>
        <p:spPr>
          <a:xfrm>
            <a:off x="2743200" y="6345936"/>
            <a:ext cx="5029200" cy="109728"/>
          </a:xfrm>
          <a:prstGeom prst="rect">
            <a:avLst/>
          </a:prstGeom>
          <a:noFill/>
          <a:ln/>
        </p:spPr>
        <p:txBody>
          <a:bodyPr wrap="square" lIns="0" tIns="0" rIns="0" bIns="0" rtlCol="0" anchor="ctr"/>
          <a:lstStyle/>
          <a:p>
            <a:pPr indent="0" marL="0">
              <a:buNone/>
            </a:pPr>
            <a:r>
              <a:rPr lang="en-US" sz="550" dirty="0">
                <a:solidFill>
                  <a:srgbClr val="64748B"/>
                </a:solidFill>
              </a:rPr>
              <a:t>SC6107 • Blockchain Development Fundamentals</a:t>
            </a:r>
            <a:endParaRPr lang="en-US" sz="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B88A8"/>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NTU SC6107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 Transaction Debugger &amp; Analyzer</dc:title>
  <dc:subject>SC6107 EVM Transaction Debugger &amp; Analyzer Presentation</dc:subject>
  <dc:creator>ChatGPT</dc:creator>
  <cp:lastModifiedBy>ChatGPT</cp:lastModifiedBy>
  <cp:revision>1</cp:revision>
  <dcterms:created xsi:type="dcterms:W3CDTF">2026-05-22T16:49:43Z</dcterms:created>
  <dcterms:modified xsi:type="dcterms:W3CDTF">2026-05-22T16:49:43Z</dcterms:modified>
</cp:coreProperties>
</file>